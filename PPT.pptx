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2.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33.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34.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35.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36.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37.xml" ContentType="application/vnd.openxmlformats-officedocument.drawingml.chart+xml"/>
  <Override PartName="/ppt/charts/style37.xml" ContentType="application/vnd.ms-office.chartstyle+xml"/>
  <Override PartName="/ppt/charts/colors37.xml" ContentType="application/vnd.ms-office.chartcolorstyle+xml"/>
  <Override PartName="/ppt/charts/chart38.xml" ContentType="application/vnd.openxmlformats-officedocument.drawingml.chart+xml"/>
  <Override PartName="/ppt/charts/style38.xml" ContentType="application/vnd.ms-office.chartstyle+xml"/>
  <Override PartName="/ppt/charts/colors38.xml" ContentType="application/vnd.ms-office.chartcolorstyle+xml"/>
  <Override PartName="/ppt/charts/chart39.xml" ContentType="application/vnd.openxmlformats-officedocument.drawingml.chart+xml"/>
  <Override PartName="/ppt/charts/style39.xml" ContentType="application/vnd.ms-office.chartstyle+xml"/>
  <Override PartName="/ppt/charts/colors39.xml" ContentType="application/vnd.ms-office.chartcolorstyle+xml"/>
  <Override PartName="/ppt/charts/chart40.xml" ContentType="application/vnd.openxmlformats-officedocument.drawingml.chart+xml"/>
  <Override PartName="/ppt/charts/style40.xml" ContentType="application/vnd.ms-office.chartstyle+xml"/>
  <Override PartName="/ppt/charts/colors40.xml" ContentType="application/vnd.ms-office.chartcolorstyle+xml"/>
  <Override PartName="/ppt/charts/chart41.xml" ContentType="application/vnd.openxmlformats-officedocument.drawingml.chart+xml"/>
  <Override PartName="/ppt/charts/style41.xml" ContentType="application/vnd.ms-office.chartstyle+xml"/>
  <Override PartName="/ppt/charts/colors41.xml" ContentType="application/vnd.ms-office.chartcolorstyle+xml"/>
  <Override PartName="/ppt/charts/chart42.xml" ContentType="application/vnd.openxmlformats-officedocument.drawingml.chart+xml"/>
  <Override PartName="/ppt/charts/style42.xml" ContentType="application/vnd.ms-office.chartstyle+xml"/>
  <Override PartName="/ppt/charts/colors42.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43.xml" ContentType="application/vnd.openxmlformats-officedocument.drawingml.chart+xml"/>
  <Override PartName="/ppt/charts/style43.xml" ContentType="application/vnd.ms-office.chartstyle+xml"/>
  <Override PartName="/ppt/charts/colors43.xml" ContentType="application/vnd.ms-office.chartcolorstyle+xml"/>
  <Override PartName="/ppt/charts/chart44.xml" ContentType="application/vnd.openxmlformats-officedocument.drawingml.chart+xml"/>
  <Override PartName="/ppt/charts/style44.xml" ContentType="application/vnd.ms-office.chartstyle+xml"/>
  <Override PartName="/ppt/charts/colors44.xml" ContentType="application/vnd.ms-office.chartcolorstyle+xml"/>
  <Override PartName="/ppt/charts/chart45.xml" ContentType="application/vnd.openxmlformats-officedocument.drawingml.chart+xml"/>
  <Override PartName="/ppt/charts/style45.xml" ContentType="application/vnd.ms-office.chartstyle+xml"/>
  <Override PartName="/ppt/charts/colors45.xml" ContentType="application/vnd.ms-office.chartcolorstyle+xml"/>
  <Override PartName="/ppt/charts/chart46.xml" ContentType="application/vnd.openxmlformats-officedocument.drawingml.chart+xml"/>
  <Override PartName="/ppt/charts/style46.xml" ContentType="application/vnd.ms-office.chartstyle+xml"/>
  <Override PartName="/ppt/charts/colors46.xml" ContentType="application/vnd.ms-office.chartcolorstyle+xml"/>
  <Override PartName="/ppt/charts/chart47.xml" ContentType="application/vnd.openxmlformats-officedocument.drawingml.chart+xml"/>
  <Override PartName="/ppt/charts/style47.xml" ContentType="application/vnd.ms-office.chartstyle+xml"/>
  <Override PartName="/ppt/charts/colors47.xml" ContentType="application/vnd.ms-office.chartcolorstyle+xml"/>
  <Override PartName="/ppt/charts/chart48.xml" ContentType="application/vnd.openxmlformats-officedocument.drawingml.chart+xml"/>
  <Override PartName="/ppt/charts/style48.xml" ContentType="application/vnd.ms-office.chartstyle+xml"/>
  <Override PartName="/ppt/charts/colors48.xml" ContentType="application/vnd.ms-office.chartcolorstyle+xml"/>
  <Override PartName="/ppt/charts/chart49.xml" ContentType="application/vnd.openxmlformats-officedocument.drawingml.chart+xml"/>
  <Override PartName="/ppt/charts/style49.xml" ContentType="application/vnd.ms-office.chartstyle+xml"/>
  <Override PartName="/ppt/charts/colors49.xml" ContentType="application/vnd.ms-office.chartcolorstyle+xml"/>
  <Override PartName="/ppt/charts/chart50.xml" ContentType="application/vnd.openxmlformats-officedocument.drawingml.chart+xml"/>
  <Override PartName="/ppt/charts/style50.xml" ContentType="application/vnd.ms-office.chartstyle+xml"/>
  <Override PartName="/ppt/charts/colors50.xml" ContentType="application/vnd.ms-office.chartcolorstyle+xml"/>
  <Override PartName="/ppt/charts/chart51.xml" ContentType="application/vnd.openxmlformats-officedocument.drawingml.chart+xml"/>
  <Override PartName="/ppt/charts/style51.xml" ContentType="application/vnd.ms-office.chartstyle+xml"/>
  <Override PartName="/ppt/charts/colors51.xml" ContentType="application/vnd.ms-office.chartcolorstyle+xml"/>
  <Override PartName="/ppt/charts/chart52.xml" ContentType="application/vnd.openxmlformats-officedocument.drawingml.chart+xml"/>
  <Override PartName="/ppt/charts/style52.xml" ContentType="application/vnd.ms-office.chartstyle+xml"/>
  <Override PartName="/ppt/charts/colors52.xml" ContentType="application/vnd.ms-office.chartcolorstyle+xml"/>
  <Override PartName="/ppt/charts/chart53.xml" ContentType="application/vnd.openxmlformats-officedocument.drawingml.chart+xml"/>
  <Override PartName="/ppt/charts/style53.xml" ContentType="application/vnd.ms-office.chartstyle+xml"/>
  <Override PartName="/ppt/charts/colors53.xml" ContentType="application/vnd.ms-office.chartcolorstyle+xml"/>
  <Override PartName="/ppt/charts/chart54.xml" ContentType="application/vnd.openxmlformats-officedocument.drawingml.chart+xml"/>
  <Override PartName="/ppt/charts/style54.xml" ContentType="application/vnd.ms-office.chartstyle+xml"/>
  <Override PartName="/ppt/charts/colors54.xml" ContentType="application/vnd.ms-office.chartcolorstyle+xml"/>
  <Override PartName="/ppt/charts/chart55.xml" ContentType="application/vnd.openxmlformats-officedocument.drawingml.chart+xml"/>
  <Override PartName="/ppt/charts/style55.xml" ContentType="application/vnd.ms-office.chartstyle+xml"/>
  <Override PartName="/ppt/charts/colors55.xml" ContentType="application/vnd.ms-office.chartcolorstyle+xml"/>
  <Override PartName="/ppt/charts/chart56.xml" ContentType="application/vnd.openxmlformats-officedocument.drawingml.chart+xml"/>
  <Override PartName="/ppt/charts/style56.xml" ContentType="application/vnd.ms-office.chartstyle+xml"/>
  <Override PartName="/ppt/charts/colors56.xml" ContentType="application/vnd.ms-office.chartcolorstyle+xml"/>
  <Override PartName="/ppt/charts/chart57.xml" ContentType="application/vnd.openxmlformats-officedocument.drawingml.chart+xml"/>
  <Override PartName="/ppt/charts/style57.xml" ContentType="application/vnd.ms-office.chartstyle+xml"/>
  <Override PartName="/ppt/charts/colors57.xml" ContentType="application/vnd.ms-office.chartcolorstyle+xml"/>
  <Override PartName="/ppt/charts/chart58.xml" ContentType="application/vnd.openxmlformats-officedocument.drawingml.chart+xml"/>
  <Override PartName="/ppt/charts/style58.xml" ContentType="application/vnd.ms-office.chartstyle+xml"/>
  <Override PartName="/ppt/charts/colors58.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63" r:id="rId4"/>
    <p:sldId id="261" r:id="rId5"/>
    <p:sldId id="259" r:id="rId6"/>
    <p:sldId id="258" r:id="rId7"/>
    <p:sldId id="264" r:id="rId8"/>
    <p:sldId id="265" r:id="rId9"/>
    <p:sldId id="267" r:id="rId10"/>
    <p:sldId id="266" r:id="rId11"/>
    <p:sldId id="268" r:id="rId12"/>
    <p:sldId id="269" r:id="rId13"/>
    <p:sldId id="270" r:id="rId14"/>
    <p:sldId id="271" r:id="rId15"/>
    <p:sldId id="272" r:id="rId16"/>
    <p:sldId id="273" r:id="rId17"/>
    <p:sldId id="274" r:id="rId18"/>
    <p:sldId id="260" r:id="rId19"/>
  </p:sldIdLst>
  <p:sldSz cx="9144000" cy="5143500" type="screen16x9"/>
  <p:notesSz cx="6858000" cy="9144000"/>
  <p:embeddedFontLst>
    <p:embeddedFont>
      <p:font typeface="Algerian" panose="04020705040A02060702" pitchFamily="82" charset="0"/>
      <p:regular r:id="rId21"/>
    </p:embeddedFont>
    <p:embeddedFont>
      <p:font typeface="Palatino Linotype" panose="02040502050505030304" pitchFamily="18" charset="0"/>
      <p:regular r:id="rId22"/>
      <p:bold r:id="rId23"/>
      <p:italic r:id="rId24"/>
      <p:boldItalic r:id="rId25"/>
    </p:embeddedFont>
    <p:embeddedFont>
      <p:font typeface="Poppins" panose="00000500000000000000" pitchFamily="2" charset="0"/>
      <p:regular r:id="rId26"/>
      <p:bold r:id="rId27"/>
      <p:italic r:id="rId28"/>
      <p:boldItalic r:id="rId29"/>
    </p:embeddedFont>
    <p:embeddedFont>
      <p:font typeface="Poppins Light" panose="00000400000000000000" pitchFamily="2" charset="0"/>
      <p:regular r:id="rId30"/>
      <p:bold r:id="rId31"/>
      <p:italic r:id="rId32"/>
      <p:boldItalic r:id="rId33"/>
    </p:embeddedFont>
    <p:embeddedFont>
      <p:font typeface="Poppins SemiBold" panose="00000700000000000000"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jVdrDcdfEWB3ZzYMVTF/2iD1Dk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presProps" Target="presProps.xml"/><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customschemas.google.com/relationships/presentationmetadata" Target="metadata"/></Relationships>
</file>

<file path=ppt/charts/_rels/chart1.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29.xml"/><Relationship Id="rId1" Type="http://schemas.microsoft.com/office/2011/relationships/chartStyle" Target="style29.xml"/></Relationships>
</file>

<file path=ppt/charts/_rels/chart30.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31.xml"/><Relationship Id="rId1" Type="http://schemas.microsoft.com/office/2011/relationships/chartStyle" Target="style31.xml"/></Relationships>
</file>

<file path=ppt/charts/_rels/chart32.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32.xml"/><Relationship Id="rId1" Type="http://schemas.microsoft.com/office/2011/relationships/chartStyle" Target="style32.xml"/></Relationships>
</file>

<file path=ppt/charts/_rels/chart33.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33.xml"/><Relationship Id="rId1" Type="http://schemas.microsoft.com/office/2011/relationships/chartStyle" Target="style33.xml"/></Relationships>
</file>

<file path=ppt/charts/_rels/chart34.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34.xml"/><Relationship Id="rId1" Type="http://schemas.microsoft.com/office/2011/relationships/chartStyle" Target="style34.xml"/></Relationships>
</file>

<file path=ppt/charts/_rels/chart35.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35.xml"/><Relationship Id="rId1" Type="http://schemas.microsoft.com/office/2011/relationships/chartStyle" Target="style35.xml"/></Relationships>
</file>

<file path=ppt/charts/_rels/chart36.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36.xml"/><Relationship Id="rId1" Type="http://schemas.microsoft.com/office/2011/relationships/chartStyle" Target="style36.xml"/></Relationships>
</file>

<file path=ppt/charts/_rels/chart37.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37.xml"/><Relationship Id="rId1" Type="http://schemas.microsoft.com/office/2011/relationships/chartStyle" Target="style37.xml"/></Relationships>
</file>

<file path=ppt/charts/_rels/chart38.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38.xml"/><Relationship Id="rId1" Type="http://schemas.microsoft.com/office/2011/relationships/chartStyle" Target="style38.xml"/></Relationships>
</file>

<file path=ppt/charts/_rels/chart39.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39.xml"/><Relationship Id="rId1" Type="http://schemas.microsoft.com/office/2011/relationships/chartStyle" Target="style39.xml"/></Relationships>
</file>

<file path=ppt/charts/_rels/chart40.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40.xml"/><Relationship Id="rId1" Type="http://schemas.microsoft.com/office/2011/relationships/chartStyle" Target="style40.xml"/></Relationships>
</file>

<file path=ppt/charts/_rels/chart41.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41.xml"/><Relationship Id="rId1" Type="http://schemas.microsoft.com/office/2011/relationships/chartStyle" Target="style41.xml"/></Relationships>
</file>

<file path=ppt/charts/_rels/chart42.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42.xml"/><Relationship Id="rId1" Type="http://schemas.microsoft.com/office/2011/relationships/chartStyle" Target="style42.xml"/></Relationships>
</file>

<file path=ppt/charts/_rels/chart43.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43.xml"/><Relationship Id="rId1" Type="http://schemas.microsoft.com/office/2011/relationships/chartStyle" Target="style43.xml"/></Relationships>
</file>

<file path=ppt/charts/_rels/chart44.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44.xml"/><Relationship Id="rId1" Type="http://schemas.microsoft.com/office/2011/relationships/chartStyle" Target="style44.xml"/></Relationships>
</file>

<file path=ppt/charts/_rels/chart45.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45.xml"/><Relationship Id="rId1" Type="http://schemas.microsoft.com/office/2011/relationships/chartStyle" Target="style45.xml"/></Relationships>
</file>

<file path=ppt/charts/_rels/chart46.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46.xml"/><Relationship Id="rId1" Type="http://schemas.microsoft.com/office/2011/relationships/chartStyle" Target="style46.xml"/></Relationships>
</file>

<file path=ppt/charts/_rels/chart47.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47.xml"/><Relationship Id="rId1" Type="http://schemas.microsoft.com/office/2011/relationships/chartStyle" Target="style47.xml"/></Relationships>
</file>

<file path=ppt/charts/_rels/chart48.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48.xml"/><Relationship Id="rId1" Type="http://schemas.microsoft.com/office/2011/relationships/chartStyle" Target="style48.xml"/></Relationships>
</file>

<file path=ppt/charts/_rels/chart49.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49.xml"/><Relationship Id="rId1" Type="http://schemas.microsoft.com/office/2011/relationships/chartStyle" Target="style49.xml"/></Relationships>
</file>

<file path=ppt/charts/_rels/chart50.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50.xml"/><Relationship Id="rId1" Type="http://schemas.microsoft.com/office/2011/relationships/chartStyle" Target="style50.xml"/></Relationships>
</file>

<file path=ppt/charts/_rels/chart51.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51.xml"/><Relationship Id="rId1" Type="http://schemas.microsoft.com/office/2011/relationships/chartStyle" Target="style51.xml"/></Relationships>
</file>

<file path=ppt/charts/_rels/chart52.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52.xml"/><Relationship Id="rId1" Type="http://schemas.microsoft.com/office/2011/relationships/chartStyle" Target="style52.xml"/></Relationships>
</file>

<file path=ppt/charts/_rels/chart53.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53.xml"/><Relationship Id="rId1" Type="http://schemas.microsoft.com/office/2011/relationships/chartStyle" Target="style53.xml"/></Relationships>
</file>

<file path=ppt/charts/_rels/chart54.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54.xml"/><Relationship Id="rId1" Type="http://schemas.microsoft.com/office/2011/relationships/chartStyle" Target="style54.xml"/></Relationships>
</file>

<file path=ppt/charts/_rels/chart55.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55.xml"/><Relationship Id="rId1" Type="http://schemas.microsoft.com/office/2011/relationships/chartStyle" Target="style55.xml"/></Relationships>
</file>

<file path=ppt/charts/_rels/chart56.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56.xml"/><Relationship Id="rId1" Type="http://schemas.microsoft.com/office/2011/relationships/chartStyle" Target="style56.xml"/></Relationships>
</file>

<file path=ppt/charts/_rels/chart57.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57.xml"/><Relationship Id="rId1" Type="http://schemas.microsoft.com/office/2011/relationships/chartStyle" Target="style57.xml"/></Relationships>
</file>

<file path=ppt/charts/_rels/chart58.xml.rels><?xml version="1.0" encoding="UTF-8" standalone="yes"?>
<Relationships xmlns="http://schemas.openxmlformats.org/package/2006/relationships"><Relationship Id="rId3" Type="http://schemas.openxmlformats.org/officeDocument/2006/relationships/oleObject" Target="file:///C:\Users\Asus\Downloads\Pizza+Place+Sales\Project-EXC%2025-Vincent.xlsx" TargetMode="External"/><Relationship Id="rId2" Type="http://schemas.microsoft.com/office/2011/relationships/chartColorStyle" Target="colors58.xml"/><Relationship Id="rId1" Type="http://schemas.microsoft.com/office/2011/relationships/chartStyle" Target="style5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25-Vincent.xlsx]Pivot_Table_Revenue!PivotTable2</c:name>
    <c:fmtId val="22"/>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Revenue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s>
    <c:plotArea>
      <c:layout/>
      <c:lineChart>
        <c:grouping val="standard"/>
        <c:varyColors val="0"/>
        <c:ser>
          <c:idx val="0"/>
          <c:order val="0"/>
          <c:tx>
            <c:strRef>
              <c:f>Pivot_Table_Revenue!$B$6</c:f>
              <c:strCache>
                <c:ptCount val="1"/>
                <c:pt idx="0">
                  <c:v>Total</c:v>
                </c:pt>
              </c:strCache>
            </c:strRef>
          </c:tx>
          <c:spPr>
            <a:ln w="28575" cap="rnd">
              <a:solidFill>
                <a:srgbClr val="FFFF00"/>
              </a:solidFill>
              <a:round/>
            </a:ln>
            <a:effectLst/>
          </c:spPr>
          <c:marker>
            <c:symbol val="circle"/>
            <c:size val="6"/>
            <c:spPr>
              <a:solidFill>
                <a:srgbClr val="A3220D"/>
              </a:solidFill>
              <a:ln w="9525">
                <a:solidFill>
                  <a:srgbClr val="A3220D"/>
                </a:solidFill>
              </a:ln>
              <a:effectLst/>
            </c:spPr>
          </c:marker>
          <c:dPt>
            <c:idx val="6"/>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0-3546-41C6-9568-ACE011080E29}"/>
              </c:ext>
            </c:extLst>
          </c:dPt>
          <c:dPt>
            <c:idx val="9"/>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1-3546-41C6-9568-ACE011080E29}"/>
              </c:ext>
            </c:extLst>
          </c:dPt>
          <c:dLbls>
            <c:dLbl>
              <c:idx val="6"/>
              <c:tx>
                <c:rich>
                  <a:bodyPr rot="0" spcFirstLastPara="1" vertOverflow="clip" horzOverflow="clip" vert="horz" wrap="square" lIns="38100" tIns="19050" rIns="38100" bIns="19050" anchor="ctr" anchorCtr="1">
                    <a:spAutoFit/>
                  </a:bodyPr>
                  <a:lstStyle/>
                  <a:p>
                    <a:pPr>
                      <a:defRPr sz="800" b="0" i="0" u="none" strike="noStrike" kern="1200" baseline="0">
                        <a:solidFill>
                          <a:srgbClr val="C00000"/>
                        </a:solidFill>
                        <a:latin typeface="+mn-lt"/>
                        <a:ea typeface="+mn-ea"/>
                        <a:cs typeface="+mn-cs"/>
                      </a:defRPr>
                    </a:pPr>
                    <a:fld id="{C0FB1BDB-EAFF-4CA8-9A82-25D53D46C7BC}" type="CATEGORYNAME">
                      <a:rPr lang="en-US" sz="800">
                        <a:solidFill>
                          <a:srgbClr val="C00000"/>
                        </a:solidFill>
                      </a:rPr>
                      <a:pPr>
                        <a:defRPr sz="800">
                          <a:solidFill>
                            <a:srgbClr val="C00000"/>
                          </a:solidFill>
                        </a:defRPr>
                      </a:pPr>
                      <a:t>[CATEGORY NAME]</a:t>
                    </a:fld>
                    <a:r>
                      <a:rPr lang="en-US" sz="800" baseline="0">
                        <a:solidFill>
                          <a:srgbClr val="C00000"/>
                        </a:solidFill>
                      </a:rPr>
                      <a:t>, </a:t>
                    </a:r>
                    <a:fld id="{53BCD553-8C53-454B-865C-3FB106B46615}" type="VALUE">
                      <a:rPr lang="en-US" sz="800" baseline="0">
                        <a:solidFill>
                          <a:srgbClr val="C00000"/>
                        </a:solidFill>
                      </a:rPr>
                      <a:pPr>
                        <a:defRPr sz="800">
                          <a:solidFill>
                            <a:srgbClr val="C00000"/>
                          </a:solidFill>
                        </a:defRPr>
                      </a:pPr>
                      <a:t>[VALUE]</a:t>
                    </a:fld>
                    <a:endParaRPr lang="en-US" sz="800" baseline="0">
                      <a:solidFill>
                        <a:srgbClr val="C00000"/>
                      </a:solidFill>
                    </a:endParaRPr>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8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3546-41C6-9568-ACE011080E29}"/>
                </c:ext>
              </c:extLst>
            </c:dLbl>
            <c:dLbl>
              <c:idx val="9"/>
              <c:tx>
                <c:rich>
                  <a:bodyPr rot="0" spcFirstLastPara="1" vertOverflow="clip" horzOverflow="clip" vert="horz" wrap="square" lIns="38100" tIns="19050" rIns="38100" bIns="19050" anchor="ctr" anchorCtr="0">
                    <a:spAutoFit/>
                  </a:bodyPr>
                  <a:lstStyle/>
                  <a:p>
                    <a:pPr algn="ctr" rtl="0">
                      <a:defRPr lang="en-US" sz="800" b="0" i="0" u="none" strike="noStrike" kern="1200" baseline="0">
                        <a:solidFill>
                          <a:srgbClr val="C00000"/>
                        </a:solidFill>
                        <a:latin typeface="+mn-lt"/>
                        <a:ea typeface="+mn-ea"/>
                        <a:cs typeface="+mn-cs"/>
                      </a:defRPr>
                    </a:pPr>
                    <a:fld id="{C31DC01A-1C53-400B-A8DE-4D5D18A097DE}" type="CATEGORYNAME">
                      <a:rPr lang="en-US" sz="800" b="0" i="0" u="none" strike="noStrike" kern="1200" baseline="0">
                        <a:solidFill>
                          <a:srgbClr val="C00000"/>
                        </a:solidFill>
                        <a:latin typeface="+mn-lt"/>
                        <a:ea typeface="+mn-ea"/>
                        <a:cs typeface="+mn-cs"/>
                      </a:rPr>
                      <a:pPr algn="ctr" rtl="0">
                        <a:defRPr lang="en-US" sz="800">
                          <a:solidFill>
                            <a:srgbClr val="C00000"/>
                          </a:solidFill>
                        </a:defRPr>
                      </a:pPr>
                      <a:t>[CATEGORY NAME]</a:t>
                    </a:fld>
                    <a:r>
                      <a:rPr lang="en-US" sz="800" b="0" i="0" u="none" strike="noStrike" kern="1200" baseline="0">
                        <a:solidFill>
                          <a:srgbClr val="C00000"/>
                        </a:solidFill>
                        <a:latin typeface="+mn-lt"/>
                        <a:ea typeface="+mn-ea"/>
                        <a:cs typeface="+mn-cs"/>
                      </a:rPr>
                      <a:t>, </a:t>
                    </a:r>
                    <a:fld id="{FD29F36C-5511-466B-952F-510E897A0614}" type="VALUE">
                      <a:rPr lang="en-US" sz="800" b="0" i="0" u="none" strike="noStrike" kern="1200" baseline="0">
                        <a:solidFill>
                          <a:srgbClr val="C00000"/>
                        </a:solidFill>
                        <a:latin typeface="+mn-lt"/>
                        <a:ea typeface="+mn-ea"/>
                        <a:cs typeface="+mn-cs"/>
                      </a:rPr>
                      <a:pPr algn="ctr" rtl="0">
                        <a:defRPr lang="en-US" sz="800">
                          <a:solidFill>
                            <a:srgbClr val="C00000"/>
                          </a:solidFill>
                        </a:defRPr>
                      </a:pPr>
                      <a:t>[VALUE]</a:t>
                    </a:fld>
                    <a:endParaRPr lang="en-US" sz="800" b="0" i="0" u="none" strike="noStrike" kern="1200" baseline="0">
                      <a:solidFill>
                        <a:srgbClr val="C00000"/>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8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546-41C6-9568-ACE011080E29}"/>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Pivot_Table_Revenue!$B$7:$B$19</c:f>
              <c:numCache>
                <c:formatCode>_("$"* #,##0.00_);_("$"* \(#,##0.00\);_("$"* "-"??_);_(@_)</c:formatCode>
                <c:ptCount val="12"/>
                <c:pt idx="0">
                  <c:v>69793.299999999959</c:v>
                </c:pt>
                <c:pt idx="1">
                  <c:v>65159.6</c:v>
                </c:pt>
                <c:pt idx="2">
                  <c:v>70397.099999999977</c:v>
                </c:pt>
                <c:pt idx="3">
                  <c:v>68736.799999999959</c:v>
                </c:pt>
                <c:pt idx="4">
                  <c:v>71402.749999999985</c:v>
                </c:pt>
                <c:pt idx="5">
                  <c:v>68230.199999999983</c:v>
                </c:pt>
                <c:pt idx="6">
                  <c:v>72557.899999999994</c:v>
                </c:pt>
                <c:pt idx="7">
                  <c:v>68278.249999999985</c:v>
                </c:pt>
                <c:pt idx="8">
                  <c:v>64180.05</c:v>
                </c:pt>
                <c:pt idx="9">
                  <c:v>64027.600000000006</c:v>
                </c:pt>
                <c:pt idx="10">
                  <c:v>70395.349999999977</c:v>
                </c:pt>
                <c:pt idx="11">
                  <c:v>64701.15</c:v>
                </c:pt>
              </c:numCache>
            </c:numRef>
          </c:val>
          <c:smooth val="1"/>
          <c:extLst>
            <c:ext xmlns:c16="http://schemas.microsoft.com/office/drawing/2014/chart" uri="{C3380CC4-5D6E-409C-BE32-E72D297353CC}">
              <c16:uniqueId val="{00000002-3546-41C6-9568-ACE011080E2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0"/>
        <c:axPos val="l"/>
        <c:numFmt formatCode="_(&quot;$&quot;* #,##0.00_);_(&quot;$&quot;* \(#,##0.00\);_(&quot;$&quot;*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rgbClr val="FFFF00"/>
                </a:solidFill>
                <a:latin typeface="+mn-lt"/>
                <a:ea typeface="+mn-ea"/>
                <a:cs typeface="+mn-cs"/>
              </a:defRPr>
            </a:pPr>
            <a:endParaRPr lang="en-US"/>
          </a:p>
        </c:txPr>
        <c:crossAx val="147939334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25-Vincent.xlsx]Pivot_Table_Revenue!PivotTable2</c:name>
    <c:fmtId val="-1"/>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Revenue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s>
    <c:plotArea>
      <c:layout/>
      <c:lineChart>
        <c:grouping val="standard"/>
        <c:varyColors val="0"/>
        <c:ser>
          <c:idx val="0"/>
          <c:order val="0"/>
          <c:tx>
            <c:strRef>
              <c:f>Pivot_Table_Revenue!$B$6</c:f>
              <c:strCache>
                <c:ptCount val="1"/>
                <c:pt idx="0">
                  <c:v>Total</c:v>
                </c:pt>
              </c:strCache>
            </c:strRef>
          </c:tx>
          <c:spPr>
            <a:ln w="28575" cap="rnd">
              <a:solidFill>
                <a:srgbClr val="FFFF00"/>
              </a:solidFill>
              <a:round/>
            </a:ln>
            <a:effectLst/>
          </c:spPr>
          <c:marker>
            <c:symbol val="circle"/>
            <c:size val="6"/>
            <c:spPr>
              <a:solidFill>
                <a:srgbClr val="A3220D"/>
              </a:solidFill>
              <a:ln w="9525">
                <a:solidFill>
                  <a:srgbClr val="A3220D"/>
                </a:solidFill>
              </a:ln>
              <a:effectLst/>
            </c:spPr>
          </c:marker>
          <c:dPt>
            <c:idx val="6"/>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0-3546-41C6-9568-ACE011080E29}"/>
              </c:ext>
            </c:extLst>
          </c:dPt>
          <c:dPt>
            <c:idx val="9"/>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1-3546-41C6-9568-ACE011080E29}"/>
              </c:ext>
            </c:extLst>
          </c:dPt>
          <c:dLbls>
            <c:dLbl>
              <c:idx val="6"/>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a:pPr>
                      <a:t>[CATEGORY NAME]</a:t>
                    </a:fld>
                    <a:r>
                      <a:rPr lang="en-US" sz="900" baseline="0"/>
                      <a:t>, </a:t>
                    </a:r>
                    <a:fld id="{53BCD553-8C53-454B-865C-3FB106B46615}" type="VALUE">
                      <a:rPr lang="en-US" sz="900" baseline="0">
                        <a:solidFill>
                          <a:schemeClr val="accent2">
                            <a:lumMod val="75000"/>
                          </a:schemeClr>
                        </a:solidFill>
                      </a:rPr>
                      <a:pPr>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3546-41C6-9568-ACE011080E29}"/>
                </c:ext>
              </c:extLst>
            </c:dLbl>
            <c:dLbl>
              <c:idx val="9"/>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546-41C6-9568-ACE011080E29}"/>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Pivot_Table_Revenue!$B$7:$B$19</c:f>
              <c:numCache>
                <c:formatCode>_("$"* #,##0.00_);_("$"* \(#,##0.00\);_("$"* "-"??_);_(@_)</c:formatCode>
                <c:ptCount val="12"/>
                <c:pt idx="0">
                  <c:v>69793.299999999959</c:v>
                </c:pt>
                <c:pt idx="1">
                  <c:v>65159.6</c:v>
                </c:pt>
                <c:pt idx="2">
                  <c:v>70397.099999999977</c:v>
                </c:pt>
                <c:pt idx="3">
                  <c:v>68736.799999999959</c:v>
                </c:pt>
                <c:pt idx="4">
                  <c:v>71402.749999999985</c:v>
                </c:pt>
                <c:pt idx="5">
                  <c:v>68230.199999999983</c:v>
                </c:pt>
                <c:pt idx="6">
                  <c:v>72557.899999999994</c:v>
                </c:pt>
                <c:pt idx="7">
                  <c:v>68278.249999999985</c:v>
                </c:pt>
                <c:pt idx="8">
                  <c:v>64180.05</c:v>
                </c:pt>
                <c:pt idx="9">
                  <c:v>64027.600000000006</c:v>
                </c:pt>
                <c:pt idx="10">
                  <c:v>70395.349999999977</c:v>
                </c:pt>
                <c:pt idx="11">
                  <c:v>64701.15</c:v>
                </c:pt>
              </c:numCache>
            </c:numRef>
          </c:val>
          <c:smooth val="1"/>
          <c:extLst>
            <c:ext xmlns:c16="http://schemas.microsoft.com/office/drawing/2014/chart" uri="{C3380CC4-5D6E-409C-BE32-E72D297353CC}">
              <c16:uniqueId val="{00000002-3546-41C6-9568-ACE011080E2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quot;$&quot;* #,##0.00_);_(&quot;$&quot;* \(#,##0.00\);_(&quot;$&quot;* &quot;-&quot;??_);_(@_)" sourceLinked="1"/>
        <c:majorTickMark val="out"/>
        <c:minorTickMark val="none"/>
        <c:tickLblPos val="nextTo"/>
        <c:crossAx val="147939334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25-Vincent.xlsx]Pivot_Table_Revenue!PivotTable2</c:name>
    <c:fmtId val="-1"/>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Revenue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s>
    <c:plotArea>
      <c:layout/>
      <c:lineChart>
        <c:grouping val="standard"/>
        <c:varyColors val="0"/>
        <c:ser>
          <c:idx val="0"/>
          <c:order val="0"/>
          <c:tx>
            <c:strRef>
              <c:f>Pivot_Table_Revenue!$B$6</c:f>
              <c:strCache>
                <c:ptCount val="1"/>
                <c:pt idx="0">
                  <c:v>Total</c:v>
                </c:pt>
              </c:strCache>
            </c:strRef>
          </c:tx>
          <c:spPr>
            <a:ln w="28575" cap="rnd">
              <a:solidFill>
                <a:srgbClr val="FFFF00"/>
              </a:solidFill>
              <a:round/>
            </a:ln>
            <a:effectLst/>
          </c:spPr>
          <c:marker>
            <c:symbol val="circle"/>
            <c:size val="6"/>
            <c:spPr>
              <a:solidFill>
                <a:srgbClr val="A3220D"/>
              </a:solidFill>
              <a:ln w="9525">
                <a:solidFill>
                  <a:srgbClr val="A3220D"/>
                </a:solidFill>
              </a:ln>
              <a:effectLst/>
            </c:spPr>
          </c:marker>
          <c:dPt>
            <c:idx val="6"/>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0-3546-41C6-9568-ACE011080E29}"/>
              </c:ext>
            </c:extLst>
          </c:dPt>
          <c:dPt>
            <c:idx val="9"/>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1-3546-41C6-9568-ACE011080E29}"/>
              </c:ext>
            </c:extLst>
          </c:dPt>
          <c:dLbls>
            <c:dLbl>
              <c:idx val="6"/>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a:pPr>
                      <a:t>[CATEGORY NAME]</a:t>
                    </a:fld>
                    <a:r>
                      <a:rPr lang="en-US" sz="900" baseline="0"/>
                      <a:t>, </a:t>
                    </a:r>
                    <a:fld id="{53BCD553-8C53-454B-865C-3FB106B46615}" type="VALUE">
                      <a:rPr lang="en-US" sz="900" baseline="0">
                        <a:solidFill>
                          <a:schemeClr val="accent2">
                            <a:lumMod val="75000"/>
                          </a:schemeClr>
                        </a:solidFill>
                      </a:rPr>
                      <a:pPr>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3546-41C6-9568-ACE011080E29}"/>
                </c:ext>
              </c:extLst>
            </c:dLbl>
            <c:dLbl>
              <c:idx val="9"/>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546-41C6-9568-ACE011080E29}"/>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Pivot_Table_Revenue!$B$7:$B$19</c:f>
              <c:numCache>
                <c:formatCode>_("$"* #,##0.00_);_("$"* \(#,##0.00\);_("$"* "-"??_);_(@_)</c:formatCode>
                <c:ptCount val="12"/>
                <c:pt idx="0">
                  <c:v>69793.299999999959</c:v>
                </c:pt>
                <c:pt idx="1">
                  <c:v>65159.6</c:v>
                </c:pt>
                <c:pt idx="2">
                  <c:v>70397.099999999977</c:v>
                </c:pt>
                <c:pt idx="3">
                  <c:v>68736.799999999959</c:v>
                </c:pt>
                <c:pt idx="4">
                  <c:v>71402.749999999985</c:v>
                </c:pt>
                <c:pt idx="5">
                  <c:v>68230.199999999983</c:v>
                </c:pt>
                <c:pt idx="6">
                  <c:v>72557.899999999994</c:v>
                </c:pt>
                <c:pt idx="7">
                  <c:v>68278.249999999985</c:v>
                </c:pt>
                <c:pt idx="8">
                  <c:v>64180.05</c:v>
                </c:pt>
                <c:pt idx="9">
                  <c:v>64027.600000000006</c:v>
                </c:pt>
                <c:pt idx="10">
                  <c:v>70395.349999999977</c:v>
                </c:pt>
                <c:pt idx="11">
                  <c:v>64701.15</c:v>
                </c:pt>
              </c:numCache>
            </c:numRef>
          </c:val>
          <c:smooth val="1"/>
          <c:extLst>
            <c:ext xmlns:c16="http://schemas.microsoft.com/office/drawing/2014/chart" uri="{C3380CC4-5D6E-409C-BE32-E72D297353CC}">
              <c16:uniqueId val="{00000002-3546-41C6-9568-ACE011080E2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quot;$&quot;* #,##0.00_);_(&quot;$&quot;* \(#,##0.00\);_(&quot;$&quot;* &quot;-&quot;??_);_(@_)" sourceLinked="1"/>
        <c:majorTickMark val="out"/>
        <c:minorTickMark val="none"/>
        <c:tickLblPos val="nextTo"/>
        <c:crossAx val="14793933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25-Vincent.xlsx]Pivot_Table_Revenue!PivotTable2</c:name>
    <c:fmtId val="-1"/>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Revenue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s>
    <c:plotArea>
      <c:layout/>
      <c:lineChart>
        <c:grouping val="standard"/>
        <c:varyColors val="0"/>
        <c:ser>
          <c:idx val="0"/>
          <c:order val="0"/>
          <c:tx>
            <c:strRef>
              <c:f>Pivot_Table_Revenue!$B$6</c:f>
              <c:strCache>
                <c:ptCount val="1"/>
                <c:pt idx="0">
                  <c:v>Total</c:v>
                </c:pt>
              </c:strCache>
            </c:strRef>
          </c:tx>
          <c:spPr>
            <a:ln w="28575" cap="rnd">
              <a:solidFill>
                <a:srgbClr val="FFFF00"/>
              </a:solidFill>
              <a:round/>
            </a:ln>
            <a:effectLst/>
          </c:spPr>
          <c:marker>
            <c:symbol val="circle"/>
            <c:size val="6"/>
            <c:spPr>
              <a:solidFill>
                <a:srgbClr val="A3220D"/>
              </a:solidFill>
              <a:ln w="9525">
                <a:solidFill>
                  <a:srgbClr val="A3220D"/>
                </a:solidFill>
              </a:ln>
              <a:effectLst/>
            </c:spPr>
          </c:marker>
          <c:dPt>
            <c:idx val="6"/>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0-3546-41C6-9568-ACE011080E29}"/>
              </c:ext>
            </c:extLst>
          </c:dPt>
          <c:dPt>
            <c:idx val="9"/>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1-3546-41C6-9568-ACE011080E29}"/>
              </c:ext>
            </c:extLst>
          </c:dPt>
          <c:dLbls>
            <c:dLbl>
              <c:idx val="6"/>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a:pPr>
                      <a:t>[CATEGORY NAME]</a:t>
                    </a:fld>
                    <a:r>
                      <a:rPr lang="en-US" sz="900" baseline="0"/>
                      <a:t>, </a:t>
                    </a:r>
                    <a:fld id="{53BCD553-8C53-454B-865C-3FB106B46615}" type="VALUE">
                      <a:rPr lang="en-US" sz="900" baseline="0">
                        <a:solidFill>
                          <a:schemeClr val="accent2">
                            <a:lumMod val="75000"/>
                          </a:schemeClr>
                        </a:solidFill>
                      </a:rPr>
                      <a:pPr>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3546-41C6-9568-ACE011080E29}"/>
                </c:ext>
              </c:extLst>
            </c:dLbl>
            <c:dLbl>
              <c:idx val="9"/>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546-41C6-9568-ACE011080E29}"/>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Pivot_Table_Revenue!$B$7:$B$19</c:f>
              <c:numCache>
                <c:formatCode>_("$"* #,##0.00_);_("$"* \(#,##0.00\);_("$"* "-"??_);_(@_)</c:formatCode>
                <c:ptCount val="12"/>
                <c:pt idx="0">
                  <c:v>69793.299999999959</c:v>
                </c:pt>
                <c:pt idx="1">
                  <c:v>65159.6</c:v>
                </c:pt>
                <c:pt idx="2">
                  <c:v>70397.099999999977</c:v>
                </c:pt>
                <c:pt idx="3">
                  <c:v>68736.799999999959</c:v>
                </c:pt>
                <c:pt idx="4">
                  <c:v>71402.749999999985</c:v>
                </c:pt>
                <c:pt idx="5">
                  <c:v>68230.199999999983</c:v>
                </c:pt>
                <c:pt idx="6">
                  <c:v>72557.899999999994</c:v>
                </c:pt>
                <c:pt idx="7">
                  <c:v>68278.249999999985</c:v>
                </c:pt>
                <c:pt idx="8">
                  <c:v>64180.05</c:v>
                </c:pt>
                <c:pt idx="9">
                  <c:v>64027.600000000006</c:v>
                </c:pt>
                <c:pt idx="10">
                  <c:v>70395.349999999977</c:v>
                </c:pt>
                <c:pt idx="11">
                  <c:v>64701.15</c:v>
                </c:pt>
              </c:numCache>
            </c:numRef>
          </c:val>
          <c:smooth val="1"/>
          <c:extLst>
            <c:ext xmlns:c16="http://schemas.microsoft.com/office/drawing/2014/chart" uri="{C3380CC4-5D6E-409C-BE32-E72D297353CC}">
              <c16:uniqueId val="{00000002-3546-41C6-9568-ACE011080E2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quot;$&quot;* #,##0.00_);_(&quot;$&quot;* \(#,##0.00\);_(&quot;$&quot;* &quot;-&quot;??_);_(@_)" sourceLinked="1"/>
        <c:majorTickMark val="out"/>
        <c:minorTickMark val="none"/>
        <c:tickLblPos val="nextTo"/>
        <c:crossAx val="14793933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25-Vincent.xlsx]Pivot_Table_Orders!PivotTable2</c:name>
    <c:fmtId val="47"/>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Orders</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1"/>
        <c:spPr>
          <a:solidFill>
            <a:schemeClr val="accent1"/>
          </a:solidFill>
          <a:ln w="28575" cap="rnd">
            <a:solidFill>
              <a:srgbClr val="FFFF00"/>
            </a:solidFill>
            <a:round/>
          </a:ln>
          <a:effectLst/>
        </c:spPr>
        <c:marker>
          <c:symbol val="circle"/>
          <c:size val="5"/>
          <c:spPr>
            <a:solidFill>
              <a:srgbClr val="C00000"/>
            </a:solidFill>
            <a:ln w="1587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2"/>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3"/>
        <c:dLbl>
          <c:idx val="0"/>
          <c:layout>
            <c:manualLayout>
              <c:x val="-7.2200020444024751E-2"/>
              <c:y val="0.1134132757334779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50" b="0" i="0" u="none" strike="noStrike" kern="1200" baseline="0">
                  <a:solidFill>
                    <a:schemeClr val="accent2">
                      <a:lumMod val="75000"/>
                    </a:schemeClr>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7"/>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9"/>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s>
    <c:plotArea>
      <c:layout/>
      <c:lineChart>
        <c:grouping val="standard"/>
        <c:varyColors val="0"/>
        <c:ser>
          <c:idx val="0"/>
          <c:order val="0"/>
          <c:tx>
            <c:strRef>
              <c:f>Pivot_Table_Orders!$B$6</c:f>
              <c:strCache>
                <c:ptCount val="1"/>
                <c:pt idx="0">
                  <c:v>Total</c:v>
                </c:pt>
              </c:strCache>
            </c:strRef>
          </c:tx>
          <c:spPr>
            <a:ln w="28575" cap="rnd">
              <a:solidFill>
                <a:srgbClr val="FFFF00"/>
              </a:solidFill>
              <a:round/>
            </a:ln>
            <a:effectLst/>
          </c:spPr>
          <c:marker>
            <c:symbol val="circle"/>
            <c:size val="5"/>
            <c:spPr>
              <a:solidFill>
                <a:srgbClr val="C00000"/>
              </a:solidFill>
              <a:ln w="9525">
                <a:solidFill>
                  <a:srgbClr val="C00000"/>
                </a:solidFill>
              </a:ln>
              <a:effectLst/>
            </c:spPr>
          </c:marker>
          <c:dPt>
            <c:idx val="6"/>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0-5531-4238-884D-237060372F7F}"/>
              </c:ext>
            </c:extLst>
          </c:dPt>
          <c:dPt>
            <c:idx val="9"/>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1-5531-4238-884D-237060372F7F}"/>
              </c:ext>
            </c:extLst>
          </c:dPt>
          <c:dLbls>
            <c:dLbl>
              <c:idx val="6"/>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0">
                  <a:spAutoFit/>
                </a:bodyPr>
                <a:lstStyle/>
                <a:p>
                  <a:pPr algn="ctr">
                    <a:defRPr lang="en-US" sz="9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0-5531-4238-884D-237060372F7F}"/>
                </c:ext>
              </c:extLst>
            </c:dLbl>
            <c:dLbl>
              <c:idx val="9"/>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0">
                  <a:spAutoFit/>
                </a:bodyPr>
                <a:lstStyle/>
                <a:p>
                  <a:pPr algn="ctr">
                    <a:defRPr lang="en-US" sz="9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1-5531-4238-884D-237060372F7F}"/>
                </c:ext>
              </c:extLst>
            </c:dLbl>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Pivot_Table_Orders!$A$7:$A$19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Pivot_Table_Orders!$B$7:$B$19</c:f>
              <c:numCache>
                <c:formatCode>_(* #,##0_);_(* \(#,##0\);_(* "-"??_);_(@_)</c:formatCode>
                <c:ptCount val="12"/>
                <c:pt idx="0">
                  <c:v>1845</c:v>
                </c:pt>
                <c:pt idx="1">
                  <c:v>1685</c:v>
                </c:pt>
                <c:pt idx="2">
                  <c:v>1840</c:v>
                </c:pt>
                <c:pt idx="3">
                  <c:v>1799</c:v>
                </c:pt>
                <c:pt idx="4">
                  <c:v>1853</c:v>
                </c:pt>
                <c:pt idx="5">
                  <c:v>1773</c:v>
                </c:pt>
                <c:pt idx="6">
                  <c:v>1935</c:v>
                </c:pt>
                <c:pt idx="7">
                  <c:v>1841</c:v>
                </c:pt>
                <c:pt idx="8">
                  <c:v>1661</c:v>
                </c:pt>
                <c:pt idx="9">
                  <c:v>1646</c:v>
                </c:pt>
                <c:pt idx="10">
                  <c:v>1792</c:v>
                </c:pt>
                <c:pt idx="11">
                  <c:v>1680</c:v>
                </c:pt>
              </c:numCache>
            </c:numRef>
          </c:val>
          <c:smooth val="1"/>
          <c:extLst>
            <c:ext xmlns:c16="http://schemas.microsoft.com/office/drawing/2014/chart" uri="{C3380CC4-5D6E-409C-BE32-E72D297353CC}">
              <c16:uniqueId val="{00000002-5531-4238-884D-237060372F7F}"/>
            </c:ext>
          </c:extLst>
        </c:ser>
        <c:dLbls>
          <c:showLegendKey val="0"/>
          <c:showVal val="0"/>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0"/>
        <c:axPos val="l"/>
        <c:numFmt formatCode="_(* #,##0_);_(* \(#,##0\);_(*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rgbClr val="FFFF00"/>
                </a:solidFill>
                <a:latin typeface="+mn-lt"/>
                <a:ea typeface="+mn-ea"/>
                <a:cs typeface="+mn-cs"/>
              </a:defRPr>
            </a:pPr>
            <a:endParaRPr lang="en-US"/>
          </a:p>
        </c:txPr>
        <c:crossAx val="147939334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25-Vincent.xlsx]Pivot_Table_Quantities!PivotTable2</c:name>
    <c:fmtId val="66"/>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Quantities</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1"/>
        <c:spPr>
          <a:solidFill>
            <a:schemeClr val="accent1"/>
          </a:solidFill>
          <a:ln w="28575" cap="rnd">
            <a:solidFill>
              <a:srgbClr val="FFFF00"/>
            </a:solidFill>
            <a:round/>
          </a:ln>
          <a:effectLst/>
        </c:spPr>
        <c:marker>
          <c:symbol val="circle"/>
          <c:size val="5"/>
          <c:spPr>
            <a:solidFill>
              <a:srgbClr val="C00000"/>
            </a:solidFill>
            <a:ln w="1587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2"/>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3"/>
        <c:dLbl>
          <c:idx val="0"/>
          <c:layout>
            <c:manualLayout>
              <c:x val="-7.2200020444024751E-2"/>
              <c:y val="0.1134132757334779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50" b="0" i="0" u="none" strike="noStrike" kern="1200" baseline="0">
                  <a:solidFill>
                    <a:schemeClr val="accent2">
                      <a:lumMod val="75000"/>
                    </a:schemeClr>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7"/>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9"/>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3"/>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s>
    <c:plotArea>
      <c:layout/>
      <c:lineChart>
        <c:grouping val="standard"/>
        <c:varyColors val="0"/>
        <c:ser>
          <c:idx val="0"/>
          <c:order val="0"/>
          <c:tx>
            <c:strRef>
              <c:f>Pivot_Table_Quantities!$B$6</c:f>
              <c:strCache>
                <c:ptCount val="1"/>
                <c:pt idx="0">
                  <c:v>Total</c:v>
                </c:pt>
              </c:strCache>
            </c:strRef>
          </c:tx>
          <c:spPr>
            <a:ln w="28575" cap="rnd">
              <a:solidFill>
                <a:srgbClr val="FFFF00"/>
              </a:solidFill>
              <a:round/>
            </a:ln>
            <a:effectLst/>
          </c:spPr>
          <c:marker>
            <c:symbol val="circle"/>
            <c:size val="5"/>
            <c:spPr>
              <a:solidFill>
                <a:srgbClr val="C00000"/>
              </a:solidFill>
              <a:ln w="9525">
                <a:solidFill>
                  <a:srgbClr val="C00000"/>
                </a:solidFill>
              </a:ln>
              <a:effectLst/>
            </c:spPr>
          </c:marker>
          <c:dPt>
            <c:idx val="6"/>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0-8645-4AF1-B699-F1656AF63C79}"/>
              </c:ext>
            </c:extLst>
          </c:dPt>
          <c:dPt>
            <c:idx val="9"/>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1-8645-4AF1-B699-F1656AF63C79}"/>
              </c:ext>
            </c:extLst>
          </c:dPt>
          <c:dLbls>
            <c:dLbl>
              <c:idx val="6"/>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0-8645-4AF1-B699-F1656AF63C79}"/>
                </c:ext>
              </c:extLst>
            </c:dLbl>
            <c:dLbl>
              <c:idx val="9"/>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1-8645-4AF1-B699-F1656AF63C79}"/>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Pivot_Table_Quantities!$A$7:$A$19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Pivot_Table_Quantities!$B$7:$B$19</c:f>
              <c:numCache>
                <c:formatCode>_(* #,##0_);_(* \(#,##0\);_(* "-"??_);_(@_)</c:formatCode>
                <c:ptCount val="12"/>
                <c:pt idx="0">
                  <c:v>4232</c:v>
                </c:pt>
                <c:pt idx="1">
                  <c:v>3961</c:v>
                </c:pt>
                <c:pt idx="2">
                  <c:v>4261</c:v>
                </c:pt>
                <c:pt idx="3">
                  <c:v>4151</c:v>
                </c:pt>
                <c:pt idx="4">
                  <c:v>4328</c:v>
                </c:pt>
                <c:pt idx="5">
                  <c:v>4107</c:v>
                </c:pt>
                <c:pt idx="6">
                  <c:v>4392</c:v>
                </c:pt>
                <c:pt idx="7">
                  <c:v>4168</c:v>
                </c:pt>
                <c:pt idx="8">
                  <c:v>3890</c:v>
                </c:pt>
                <c:pt idx="9">
                  <c:v>3883</c:v>
                </c:pt>
                <c:pt idx="10">
                  <c:v>4266</c:v>
                </c:pt>
                <c:pt idx="11">
                  <c:v>3935</c:v>
                </c:pt>
              </c:numCache>
            </c:numRef>
          </c:val>
          <c:smooth val="1"/>
          <c:extLst>
            <c:ext xmlns:c16="http://schemas.microsoft.com/office/drawing/2014/chart" uri="{C3380CC4-5D6E-409C-BE32-E72D297353CC}">
              <c16:uniqueId val="{00000002-8645-4AF1-B699-F1656AF63C7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0"/>
        <c:axPos val="l"/>
        <c:numFmt formatCode="_(* #,##0_);_(* \(#,##0\);_(*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rgbClr val="FFFF00"/>
                </a:solidFill>
                <a:latin typeface="+mn-lt"/>
                <a:ea typeface="+mn-ea"/>
                <a:cs typeface="+mn-cs"/>
              </a:defRPr>
            </a:pPr>
            <a:endParaRPr lang="en-US"/>
          </a:p>
        </c:txPr>
        <c:crossAx val="147939334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25-Vincent.xlsx]Pivot_Table_AOV!PivotTable2</c:name>
    <c:fmtId val="78"/>
  </c:pivotSource>
  <c:chart>
    <c:title>
      <c:tx>
        <c:rich>
          <a:bodyPr rot="0" spcFirstLastPara="1" vertOverflow="ellipsis" vert="horz" wrap="square" anchor="ctr" anchorCtr="1"/>
          <a:lstStyle/>
          <a:p>
            <a:pPr>
              <a:defRPr sz="1100" b="1" i="0" u="none" strike="noStrike" kern="1200" spc="0" baseline="0">
                <a:solidFill>
                  <a:srgbClr val="FFFF00"/>
                </a:solidFill>
                <a:latin typeface="+mn-lt"/>
                <a:ea typeface="+mn-ea"/>
                <a:cs typeface="+mn-cs"/>
              </a:defRPr>
            </a:pPr>
            <a:r>
              <a:rPr lang="en-US" sz="1100" b="1">
                <a:solidFill>
                  <a:srgbClr val="FFFF00"/>
                </a:solidFill>
              </a:rPr>
              <a:t>Monthly AOV and Revenue per Pizza</a:t>
            </a:r>
          </a:p>
        </c:rich>
      </c:tx>
      <c:overlay val="0"/>
      <c:spPr>
        <a:noFill/>
        <a:ln>
          <a:noFill/>
        </a:ln>
        <a:effectLst/>
      </c:spPr>
      <c:txPr>
        <a:bodyPr rot="0" spcFirstLastPara="1" vertOverflow="ellipsis" vert="horz" wrap="square" anchor="ctr" anchorCtr="1"/>
        <a:lstStyle/>
        <a:p>
          <a:pPr>
            <a:defRPr sz="11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1"/>
        <c:spPr>
          <a:solidFill>
            <a:schemeClr val="accent1"/>
          </a:solidFill>
          <a:ln w="28575" cap="rnd">
            <a:solidFill>
              <a:srgbClr val="FFFF00"/>
            </a:solidFill>
            <a:round/>
          </a:ln>
          <a:effectLst/>
        </c:spPr>
        <c:marker>
          <c:symbol val="circle"/>
          <c:size val="5"/>
          <c:spPr>
            <a:solidFill>
              <a:srgbClr val="C00000"/>
            </a:solidFill>
            <a:ln w="1587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2"/>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3"/>
        <c:dLbl>
          <c:idx val="0"/>
          <c:layout>
            <c:manualLayout>
              <c:x val="-7.2200020444024751E-2"/>
              <c:y val="0.1134132757334779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50" b="0" i="0" u="none" strike="noStrike" kern="1200" baseline="0">
                  <a:solidFill>
                    <a:schemeClr val="accent2">
                      <a:lumMod val="75000"/>
                    </a:schemeClr>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7"/>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9"/>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3"/>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solidFill>
            <a:schemeClr val="accent1"/>
          </a:solidFill>
          <a:ln w="28575" cap="rnd">
            <a:solidFill>
              <a:schemeClr val="accent1"/>
            </a:solidFill>
            <a:round/>
          </a:ln>
          <a:effectLst/>
        </c:spPr>
        <c:marker>
          <c:symbol val="square"/>
          <c:size val="5"/>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9"/>
        <c:spPr>
          <a:solidFill>
            <a:schemeClr val="accent1"/>
          </a:solidFill>
          <a:ln w="28575" cap="rnd">
            <a:solidFill>
              <a:schemeClr val="accent1"/>
            </a:solidFill>
            <a:round/>
          </a:ln>
          <a:effectLst/>
        </c:spPr>
        <c:marker>
          <c:symbol val="square"/>
          <c:size val="5"/>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1"/>
        <c:spPr>
          <a:solidFill>
            <a:schemeClr val="accent1"/>
          </a:solidFill>
          <a:ln w="28575" cap="rnd">
            <a:solidFill>
              <a:schemeClr val="accent1"/>
            </a:solidFill>
            <a:round/>
          </a:ln>
          <a:effectLst/>
        </c:spPr>
        <c:marker>
          <c:symbol val="square"/>
          <c:size val="5"/>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1"/>
          <c:order val="1"/>
          <c:tx>
            <c:strRef>
              <c:f>Pivot_Table_AOV!$C$6</c:f>
              <c:strCache>
                <c:ptCount val="1"/>
                <c:pt idx="0">
                  <c:v>Revenue per Pizza</c:v>
                </c:pt>
              </c:strCache>
            </c:strRef>
          </c:tx>
          <c:spPr>
            <a:ln w="28575" cap="rnd">
              <a:solidFill>
                <a:srgbClr val="FFFF00"/>
              </a:solidFill>
              <a:round/>
            </a:ln>
            <a:effectLst/>
          </c:spPr>
          <c:marker>
            <c:symbol val="circle"/>
            <c:size val="5"/>
            <c:spPr>
              <a:solidFill>
                <a:srgbClr val="C00000"/>
              </a:solidFill>
              <a:ln w="9525">
                <a:solidFill>
                  <a:srgbClr val="C00000"/>
                </a:solidFill>
              </a:ln>
              <a:effectLst/>
            </c:spPr>
          </c:marker>
          <c:cat>
            <c:strRef>
              <c:f>Pivot_Table_AOV!$A$7:$A$19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Pivot_Table_AOV!$C$7:$C$19</c:f>
              <c:numCache>
                <c:formatCode>_("$"* #,##0.00_);_("$"* \(#,##0.00\);_("$"* "-"??_);_(@_)</c:formatCode>
                <c:ptCount val="12"/>
                <c:pt idx="0">
                  <c:v>16.491800567107742</c:v>
                </c:pt>
                <c:pt idx="1">
                  <c:v>16.450290330724563</c:v>
                </c:pt>
                <c:pt idx="2">
                  <c:v>16.521262614409757</c:v>
                </c:pt>
                <c:pt idx="3">
                  <c:v>16.559094194170068</c:v>
                </c:pt>
                <c:pt idx="4">
                  <c:v>16.497862754158962</c:v>
                </c:pt>
                <c:pt idx="5">
                  <c:v>16.61314828341855</c:v>
                </c:pt>
                <c:pt idx="6">
                  <c:v>16.520469034608379</c:v>
                </c:pt>
                <c:pt idx="7">
                  <c:v>16.381537907869479</c:v>
                </c:pt>
                <c:pt idx="8">
                  <c:v>16.498727506426736</c:v>
                </c:pt>
                <c:pt idx="9">
                  <c:v>16.489209374195212</c:v>
                </c:pt>
                <c:pt idx="10">
                  <c:v>16.501488513830282</c:v>
                </c:pt>
                <c:pt idx="11">
                  <c:v>16.442477763659468</c:v>
                </c:pt>
              </c:numCache>
            </c:numRef>
          </c:val>
          <c:smooth val="1"/>
          <c:extLst>
            <c:ext xmlns:c16="http://schemas.microsoft.com/office/drawing/2014/chart" uri="{C3380CC4-5D6E-409C-BE32-E72D297353CC}">
              <c16:uniqueId val="{00000000-F5F6-4496-B275-7466C6284DD3}"/>
            </c:ext>
          </c:extLst>
        </c:ser>
        <c:dLbls>
          <c:showLegendKey val="0"/>
          <c:showVal val="0"/>
          <c:showCatName val="0"/>
          <c:showSerName val="0"/>
          <c:showPercent val="0"/>
          <c:showBubbleSize val="0"/>
        </c:dLbls>
        <c:marker val="1"/>
        <c:smooth val="0"/>
        <c:axId val="1479393343"/>
        <c:axId val="1479393823"/>
      </c:lineChart>
      <c:lineChart>
        <c:grouping val="standard"/>
        <c:varyColors val="0"/>
        <c:ser>
          <c:idx val="0"/>
          <c:order val="0"/>
          <c:tx>
            <c:strRef>
              <c:f>Pivot_Table_AOV!$B$6</c:f>
              <c:strCache>
                <c:ptCount val="1"/>
                <c:pt idx="0">
                  <c:v>Revenue per Order (AOV)</c:v>
                </c:pt>
              </c:strCache>
            </c:strRef>
          </c:tx>
          <c:spPr>
            <a:ln w="28575" cap="rnd">
              <a:solidFill>
                <a:schemeClr val="accent1"/>
              </a:solidFill>
              <a:round/>
            </a:ln>
            <a:effectLst/>
          </c:spPr>
          <c:marker>
            <c:symbol val="square"/>
            <c:size val="5"/>
            <c:spPr>
              <a:solidFill>
                <a:srgbClr val="C00000"/>
              </a:solidFill>
              <a:ln w="9525">
                <a:solidFill>
                  <a:schemeClr val="accent1"/>
                </a:solidFill>
              </a:ln>
              <a:effectLst/>
            </c:spPr>
          </c:marker>
          <c:cat>
            <c:strRef>
              <c:f>Pivot_Table_AOV!$A$7:$A$19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Pivot_Table_AOV!$B$7:$B$19</c:f>
              <c:numCache>
                <c:formatCode>_("$"* #,##0.00_);_("$"* \(#,##0.00\);_("$"* "-"??_);_(@_)</c:formatCode>
                <c:ptCount val="12"/>
                <c:pt idx="0">
                  <c:v>37.828346883468811</c:v>
                </c:pt>
                <c:pt idx="1">
                  <c:v>38.670385756676559</c:v>
                </c:pt>
                <c:pt idx="2">
                  <c:v>38.259293478260858</c:v>
                </c:pt>
                <c:pt idx="3">
                  <c:v>38.208337965536387</c:v>
                </c:pt>
                <c:pt idx="4">
                  <c:v>38.533594171613593</c:v>
                </c:pt>
                <c:pt idx="5">
                  <c:v>38.482910321488994</c:v>
                </c:pt>
                <c:pt idx="6">
                  <c:v>37.497622739018084</c:v>
                </c:pt>
                <c:pt idx="7">
                  <c:v>37.087588267246055</c:v>
                </c:pt>
                <c:pt idx="8">
                  <c:v>38.639403973509935</c:v>
                </c:pt>
                <c:pt idx="9">
                  <c:v>38.898906439854194</c:v>
                </c:pt>
                <c:pt idx="10">
                  <c:v>39.283119419642844</c:v>
                </c:pt>
                <c:pt idx="11">
                  <c:v>38.512589285714284</c:v>
                </c:pt>
              </c:numCache>
            </c:numRef>
          </c:val>
          <c:smooth val="1"/>
          <c:extLst>
            <c:ext xmlns:c16="http://schemas.microsoft.com/office/drawing/2014/chart" uri="{C3380CC4-5D6E-409C-BE32-E72D297353CC}">
              <c16:uniqueId val="{00000001-F5F6-4496-B275-7466C6284DD3}"/>
            </c:ext>
          </c:extLst>
        </c:ser>
        <c:dLbls>
          <c:showLegendKey val="0"/>
          <c:showVal val="0"/>
          <c:showCatName val="0"/>
          <c:showSerName val="0"/>
          <c:showPercent val="0"/>
          <c:showBubbleSize val="0"/>
        </c:dLbls>
        <c:marker val="1"/>
        <c:smooth val="0"/>
        <c:axId val="981756559"/>
        <c:axId val="981745039"/>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0"/>
        <c:axPos val="l"/>
        <c:numFmt formatCode="_(&quot;$&quot;* #,##0.00_);_(&quot;$&quot;* \(#,##0.00\);_(&quot;$&quot;*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rgbClr val="FFFF00"/>
                </a:solidFill>
                <a:latin typeface="+mn-lt"/>
                <a:ea typeface="+mn-ea"/>
                <a:cs typeface="+mn-cs"/>
              </a:defRPr>
            </a:pPr>
            <a:endParaRPr lang="en-US"/>
          </a:p>
        </c:txPr>
        <c:crossAx val="1479393343"/>
        <c:crosses val="autoZero"/>
        <c:crossBetween val="between"/>
      </c:valAx>
      <c:valAx>
        <c:axId val="981745039"/>
        <c:scaling>
          <c:orientation val="minMax"/>
        </c:scaling>
        <c:delete val="0"/>
        <c:axPos val="r"/>
        <c:numFmt formatCode="_(&quot;$&quot;* #,##0.00_);_(&quot;$&quot;* \(#,##0.00\);_(&quot;$&quot;*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2"/>
                </a:solidFill>
                <a:latin typeface="+mn-lt"/>
                <a:ea typeface="+mn-ea"/>
                <a:cs typeface="+mn-cs"/>
              </a:defRPr>
            </a:pPr>
            <a:endParaRPr lang="en-US"/>
          </a:p>
        </c:txPr>
        <c:crossAx val="981756559"/>
        <c:crosses val="max"/>
        <c:crossBetween val="between"/>
      </c:valAx>
      <c:catAx>
        <c:axId val="981756559"/>
        <c:scaling>
          <c:orientation val="minMax"/>
        </c:scaling>
        <c:delete val="1"/>
        <c:axPos val="b"/>
        <c:numFmt formatCode="General" sourceLinked="1"/>
        <c:majorTickMark val="out"/>
        <c:minorTickMark val="none"/>
        <c:tickLblPos val="nextTo"/>
        <c:crossAx val="981745039"/>
        <c:crosses val="autoZero"/>
        <c:auto val="1"/>
        <c:lblAlgn val="ctr"/>
        <c:lblOffset val="100"/>
        <c:noMultiLvlLbl val="0"/>
      </c:catAx>
      <c:spPr>
        <a:noFill/>
        <a:ln>
          <a:solidFill>
            <a:schemeClr val="tx1"/>
          </a:solid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25-Vincent.xlsx]Pivot_Table_Revenue!PivotTable2</c:name>
    <c:fmtId val="22"/>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Revenue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s>
    <c:plotArea>
      <c:layout/>
      <c:lineChart>
        <c:grouping val="standard"/>
        <c:varyColors val="0"/>
        <c:ser>
          <c:idx val="0"/>
          <c:order val="0"/>
          <c:tx>
            <c:strRef>
              <c:f>Pivot_Table_Revenue!$B$6</c:f>
              <c:strCache>
                <c:ptCount val="1"/>
                <c:pt idx="0">
                  <c:v>Total</c:v>
                </c:pt>
              </c:strCache>
            </c:strRef>
          </c:tx>
          <c:spPr>
            <a:ln w="28575" cap="rnd">
              <a:solidFill>
                <a:srgbClr val="FFFF00"/>
              </a:solidFill>
              <a:round/>
            </a:ln>
            <a:effectLst/>
          </c:spPr>
          <c:marker>
            <c:symbol val="circle"/>
            <c:size val="6"/>
            <c:spPr>
              <a:solidFill>
                <a:srgbClr val="A3220D"/>
              </a:solidFill>
              <a:ln w="9525">
                <a:solidFill>
                  <a:srgbClr val="A3220D"/>
                </a:solidFill>
              </a:ln>
              <a:effectLst/>
            </c:spPr>
          </c:marker>
          <c:dPt>
            <c:idx val="6"/>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0-3546-41C6-9568-ACE011080E29}"/>
              </c:ext>
            </c:extLst>
          </c:dPt>
          <c:dPt>
            <c:idx val="9"/>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1-3546-41C6-9568-ACE011080E29}"/>
              </c:ext>
            </c:extLst>
          </c:dPt>
          <c:dLbls>
            <c:dLbl>
              <c:idx val="6"/>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a:pPr>
                      <a:t>[CATEGORY NAME]</a:t>
                    </a:fld>
                    <a:r>
                      <a:rPr lang="en-US" sz="900" baseline="0"/>
                      <a:t>, </a:t>
                    </a:r>
                    <a:fld id="{53BCD553-8C53-454B-865C-3FB106B46615}" type="VALUE">
                      <a:rPr lang="en-US" sz="900" baseline="0">
                        <a:solidFill>
                          <a:schemeClr val="accent2">
                            <a:lumMod val="75000"/>
                          </a:schemeClr>
                        </a:solidFill>
                      </a:rPr>
                      <a:pPr>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3546-41C6-9568-ACE011080E29}"/>
                </c:ext>
              </c:extLst>
            </c:dLbl>
            <c:dLbl>
              <c:idx val="9"/>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546-41C6-9568-ACE011080E29}"/>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Pivot_Table_Revenue!$B$7:$B$19</c:f>
              <c:numCache>
                <c:formatCode>_("$"* #,##0.00_);_("$"* \(#,##0.00\);_("$"* "-"??_);_(@_)</c:formatCode>
                <c:ptCount val="12"/>
                <c:pt idx="0">
                  <c:v>69793.299999999959</c:v>
                </c:pt>
                <c:pt idx="1">
                  <c:v>65159.6</c:v>
                </c:pt>
                <c:pt idx="2">
                  <c:v>70397.099999999977</c:v>
                </c:pt>
                <c:pt idx="3">
                  <c:v>68736.799999999959</c:v>
                </c:pt>
                <c:pt idx="4">
                  <c:v>71402.749999999985</c:v>
                </c:pt>
                <c:pt idx="5">
                  <c:v>68230.199999999983</c:v>
                </c:pt>
                <c:pt idx="6">
                  <c:v>72557.899999999994</c:v>
                </c:pt>
                <c:pt idx="7">
                  <c:v>68278.249999999985</c:v>
                </c:pt>
                <c:pt idx="8">
                  <c:v>64180.05</c:v>
                </c:pt>
                <c:pt idx="9">
                  <c:v>64027.600000000006</c:v>
                </c:pt>
                <c:pt idx="10">
                  <c:v>70395.349999999977</c:v>
                </c:pt>
                <c:pt idx="11">
                  <c:v>64701.15</c:v>
                </c:pt>
              </c:numCache>
            </c:numRef>
          </c:val>
          <c:smooth val="1"/>
          <c:extLst>
            <c:ext xmlns:c16="http://schemas.microsoft.com/office/drawing/2014/chart" uri="{C3380CC4-5D6E-409C-BE32-E72D297353CC}">
              <c16:uniqueId val="{00000002-3546-41C6-9568-ACE011080E2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quot;$&quot;* #,##0.00_);_(&quot;$&quot;* \(#,##0.00\);_(&quot;$&quot;* &quot;-&quot;??_);_(@_)" sourceLinked="1"/>
        <c:majorTickMark val="out"/>
        <c:minorTickMark val="none"/>
        <c:tickLblPos val="nextTo"/>
        <c:crossAx val="147939334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25-Vincent.xlsx]Pivot_Table_Revenue!PivotTable2</c:name>
    <c:fmtId val="-1"/>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Revenue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s>
    <c:plotArea>
      <c:layout/>
      <c:lineChart>
        <c:grouping val="standard"/>
        <c:varyColors val="0"/>
        <c:ser>
          <c:idx val="0"/>
          <c:order val="0"/>
          <c:tx>
            <c:strRef>
              <c:f>Pivot_Table_Revenue!$B$6</c:f>
              <c:strCache>
                <c:ptCount val="1"/>
                <c:pt idx="0">
                  <c:v>Total</c:v>
                </c:pt>
              </c:strCache>
            </c:strRef>
          </c:tx>
          <c:spPr>
            <a:ln w="28575" cap="rnd">
              <a:solidFill>
                <a:srgbClr val="FFFF00"/>
              </a:solidFill>
              <a:round/>
            </a:ln>
            <a:effectLst/>
          </c:spPr>
          <c:marker>
            <c:symbol val="circle"/>
            <c:size val="6"/>
            <c:spPr>
              <a:solidFill>
                <a:srgbClr val="A3220D"/>
              </a:solidFill>
              <a:ln w="9525">
                <a:solidFill>
                  <a:srgbClr val="A3220D"/>
                </a:solidFill>
              </a:ln>
              <a:effectLst/>
            </c:spPr>
          </c:marker>
          <c:dPt>
            <c:idx val="6"/>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0-3546-41C6-9568-ACE011080E29}"/>
              </c:ext>
            </c:extLst>
          </c:dPt>
          <c:dPt>
            <c:idx val="9"/>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1-3546-41C6-9568-ACE011080E29}"/>
              </c:ext>
            </c:extLst>
          </c:dPt>
          <c:dLbls>
            <c:dLbl>
              <c:idx val="6"/>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a:pPr>
                      <a:t>[CATEGORY NAME]</a:t>
                    </a:fld>
                    <a:r>
                      <a:rPr lang="en-US" sz="900" baseline="0"/>
                      <a:t>, </a:t>
                    </a:r>
                    <a:fld id="{53BCD553-8C53-454B-865C-3FB106B46615}" type="VALUE">
                      <a:rPr lang="en-US" sz="900" baseline="0">
                        <a:solidFill>
                          <a:schemeClr val="accent2">
                            <a:lumMod val="75000"/>
                          </a:schemeClr>
                        </a:solidFill>
                      </a:rPr>
                      <a:pPr>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3546-41C6-9568-ACE011080E29}"/>
                </c:ext>
              </c:extLst>
            </c:dLbl>
            <c:dLbl>
              <c:idx val="9"/>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546-41C6-9568-ACE011080E29}"/>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Pivot_Table_Revenue!$B$7:$B$19</c:f>
              <c:numCache>
                <c:formatCode>_("$"* #,##0.00_);_("$"* \(#,##0.00\);_("$"* "-"??_);_(@_)</c:formatCode>
                <c:ptCount val="12"/>
                <c:pt idx="0">
                  <c:v>69793.299999999959</c:v>
                </c:pt>
                <c:pt idx="1">
                  <c:v>65159.6</c:v>
                </c:pt>
                <c:pt idx="2">
                  <c:v>70397.099999999977</c:v>
                </c:pt>
                <c:pt idx="3">
                  <c:v>68736.799999999959</c:v>
                </c:pt>
                <c:pt idx="4">
                  <c:v>71402.749999999985</c:v>
                </c:pt>
                <c:pt idx="5">
                  <c:v>68230.199999999983</c:v>
                </c:pt>
                <c:pt idx="6">
                  <c:v>72557.899999999994</c:v>
                </c:pt>
                <c:pt idx="7">
                  <c:v>68278.249999999985</c:v>
                </c:pt>
                <c:pt idx="8">
                  <c:v>64180.05</c:v>
                </c:pt>
                <c:pt idx="9">
                  <c:v>64027.600000000006</c:v>
                </c:pt>
                <c:pt idx="10">
                  <c:v>70395.349999999977</c:v>
                </c:pt>
                <c:pt idx="11">
                  <c:v>64701.15</c:v>
                </c:pt>
              </c:numCache>
            </c:numRef>
          </c:val>
          <c:smooth val="1"/>
          <c:extLst>
            <c:ext xmlns:c16="http://schemas.microsoft.com/office/drawing/2014/chart" uri="{C3380CC4-5D6E-409C-BE32-E72D297353CC}">
              <c16:uniqueId val="{00000002-3546-41C6-9568-ACE011080E2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quot;$&quot;* #,##0.00_);_(&quot;$&quot;* \(#,##0.00\);_(&quot;$&quot;* &quot;-&quot;??_);_(@_)" sourceLinked="1"/>
        <c:majorTickMark val="out"/>
        <c:minorTickMark val="none"/>
        <c:tickLblPos val="nextTo"/>
        <c:crossAx val="147939334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25-Vincent.xlsx]Pivot_Table_Revenue!PivotTable2</c:name>
    <c:fmtId val="-1"/>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Revenue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s>
    <c:plotArea>
      <c:layout/>
      <c:lineChart>
        <c:grouping val="standard"/>
        <c:varyColors val="0"/>
        <c:ser>
          <c:idx val="0"/>
          <c:order val="0"/>
          <c:tx>
            <c:strRef>
              <c:f>Pivot_Table_Revenue!$B$6</c:f>
              <c:strCache>
                <c:ptCount val="1"/>
                <c:pt idx="0">
                  <c:v>Total</c:v>
                </c:pt>
              </c:strCache>
            </c:strRef>
          </c:tx>
          <c:spPr>
            <a:ln w="28575" cap="rnd">
              <a:solidFill>
                <a:srgbClr val="FFFF00"/>
              </a:solidFill>
              <a:round/>
            </a:ln>
            <a:effectLst/>
          </c:spPr>
          <c:marker>
            <c:symbol val="circle"/>
            <c:size val="6"/>
            <c:spPr>
              <a:solidFill>
                <a:srgbClr val="A3220D"/>
              </a:solidFill>
              <a:ln w="9525">
                <a:solidFill>
                  <a:srgbClr val="A3220D"/>
                </a:solidFill>
              </a:ln>
              <a:effectLst/>
            </c:spPr>
          </c:marker>
          <c:dPt>
            <c:idx val="6"/>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0-3546-41C6-9568-ACE011080E29}"/>
              </c:ext>
            </c:extLst>
          </c:dPt>
          <c:dPt>
            <c:idx val="9"/>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1-3546-41C6-9568-ACE011080E29}"/>
              </c:ext>
            </c:extLst>
          </c:dPt>
          <c:dLbls>
            <c:dLbl>
              <c:idx val="6"/>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a:pPr>
                      <a:t>[CATEGORY NAME]</a:t>
                    </a:fld>
                    <a:r>
                      <a:rPr lang="en-US" sz="900" baseline="0"/>
                      <a:t>, </a:t>
                    </a:r>
                    <a:fld id="{53BCD553-8C53-454B-865C-3FB106B46615}" type="VALUE">
                      <a:rPr lang="en-US" sz="900" baseline="0">
                        <a:solidFill>
                          <a:schemeClr val="accent2">
                            <a:lumMod val="75000"/>
                          </a:schemeClr>
                        </a:solidFill>
                      </a:rPr>
                      <a:pPr>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3546-41C6-9568-ACE011080E29}"/>
                </c:ext>
              </c:extLst>
            </c:dLbl>
            <c:dLbl>
              <c:idx val="9"/>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546-41C6-9568-ACE011080E29}"/>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Pivot_Table_Revenue!$B$7:$B$19</c:f>
              <c:numCache>
                <c:formatCode>_("$"* #,##0.00_);_("$"* \(#,##0.00\);_("$"* "-"??_);_(@_)</c:formatCode>
                <c:ptCount val="12"/>
                <c:pt idx="0">
                  <c:v>69793.299999999959</c:v>
                </c:pt>
                <c:pt idx="1">
                  <c:v>65159.6</c:v>
                </c:pt>
                <c:pt idx="2">
                  <c:v>70397.099999999977</c:v>
                </c:pt>
                <c:pt idx="3">
                  <c:v>68736.799999999959</c:v>
                </c:pt>
                <c:pt idx="4">
                  <c:v>71402.749999999985</c:v>
                </c:pt>
                <c:pt idx="5">
                  <c:v>68230.199999999983</c:v>
                </c:pt>
                <c:pt idx="6">
                  <c:v>72557.899999999994</c:v>
                </c:pt>
                <c:pt idx="7">
                  <c:v>68278.249999999985</c:v>
                </c:pt>
                <c:pt idx="8">
                  <c:v>64180.05</c:v>
                </c:pt>
                <c:pt idx="9">
                  <c:v>64027.600000000006</c:v>
                </c:pt>
                <c:pt idx="10">
                  <c:v>70395.349999999977</c:v>
                </c:pt>
                <c:pt idx="11">
                  <c:v>64701.15</c:v>
                </c:pt>
              </c:numCache>
            </c:numRef>
          </c:val>
          <c:smooth val="1"/>
          <c:extLst>
            <c:ext xmlns:c16="http://schemas.microsoft.com/office/drawing/2014/chart" uri="{C3380CC4-5D6E-409C-BE32-E72D297353CC}">
              <c16:uniqueId val="{00000002-3546-41C6-9568-ACE011080E2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quot;$&quot;* #,##0.00_);_(&quot;$&quot;* \(#,##0.00\);_(&quot;$&quot;* &quot;-&quot;??_);_(@_)" sourceLinked="1"/>
        <c:majorTickMark val="out"/>
        <c:minorTickMark val="none"/>
        <c:tickLblPos val="nextTo"/>
        <c:crossAx val="14793933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25-Vincent.xlsx]Pivot_Table_Revenue!PivotTable2</c:name>
    <c:fmtId val="-1"/>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Revenue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s>
    <c:plotArea>
      <c:layout/>
      <c:lineChart>
        <c:grouping val="standard"/>
        <c:varyColors val="0"/>
        <c:ser>
          <c:idx val="0"/>
          <c:order val="0"/>
          <c:tx>
            <c:strRef>
              <c:f>Pivot_Table_Revenue!$B$6</c:f>
              <c:strCache>
                <c:ptCount val="1"/>
                <c:pt idx="0">
                  <c:v>Total</c:v>
                </c:pt>
              </c:strCache>
            </c:strRef>
          </c:tx>
          <c:spPr>
            <a:ln w="28575" cap="rnd">
              <a:solidFill>
                <a:srgbClr val="FFFF00"/>
              </a:solidFill>
              <a:round/>
            </a:ln>
            <a:effectLst/>
          </c:spPr>
          <c:marker>
            <c:symbol val="circle"/>
            <c:size val="6"/>
            <c:spPr>
              <a:solidFill>
                <a:srgbClr val="A3220D"/>
              </a:solidFill>
              <a:ln w="9525">
                <a:solidFill>
                  <a:srgbClr val="A3220D"/>
                </a:solidFill>
              </a:ln>
              <a:effectLst/>
            </c:spPr>
          </c:marker>
          <c:dPt>
            <c:idx val="6"/>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0-3546-41C6-9568-ACE011080E29}"/>
              </c:ext>
            </c:extLst>
          </c:dPt>
          <c:dPt>
            <c:idx val="9"/>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1-3546-41C6-9568-ACE011080E29}"/>
              </c:ext>
            </c:extLst>
          </c:dPt>
          <c:dLbls>
            <c:dLbl>
              <c:idx val="6"/>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a:pPr>
                      <a:t>[CATEGORY NAME]</a:t>
                    </a:fld>
                    <a:r>
                      <a:rPr lang="en-US" sz="900" baseline="0"/>
                      <a:t>, </a:t>
                    </a:r>
                    <a:fld id="{53BCD553-8C53-454B-865C-3FB106B46615}" type="VALUE">
                      <a:rPr lang="en-US" sz="900" baseline="0">
                        <a:solidFill>
                          <a:schemeClr val="accent2">
                            <a:lumMod val="75000"/>
                          </a:schemeClr>
                        </a:solidFill>
                      </a:rPr>
                      <a:pPr>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3546-41C6-9568-ACE011080E29}"/>
                </c:ext>
              </c:extLst>
            </c:dLbl>
            <c:dLbl>
              <c:idx val="9"/>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546-41C6-9568-ACE011080E29}"/>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Pivot_Table_Revenue!$B$7:$B$19</c:f>
              <c:numCache>
                <c:formatCode>_("$"* #,##0.00_);_("$"* \(#,##0.00\);_("$"* "-"??_);_(@_)</c:formatCode>
                <c:ptCount val="12"/>
                <c:pt idx="0">
                  <c:v>69793.299999999959</c:v>
                </c:pt>
                <c:pt idx="1">
                  <c:v>65159.6</c:v>
                </c:pt>
                <c:pt idx="2">
                  <c:v>70397.099999999977</c:v>
                </c:pt>
                <c:pt idx="3">
                  <c:v>68736.799999999959</c:v>
                </c:pt>
                <c:pt idx="4">
                  <c:v>71402.749999999985</c:v>
                </c:pt>
                <c:pt idx="5">
                  <c:v>68230.199999999983</c:v>
                </c:pt>
                <c:pt idx="6">
                  <c:v>72557.899999999994</c:v>
                </c:pt>
                <c:pt idx="7">
                  <c:v>68278.249999999985</c:v>
                </c:pt>
                <c:pt idx="8">
                  <c:v>64180.05</c:v>
                </c:pt>
                <c:pt idx="9">
                  <c:v>64027.600000000006</c:v>
                </c:pt>
                <c:pt idx="10">
                  <c:v>70395.349999999977</c:v>
                </c:pt>
                <c:pt idx="11">
                  <c:v>64701.15</c:v>
                </c:pt>
              </c:numCache>
            </c:numRef>
          </c:val>
          <c:smooth val="1"/>
          <c:extLst>
            <c:ext xmlns:c16="http://schemas.microsoft.com/office/drawing/2014/chart" uri="{C3380CC4-5D6E-409C-BE32-E72D297353CC}">
              <c16:uniqueId val="{00000002-3546-41C6-9568-ACE011080E2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quot;$&quot;* #,##0.00_);_(&quot;$&quot;* \(#,##0.00\);_(&quot;$&quot;* &quot;-&quot;??_);_(@_)" sourceLinked="1"/>
        <c:majorTickMark val="out"/>
        <c:minorTickMark val="none"/>
        <c:tickLblPos val="nextTo"/>
        <c:crossAx val="14793933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25-Vincent.xlsx]Pivot_Table_Orders!PivotTable2</c:name>
    <c:fmtId val="47"/>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Orders</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1"/>
        <c:spPr>
          <a:solidFill>
            <a:schemeClr val="accent1"/>
          </a:solidFill>
          <a:ln w="28575" cap="rnd">
            <a:solidFill>
              <a:srgbClr val="FFFF00"/>
            </a:solidFill>
            <a:round/>
          </a:ln>
          <a:effectLst/>
        </c:spPr>
        <c:marker>
          <c:symbol val="circle"/>
          <c:size val="5"/>
          <c:spPr>
            <a:solidFill>
              <a:srgbClr val="C00000"/>
            </a:solidFill>
            <a:ln w="1587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2"/>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3"/>
        <c:dLbl>
          <c:idx val="0"/>
          <c:layout>
            <c:manualLayout>
              <c:x val="-7.2200020444024751E-2"/>
              <c:y val="0.1134132757334779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50" b="0" i="0" u="none" strike="noStrike" kern="1200" baseline="0">
                  <a:solidFill>
                    <a:schemeClr val="accent2">
                      <a:lumMod val="75000"/>
                    </a:schemeClr>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7"/>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9"/>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s>
    <c:plotArea>
      <c:layout/>
      <c:lineChart>
        <c:grouping val="standard"/>
        <c:varyColors val="0"/>
        <c:ser>
          <c:idx val="0"/>
          <c:order val="0"/>
          <c:tx>
            <c:strRef>
              <c:f>Pivot_Table_Orders!$B$6</c:f>
              <c:strCache>
                <c:ptCount val="1"/>
                <c:pt idx="0">
                  <c:v>Total</c:v>
                </c:pt>
              </c:strCache>
            </c:strRef>
          </c:tx>
          <c:spPr>
            <a:ln w="28575" cap="rnd">
              <a:solidFill>
                <a:srgbClr val="FFFF00"/>
              </a:solidFill>
              <a:round/>
            </a:ln>
            <a:effectLst/>
          </c:spPr>
          <c:marker>
            <c:symbol val="circle"/>
            <c:size val="5"/>
            <c:spPr>
              <a:solidFill>
                <a:srgbClr val="C00000"/>
              </a:solidFill>
              <a:ln w="9525">
                <a:solidFill>
                  <a:srgbClr val="C00000"/>
                </a:solidFill>
              </a:ln>
              <a:effectLst/>
            </c:spPr>
          </c:marker>
          <c:dPt>
            <c:idx val="6"/>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0-5531-4238-884D-237060372F7F}"/>
              </c:ext>
            </c:extLst>
          </c:dPt>
          <c:dPt>
            <c:idx val="9"/>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1-5531-4238-884D-237060372F7F}"/>
              </c:ext>
            </c:extLst>
          </c:dPt>
          <c:dLbls>
            <c:dLbl>
              <c:idx val="6"/>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rgbClr val="C00000"/>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0-5531-4238-884D-237060372F7F}"/>
                </c:ext>
              </c:extLst>
            </c:dLbl>
            <c:dLbl>
              <c:idx val="9"/>
              <c:layout>
                <c:manualLayout>
                  <c:x val="-0.30247913840010687"/>
                  <c:y val="0.1140224960733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16435468964872041"/>
                      <c:h val="0.29227572847119015"/>
                    </c:manualLayout>
                  </c15:layout>
                </c:ext>
                <c:ext xmlns:c16="http://schemas.microsoft.com/office/drawing/2014/chart" uri="{C3380CC4-5D6E-409C-BE32-E72D297353CC}">
                  <c16:uniqueId val="{00000001-5531-4238-884D-237060372F7F}"/>
                </c:ext>
              </c:extLst>
            </c:dLbl>
            <c:spPr>
              <a:solidFill>
                <a:srgbClr val="C00000"/>
              </a:solid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rgbClr val="C00000"/>
                    </a:solidFill>
                    <a:latin typeface="+mn-lt"/>
                    <a:ea typeface="+mn-ea"/>
                    <a:cs typeface="+mn-cs"/>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Pivot_Table_Orders!$A$7:$A$19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Pivot_Table_Orders!$B$7:$B$19</c:f>
              <c:numCache>
                <c:formatCode>_(* #,##0_);_(* \(#,##0\);_(* "-"??_);_(@_)</c:formatCode>
                <c:ptCount val="12"/>
                <c:pt idx="0">
                  <c:v>1845</c:v>
                </c:pt>
                <c:pt idx="1">
                  <c:v>1685</c:v>
                </c:pt>
                <c:pt idx="2">
                  <c:v>1840</c:v>
                </c:pt>
                <c:pt idx="3">
                  <c:v>1799</c:v>
                </c:pt>
                <c:pt idx="4">
                  <c:v>1853</c:v>
                </c:pt>
                <c:pt idx="5">
                  <c:v>1773</c:v>
                </c:pt>
                <c:pt idx="6">
                  <c:v>1935</c:v>
                </c:pt>
                <c:pt idx="7">
                  <c:v>1841</c:v>
                </c:pt>
                <c:pt idx="8">
                  <c:v>1661</c:v>
                </c:pt>
                <c:pt idx="9">
                  <c:v>1646</c:v>
                </c:pt>
                <c:pt idx="10">
                  <c:v>1792</c:v>
                </c:pt>
                <c:pt idx="11">
                  <c:v>1680</c:v>
                </c:pt>
              </c:numCache>
            </c:numRef>
          </c:val>
          <c:smooth val="1"/>
          <c:extLst>
            <c:ext xmlns:c16="http://schemas.microsoft.com/office/drawing/2014/chart" uri="{C3380CC4-5D6E-409C-BE32-E72D297353CC}">
              <c16:uniqueId val="{00000002-5531-4238-884D-237060372F7F}"/>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 #,##0_);_(* \(#,##0\);_(* &quot;-&quot;??_);_(@_)" sourceLinked="1"/>
        <c:majorTickMark val="out"/>
        <c:minorTickMark val="none"/>
        <c:tickLblPos val="nextTo"/>
        <c:crossAx val="147939334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25-Vincent.xlsx]Pivot_Table_Quantities!PivotTable2</c:name>
    <c:fmtId val="66"/>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Quantities</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1"/>
        <c:spPr>
          <a:solidFill>
            <a:schemeClr val="accent1"/>
          </a:solidFill>
          <a:ln w="28575" cap="rnd">
            <a:solidFill>
              <a:srgbClr val="FFFF00"/>
            </a:solidFill>
            <a:round/>
          </a:ln>
          <a:effectLst/>
        </c:spPr>
        <c:marker>
          <c:symbol val="circle"/>
          <c:size val="5"/>
          <c:spPr>
            <a:solidFill>
              <a:srgbClr val="C00000"/>
            </a:solidFill>
            <a:ln w="1587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2"/>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3"/>
        <c:dLbl>
          <c:idx val="0"/>
          <c:layout>
            <c:manualLayout>
              <c:x val="-7.2200020444024751E-2"/>
              <c:y val="0.1134132757334779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50" b="0" i="0" u="none" strike="noStrike" kern="1200" baseline="0">
                  <a:solidFill>
                    <a:schemeClr val="accent2">
                      <a:lumMod val="75000"/>
                    </a:schemeClr>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7"/>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9"/>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3"/>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s>
    <c:plotArea>
      <c:layout/>
      <c:lineChart>
        <c:grouping val="standard"/>
        <c:varyColors val="0"/>
        <c:ser>
          <c:idx val="0"/>
          <c:order val="0"/>
          <c:tx>
            <c:strRef>
              <c:f>Pivot_Table_Quantities!$B$6</c:f>
              <c:strCache>
                <c:ptCount val="1"/>
                <c:pt idx="0">
                  <c:v>Total</c:v>
                </c:pt>
              </c:strCache>
            </c:strRef>
          </c:tx>
          <c:spPr>
            <a:ln w="28575" cap="rnd">
              <a:solidFill>
                <a:srgbClr val="FFFF00"/>
              </a:solidFill>
              <a:round/>
            </a:ln>
            <a:effectLst/>
          </c:spPr>
          <c:marker>
            <c:symbol val="circle"/>
            <c:size val="5"/>
            <c:spPr>
              <a:solidFill>
                <a:srgbClr val="C00000"/>
              </a:solidFill>
              <a:ln w="9525">
                <a:solidFill>
                  <a:srgbClr val="C00000"/>
                </a:solidFill>
              </a:ln>
              <a:effectLst/>
            </c:spPr>
          </c:marker>
          <c:dPt>
            <c:idx val="6"/>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0-8645-4AF1-B699-F1656AF63C79}"/>
              </c:ext>
            </c:extLst>
          </c:dPt>
          <c:dPt>
            <c:idx val="9"/>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1-8645-4AF1-B699-F1656AF63C79}"/>
              </c:ext>
            </c:extLst>
          </c:dPt>
          <c:dLbls>
            <c:dLbl>
              <c:idx val="6"/>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0-8645-4AF1-B699-F1656AF63C79}"/>
                </c:ext>
              </c:extLst>
            </c:dLbl>
            <c:dLbl>
              <c:idx val="9"/>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1-8645-4AF1-B699-F1656AF63C79}"/>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Pivot_Table_Quantities!$A$7:$A$19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Pivot_Table_Quantities!$B$7:$B$19</c:f>
              <c:numCache>
                <c:formatCode>_(* #,##0_);_(* \(#,##0\);_(* "-"??_);_(@_)</c:formatCode>
                <c:ptCount val="12"/>
                <c:pt idx="0">
                  <c:v>4232</c:v>
                </c:pt>
                <c:pt idx="1">
                  <c:v>3961</c:v>
                </c:pt>
                <c:pt idx="2">
                  <c:v>4261</c:v>
                </c:pt>
                <c:pt idx="3">
                  <c:v>4151</c:v>
                </c:pt>
                <c:pt idx="4">
                  <c:v>4328</c:v>
                </c:pt>
                <c:pt idx="5">
                  <c:v>4107</c:v>
                </c:pt>
                <c:pt idx="6">
                  <c:v>4392</c:v>
                </c:pt>
                <c:pt idx="7">
                  <c:v>4168</c:v>
                </c:pt>
                <c:pt idx="8">
                  <c:v>3890</c:v>
                </c:pt>
                <c:pt idx="9">
                  <c:v>3883</c:v>
                </c:pt>
                <c:pt idx="10">
                  <c:v>4266</c:v>
                </c:pt>
                <c:pt idx="11">
                  <c:v>3935</c:v>
                </c:pt>
              </c:numCache>
            </c:numRef>
          </c:val>
          <c:smooth val="1"/>
          <c:extLst>
            <c:ext xmlns:c16="http://schemas.microsoft.com/office/drawing/2014/chart" uri="{C3380CC4-5D6E-409C-BE32-E72D297353CC}">
              <c16:uniqueId val="{00000002-8645-4AF1-B699-F1656AF63C7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 #,##0_);_(* \(#,##0\);_(* &quot;-&quot;??_);_(@_)" sourceLinked="1"/>
        <c:majorTickMark val="out"/>
        <c:minorTickMark val="none"/>
        <c:tickLblPos val="nextTo"/>
        <c:crossAx val="147939334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25-Vincent.xlsx]Pivot_Table_AOV!PivotTable2</c:name>
    <c:fmtId val="78"/>
  </c:pivotSource>
  <c:chart>
    <c:title>
      <c:tx>
        <c:rich>
          <a:bodyPr rot="0" spcFirstLastPara="1" vertOverflow="ellipsis" vert="horz" wrap="square" anchor="ctr" anchorCtr="1"/>
          <a:lstStyle/>
          <a:p>
            <a:pPr>
              <a:defRPr sz="1100" b="1" i="0" u="none" strike="noStrike" kern="1200" spc="0" baseline="0">
                <a:solidFill>
                  <a:srgbClr val="FFFF00"/>
                </a:solidFill>
                <a:latin typeface="+mn-lt"/>
                <a:ea typeface="+mn-ea"/>
                <a:cs typeface="+mn-cs"/>
              </a:defRPr>
            </a:pPr>
            <a:r>
              <a:rPr lang="en-US" sz="1100" b="1">
                <a:solidFill>
                  <a:srgbClr val="FFFF00"/>
                </a:solidFill>
              </a:rPr>
              <a:t>Monthly AOV and Revenue per Pizza</a:t>
            </a:r>
          </a:p>
        </c:rich>
      </c:tx>
      <c:overlay val="0"/>
      <c:spPr>
        <a:noFill/>
        <a:ln>
          <a:noFill/>
        </a:ln>
        <a:effectLst/>
      </c:spPr>
      <c:txPr>
        <a:bodyPr rot="0" spcFirstLastPara="1" vertOverflow="ellipsis" vert="horz" wrap="square" anchor="ctr" anchorCtr="1"/>
        <a:lstStyle/>
        <a:p>
          <a:pPr>
            <a:defRPr sz="11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1"/>
        <c:spPr>
          <a:solidFill>
            <a:schemeClr val="accent1"/>
          </a:solidFill>
          <a:ln w="28575" cap="rnd">
            <a:solidFill>
              <a:srgbClr val="FFFF00"/>
            </a:solidFill>
            <a:round/>
          </a:ln>
          <a:effectLst/>
        </c:spPr>
        <c:marker>
          <c:symbol val="circle"/>
          <c:size val="5"/>
          <c:spPr>
            <a:solidFill>
              <a:srgbClr val="C00000"/>
            </a:solidFill>
            <a:ln w="1587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2"/>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3"/>
        <c:dLbl>
          <c:idx val="0"/>
          <c:layout>
            <c:manualLayout>
              <c:x val="-7.2200020444024751E-2"/>
              <c:y val="0.1134132757334779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50" b="0" i="0" u="none" strike="noStrike" kern="1200" baseline="0">
                  <a:solidFill>
                    <a:schemeClr val="accent2">
                      <a:lumMod val="75000"/>
                    </a:schemeClr>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7"/>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9"/>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3"/>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solidFill>
            <a:schemeClr val="accent1"/>
          </a:solidFill>
          <a:ln w="28575" cap="rnd">
            <a:solidFill>
              <a:schemeClr val="accent1"/>
            </a:solidFill>
            <a:round/>
          </a:ln>
          <a:effectLst/>
        </c:spPr>
        <c:marker>
          <c:symbol val="square"/>
          <c:size val="5"/>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9"/>
        <c:spPr>
          <a:solidFill>
            <a:schemeClr val="accent1"/>
          </a:solidFill>
          <a:ln w="28575" cap="rnd">
            <a:solidFill>
              <a:schemeClr val="accent1"/>
            </a:solidFill>
            <a:round/>
          </a:ln>
          <a:effectLst/>
        </c:spPr>
        <c:marker>
          <c:symbol val="square"/>
          <c:size val="5"/>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1"/>
        <c:spPr>
          <a:solidFill>
            <a:schemeClr val="accent1"/>
          </a:solidFill>
          <a:ln w="28575" cap="rnd">
            <a:solidFill>
              <a:schemeClr val="accent1"/>
            </a:solidFill>
            <a:round/>
          </a:ln>
          <a:effectLst/>
        </c:spPr>
        <c:marker>
          <c:symbol val="square"/>
          <c:size val="5"/>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1"/>
          <c:order val="1"/>
          <c:tx>
            <c:strRef>
              <c:f>Pivot_Table_AOV!$C$6</c:f>
              <c:strCache>
                <c:ptCount val="1"/>
                <c:pt idx="0">
                  <c:v>Revenue per Pizza</c:v>
                </c:pt>
              </c:strCache>
            </c:strRef>
          </c:tx>
          <c:spPr>
            <a:ln w="28575" cap="rnd">
              <a:solidFill>
                <a:srgbClr val="FFFF00"/>
              </a:solidFill>
              <a:round/>
            </a:ln>
            <a:effectLst/>
          </c:spPr>
          <c:marker>
            <c:symbol val="circle"/>
            <c:size val="5"/>
            <c:spPr>
              <a:solidFill>
                <a:srgbClr val="C00000"/>
              </a:solidFill>
              <a:ln w="9525">
                <a:solidFill>
                  <a:srgbClr val="C00000"/>
                </a:solidFill>
              </a:ln>
              <a:effectLst/>
            </c:spPr>
          </c:marker>
          <c:cat>
            <c:strRef>
              <c:f>Pivot_Table_AOV!$A$7:$A$19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Pivot_Table_AOV!$C$7:$C$19</c:f>
              <c:numCache>
                <c:formatCode>_("$"* #,##0.00_);_("$"* \(#,##0.00\);_("$"* "-"??_);_(@_)</c:formatCode>
                <c:ptCount val="12"/>
                <c:pt idx="0">
                  <c:v>16.491800567107742</c:v>
                </c:pt>
                <c:pt idx="1">
                  <c:v>16.450290330724563</c:v>
                </c:pt>
                <c:pt idx="2">
                  <c:v>16.521262614409757</c:v>
                </c:pt>
                <c:pt idx="3">
                  <c:v>16.559094194170068</c:v>
                </c:pt>
                <c:pt idx="4">
                  <c:v>16.497862754158962</c:v>
                </c:pt>
                <c:pt idx="5">
                  <c:v>16.61314828341855</c:v>
                </c:pt>
                <c:pt idx="6">
                  <c:v>16.520469034608379</c:v>
                </c:pt>
                <c:pt idx="7">
                  <c:v>16.381537907869479</c:v>
                </c:pt>
                <c:pt idx="8">
                  <c:v>16.498727506426736</c:v>
                </c:pt>
                <c:pt idx="9">
                  <c:v>16.489209374195212</c:v>
                </c:pt>
                <c:pt idx="10">
                  <c:v>16.501488513830282</c:v>
                </c:pt>
                <c:pt idx="11">
                  <c:v>16.442477763659468</c:v>
                </c:pt>
              </c:numCache>
            </c:numRef>
          </c:val>
          <c:smooth val="1"/>
          <c:extLst>
            <c:ext xmlns:c16="http://schemas.microsoft.com/office/drawing/2014/chart" uri="{C3380CC4-5D6E-409C-BE32-E72D297353CC}">
              <c16:uniqueId val="{00000000-F5F6-4496-B275-7466C6284DD3}"/>
            </c:ext>
          </c:extLst>
        </c:ser>
        <c:dLbls>
          <c:showLegendKey val="0"/>
          <c:showVal val="0"/>
          <c:showCatName val="0"/>
          <c:showSerName val="0"/>
          <c:showPercent val="0"/>
          <c:showBubbleSize val="0"/>
        </c:dLbls>
        <c:marker val="1"/>
        <c:smooth val="0"/>
        <c:axId val="1479393343"/>
        <c:axId val="1479393823"/>
      </c:lineChart>
      <c:lineChart>
        <c:grouping val="standard"/>
        <c:varyColors val="0"/>
        <c:ser>
          <c:idx val="0"/>
          <c:order val="0"/>
          <c:tx>
            <c:strRef>
              <c:f>Pivot_Table_AOV!$B$6</c:f>
              <c:strCache>
                <c:ptCount val="1"/>
                <c:pt idx="0">
                  <c:v>Revenue per Order (AOV)</c:v>
                </c:pt>
              </c:strCache>
            </c:strRef>
          </c:tx>
          <c:spPr>
            <a:ln w="28575" cap="rnd">
              <a:solidFill>
                <a:schemeClr val="accent1"/>
              </a:solidFill>
              <a:round/>
            </a:ln>
            <a:effectLst/>
          </c:spPr>
          <c:marker>
            <c:symbol val="square"/>
            <c:size val="5"/>
            <c:spPr>
              <a:solidFill>
                <a:srgbClr val="C00000"/>
              </a:solidFill>
              <a:ln w="9525">
                <a:solidFill>
                  <a:schemeClr val="accent1"/>
                </a:solidFill>
              </a:ln>
              <a:effectLst/>
            </c:spPr>
          </c:marker>
          <c:cat>
            <c:strRef>
              <c:f>Pivot_Table_AOV!$A$7:$A$19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Pivot_Table_AOV!$B$7:$B$19</c:f>
              <c:numCache>
                <c:formatCode>_("$"* #,##0.00_);_("$"* \(#,##0.00\);_("$"* "-"??_);_(@_)</c:formatCode>
                <c:ptCount val="12"/>
                <c:pt idx="0">
                  <c:v>37.828346883468811</c:v>
                </c:pt>
                <c:pt idx="1">
                  <c:v>38.670385756676559</c:v>
                </c:pt>
                <c:pt idx="2">
                  <c:v>38.259293478260858</c:v>
                </c:pt>
                <c:pt idx="3">
                  <c:v>38.208337965536387</c:v>
                </c:pt>
                <c:pt idx="4">
                  <c:v>38.533594171613593</c:v>
                </c:pt>
                <c:pt idx="5">
                  <c:v>38.482910321488994</c:v>
                </c:pt>
                <c:pt idx="6">
                  <c:v>37.497622739018084</c:v>
                </c:pt>
                <c:pt idx="7">
                  <c:v>37.087588267246055</c:v>
                </c:pt>
                <c:pt idx="8">
                  <c:v>38.639403973509935</c:v>
                </c:pt>
                <c:pt idx="9">
                  <c:v>38.898906439854194</c:v>
                </c:pt>
                <c:pt idx="10">
                  <c:v>39.283119419642844</c:v>
                </c:pt>
                <c:pt idx="11">
                  <c:v>38.512589285714284</c:v>
                </c:pt>
              </c:numCache>
            </c:numRef>
          </c:val>
          <c:smooth val="1"/>
          <c:extLst>
            <c:ext xmlns:c16="http://schemas.microsoft.com/office/drawing/2014/chart" uri="{C3380CC4-5D6E-409C-BE32-E72D297353CC}">
              <c16:uniqueId val="{00000001-F5F6-4496-B275-7466C6284DD3}"/>
            </c:ext>
          </c:extLst>
        </c:ser>
        <c:dLbls>
          <c:showLegendKey val="0"/>
          <c:showVal val="0"/>
          <c:showCatName val="0"/>
          <c:showSerName val="0"/>
          <c:showPercent val="0"/>
          <c:showBubbleSize val="0"/>
        </c:dLbls>
        <c:marker val="1"/>
        <c:smooth val="0"/>
        <c:axId val="981756559"/>
        <c:axId val="981745039"/>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0"/>
        <c:axPos val="l"/>
        <c:numFmt formatCode="_(&quot;$&quot;* #,##0.00_);_(&quot;$&quot;* \(#,##0.00\);_(&quot;$&quot;*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rgbClr val="FFFF00"/>
                </a:solidFill>
                <a:latin typeface="+mn-lt"/>
                <a:ea typeface="+mn-ea"/>
                <a:cs typeface="+mn-cs"/>
              </a:defRPr>
            </a:pPr>
            <a:endParaRPr lang="en-US"/>
          </a:p>
        </c:txPr>
        <c:crossAx val="1479393343"/>
        <c:crosses val="autoZero"/>
        <c:crossBetween val="between"/>
      </c:valAx>
      <c:valAx>
        <c:axId val="981745039"/>
        <c:scaling>
          <c:orientation val="minMax"/>
        </c:scaling>
        <c:delete val="0"/>
        <c:axPos val="r"/>
        <c:numFmt formatCode="_(&quot;$&quot;* #,##0.00_);_(&quot;$&quot;* \(#,##0.00\);_(&quot;$&quot;*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2"/>
                </a:solidFill>
                <a:latin typeface="+mn-lt"/>
                <a:ea typeface="+mn-ea"/>
                <a:cs typeface="+mn-cs"/>
              </a:defRPr>
            </a:pPr>
            <a:endParaRPr lang="en-US"/>
          </a:p>
        </c:txPr>
        <c:crossAx val="981756559"/>
        <c:crosses val="max"/>
        <c:crossBetween val="between"/>
      </c:valAx>
      <c:catAx>
        <c:axId val="981756559"/>
        <c:scaling>
          <c:orientation val="minMax"/>
        </c:scaling>
        <c:delete val="1"/>
        <c:axPos val="b"/>
        <c:numFmt formatCode="General" sourceLinked="1"/>
        <c:majorTickMark val="out"/>
        <c:minorTickMark val="none"/>
        <c:tickLblPos val="nextTo"/>
        <c:crossAx val="981745039"/>
        <c:crosses val="autoZero"/>
        <c:auto val="1"/>
        <c:lblAlgn val="ctr"/>
        <c:lblOffset val="100"/>
        <c:noMultiLvlLbl val="0"/>
      </c:catAx>
      <c:spPr>
        <a:noFill/>
        <a:ln>
          <a:solidFill>
            <a:schemeClr val="tx1"/>
          </a:solid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25-Vincent.xlsx]Pivot_Table_AOV!PivotTable6</c:name>
    <c:fmtId val="45"/>
  </c:pivotSource>
  <c:chart>
    <c:title>
      <c:tx>
        <c:rich>
          <a:bodyPr rot="0" spcFirstLastPara="1" vertOverflow="ellipsis" vert="horz" wrap="square" anchor="ctr" anchorCtr="1"/>
          <a:lstStyle/>
          <a:p>
            <a:pPr>
              <a:defRPr sz="1100" b="0" i="0" u="none" strike="noStrike" kern="1200" spc="0" baseline="0">
                <a:solidFill>
                  <a:schemeClr val="tx1">
                    <a:lumMod val="65000"/>
                    <a:lumOff val="35000"/>
                  </a:schemeClr>
                </a:solidFill>
                <a:latin typeface="+mn-lt"/>
                <a:ea typeface="+mn-ea"/>
                <a:cs typeface="+mn-cs"/>
              </a:defRPr>
            </a:pPr>
            <a:r>
              <a:rPr lang="en-US" sz="1100" b="1">
                <a:solidFill>
                  <a:srgbClr val="FFFF00"/>
                </a:solidFill>
              </a:rPr>
              <a:t>Daily AOV and Revenue</a:t>
            </a:r>
            <a:r>
              <a:rPr lang="en-US" sz="1100" b="1" baseline="0">
                <a:solidFill>
                  <a:srgbClr val="FFFF00"/>
                </a:solidFill>
              </a:rPr>
              <a:t> per Pizza</a:t>
            </a:r>
            <a:endParaRPr lang="en-US" sz="1100" b="1">
              <a:solidFill>
                <a:srgbClr val="FFFF00"/>
              </a:solidFill>
            </a:endParaRPr>
          </a:p>
        </c:rich>
      </c:tx>
      <c:overlay val="0"/>
      <c:spPr>
        <a:noFill/>
        <a:ln>
          <a:noFill/>
        </a:ln>
        <a:effectLst/>
      </c:spPr>
      <c:txPr>
        <a:bodyPr rot="0" spcFirstLastPara="1" vertOverflow="ellipsis" vert="horz" wrap="square" anchor="ctr" anchorCtr="1"/>
        <a:lstStyle/>
        <a:p>
          <a:pPr>
            <a:defRPr sz="11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1"/>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2"/>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3"/>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4"/>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FFF00"/>
          </a:solidFill>
          <a:ln w="22225">
            <a:solidFill>
              <a:srgbClr val="A3220D"/>
            </a:solidFill>
          </a:ln>
          <a:effectLst/>
        </c:spPr>
        <c:dLbl>
          <c:idx val="0"/>
          <c:layout>
            <c:manualLayout>
              <c:x val="0"/>
              <c:y val="0.462102749876502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FFFF00"/>
          </a:solidFill>
          <a:ln w="22225">
            <a:solidFill>
              <a:srgbClr val="A3220D"/>
            </a:solidFill>
          </a:ln>
          <a:effectLst/>
        </c:spPr>
        <c:dLbl>
          <c:idx val="0"/>
          <c:layout>
            <c:manualLayout>
              <c:x val="-5.2309937749452115E-17"/>
              <c:y val="0.358732964616770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FFFF00"/>
          </a:solidFill>
          <a:ln w="22225">
            <a:solidFill>
              <a:srgbClr val="A3220D"/>
            </a:solidFill>
          </a:ln>
          <a:effectLst/>
        </c:spPr>
        <c:dLbl>
          <c:idx val="0"/>
          <c:layout>
            <c:manualLayout>
              <c:x val="0"/>
              <c:y val="0.1490798229385611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FFFF00"/>
          </a:solidFill>
          <a:ln w="22225">
            <a:solidFill>
              <a:srgbClr val="A3220D"/>
            </a:solidFill>
          </a:ln>
          <a:effectLst/>
        </c:spPr>
        <c:dLbl>
          <c:idx val="0"/>
          <c:layout>
            <c:manualLayout>
              <c:x val="0"/>
              <c:y val="0.3143014887496246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rgbClr val="FFFF00"/>
          </a:solidFill>
          <a:ln w="22225">
            <a:solidFill>
              <a:srgbClr val="A3220D"/>
            </a:solidFill>
          </a:ln>
          <a:effectLst/>
        </c:spPr>
        <c:dLbl>
          <c:idx val="0"/>
          <c:layout>
            <c:manualLayout>
              <c:x val="0"/>
              <c:y val="0.1733836363460252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rgbClr val="FFFF00"/>
          </a:solidFill>
          <a:ln w="22225">
            <a:solidFill>
              <a:srgbClr val="A3220D"/>
            </a:solidFill>
          </a:ln>
          <a:effectLst/>
        </c:spPr>
        <c:dLbl>
          <c:idx val="0"/>
          <c:layout>
            <c:manualLayout>
              <c:x val="0"/>
              <c:y val="0.1788654701136175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rgbClr val="FFFF00"/>
          </a:solidFill>
          <a:ln w="22225">
            <a:solidFill>
              <a:srgbClr val="A3220D"/>
            </a:solidFill>
          </a:ln>
          <a:effectLst/>
        </c:spPr>
        <c:dLbl>
          <c:idx val="0"/>
          <c:layout>
            <c:manualLayout>
              <c:x val="1.0461987549890423E-16"/>
              <c:y val="0.3170518495558934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3"/>
        <c:spPr>
          <a:solidFill>
            <a:srgbClr val="FFFF00"/>
          </a:solidFill>
          <a:ln w="22225">
            <a:solidFill>
              <a:srgbClr val="A3220D"/>
            </a:solidFill>
          </a:ln>
          <a:effectLst/>
        </c:spPr>
        <c:dLbl>
          <c:idx val="0"/>
          <c:layout>
            <c:manualLayout>
              <c:x val="0"/>
              <c:y val="0.3143014887496246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
        <c:spPr>
          <a:solidFill>
            <a:srgbClr val="FFFF00"/>
          </a:solidFill>
          <a:ln w="22225">
            <a:solidFill>
              <a:srgbClr val="A3220D"/>
            </a:solidFill>
          </a:ln>
          <a:effectLst/>
        </c:spPr>
        <c:dLbl>
          <c:idx val="0"/>
          <c:layout>
            <c:manualLayout>
              <c:x val="0"/>
              <c:y val="0.1490798229385611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5"/>
        <c:spPr>
          <a:solidFill>
            <a:srgbClr val="FFFF00"/>
          </a:solidFill>
          <a:ln w="22225">
            <a:solidFill>
              <a:srgbClr val="A3220D"/>
            </a:solidFill>
          </a:ln>
          <a:effectLst/>
        </c:spPr>
        <c:dLbl>
          <c:idx val="0"/>
          <c:layout>
            <c:manualLayout>
              <c:x val="-5.2309937749452115E-17"/>
              <c:y val="0.358732964616770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6"/>
        <c:spPr>
          <a:solidFill>
            <a:srgbClr val="FFFF00"/>
          </a:solidFill>
          <a:ln w="22225">
            <a:solidFill>
              <a:srgbClr val="A3220D"/>
            </a:solidFill>
          </a:ln>
          <a:effectLst/>
        </c:spPr>
        <c:dLbl>
          <c:idx val="0"/>
          <c:layout>
            <c:manualLayout>
              <c:x val="0"/>
              <c:y val="0.1733836363460252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rgbClr val="FFFF00"/>
          </a:solidFill>
          <a:ln w="22225">
            <a:solidFill>
              <a:srgbClr val="A3220D"/>
            </a:solidFill>
          </a:ln>
          <a:effectLst/>
        </c:spPr>
        <c:dLbl>
          <c:idx val="0"/>
          <c:layout>
            <c:manualLayout>
              <c:x val="0"/>
              <c:y val="0.462102749876502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8"/>
        <c:spPr>
          <a:solidFill>
            <a:srgbClr val="FFFF00"/>
          </a:solidFill>
          <a:ln w="22225">
            <a:solidFill>
              <a:srgbClr val="A3220D"/>
            </a:solidFill>
          </a:ln>
          <a:effectLst/>
        </c:spPr>
        <c:dLbl>
          <c:idx val="0"/>
          <c:layout>
            <c:manualLayout>
              <c:x val="0"/>
              <c:y val="0.1788654701136175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9"/>
        <c:spPr>
          <a:solidFill>
            <a:srgbClr val="FFFF00"/>
          </a:solidFill>
          <a:ln w="22225">
            <a:solidFill>
              <a:srgbClr val="A3220D"/>
            </a:solidFill>
          </a:ln>
          <a:effectLst/>
        </c:spPr>
        <c:dLbl>
          <c:idx val="0"/>
          <c:layout>
            <c:manualLayout>
              <c:x val="1.0461987549890423E-16"/>
              <c:y val="0.3170518495558934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0"/>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1"/>
        <c:spPr>
          <a:solidFill>
            <a:srgbClr val="FFFF00"/>
          </a:solidFill>
          <a:ln w="22225">
            <a:solidFill>
              <a:srgbClr val="A3220D"/>
            </a:solidFill>
          </a:ln>
          <a:effectLst/>
        </c:spPr>
        <c:dLbl>
          <c:idx val="0"/>
          <c:layout>
            <c:manualLayout>
              <c:x val="0"/>
              <c:y val="0.3143014887496246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2"/>
        <c:spPr>
          <a:solidFill>
            <a:srgbClr val="FFFF00"/>
          </a:solidFill>
          <a:ln w="22225">
            <a:solidFill>
              <a:srgbClr val="A3220D"/>
            </a:solidFill>
          </a:ln>
          <a:effectLst/>
        </c:spPr>
        <c:dLbl>
          <c:idx val="0"/>
          <c:layout>
            <c:manualLayout>
              <c:x val="0"/>
              <c:y val="0.1490798229385611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3"/>
        <c:spPr>
          <a:solidFill>
            <a:srgbClr val="FFFF00"/>
          </a:solidFill>
          <a:ln w="22225">
            <a:solidFill>
              <a:srgbClr val="A3220D"/>
            </a:solidFill>
          </a:ln>
          <a:effectLst/>
        </c:spPr>
        <c:dLbl>
          <c:idx val="0"/>
          <c:layout>
            <c:manualLayout>
              <c:x val="-5.2309937749452115E-17"/>
              <c:y val="0.358732964616770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4"/>
        <c:spPr>
          <a:solidFill>
            <a:srgbClr val="FFFF00"/>
          </a:solidFill>
          <a:ln w="22225">
            <a:solidFill>
              <a:srgbClr val="A3220D"/>
            </a:solidFill>
          </a:ln>
          <a:effectLst/>
        </c:spPr>
        <c:dLbl>
          <c:idx val="0"/>
          <c:layout>
            <c:manualLayout>
              <c:x val="0"/>
              <c:y val="0.1733836363460252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5"/>
        <c:spPr>
          <a:solidFill>
            <a:srgbClr val="FFFF00"/>
          </a:solidFill>
          <a:ln w="22225">
            <a:solidFill>
              <a:srgbClr val="A3220D"/>
            </a:solidFill>
          </a:ln>
          <a:effectLst/>
        </c:spPr>
        <c:dLbl>
          <c:idx val="0"/>
          <c:layout>
            <c:manualLayout>
              <c:x val="0"/>
              <c:y val="0.462102749876502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6"/>
        <c:spPr>
          <a:solidFill>
            <a:srgbClr val="FFFF00"/>
          </a:solidFill>
          <a:ln w="22225">
            <a:solidFill>
              <a:srgbClr val="A3220D"/>
            </a:solidFill>
          </a:ln>
          <a:effectLst/>
        </c:spPr>
        <c:dLbl>
          <c:idx val="0"/>
          <c:layout>
            <c:manualLayout>
              <c:x val="0"/>
              <c:y val="0.1788654701136175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7"/>
        <c:spPr>
          <a:solidFill>
            <a:srgbClr val="FFFF00"/>
          </a:solidFill>
          <a:ln w="22225">
            <a:solidFill>
              <a:srgbClr val="A3220D"/>
            </a:solidFill>
          </a:ln>
          <a:effectLst/>
        </c:spPr>
        <c:dLbl>
          <c:idx val="0"/>
          <c:layout>
            <c:manualLayout>
              <c:x val="1.0461987549890423E-16"/>
              <c:y val="0.3170518495558934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8"/>
        <c:spPr>
          <a:solidFill>
            <a:srgbClr val="FFFF00"/>
          </a:solidFill>
          <a:ln w="22225">
            <a:solidFill>
              <a:srgbClr val="A3220D"/>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9"/>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0"/>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1"/>
        <c:spPr>
          <a:solidFill>
            <a:srgbClr val="FFFF00"/>
          </a:solidFill>
          <a:ln w="22225">
            <a:solidFill>
              <a:srgbClr val="C00000"/>
            </a:solidFill>
          </a:ln>
          <a:effectLst/>
        </c:spPr>
        <c:dLbl>
          <c:idx val="0"/>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1050" b="0" i="0" u="none" strike="noStrike" kern="1200" baseline="0">
                  <a:solidFill>
                    <a:srgbClr val="FFFF00"/>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32"/>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3"/>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4"/>
        <c:spPr>
          <a:solidFill>
            <a:schemeClr val="accent1"/>
          </a:solidFill>
          <a:ln w="22225">
            <a:solidFill>
              <a:srgbClr val="A3220D"/>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1050" b="1"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5"/>
        <c:spPr>
          <a:solidFill>
            <a:srgbClr val="FFFF00"/>
          </a:solidFill>
          <a:ln w="22225">
            <a:solidFill>
              <a:srgbClr val="A3220D"/>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1050" b="1"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6"/>
        <c:spPr>
          <a:solidFill>
            <a:schemeClr val="accent1"/>
          </a:solidFill>
          <a:ln w="22225">
            <a:solidFill>
              <a:srgbClr val="A3220D"/>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1050" b="1"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7"/>
        <c:spPr>
          <a:solidFill>
            <a:srgbClr val="FFFF00"/>
          </a:solidFill>
          <a:ln w="22225">
            <a:solidFill>
              <a:srgbClr val="A3220D"/>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1050" b="1"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2225">
            <a:solidFill>
              <a:srgbClr val="A3220D"/>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1050" b="1"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9"/>
        <c:spPr>
          <a:solidFill>
            <a:srgbClr val="FFFF00"/>
          </a:solidFill>
          <a:ln w="22225">
            <a:solidFill>
              <a:srgbClr val="A3220D"/>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1050" b="1"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Pivot_Table_AOV!$J$2</c:f>
              <c:strCache>
                <c:ptCount val="1"/>
                <c:pt idx="0">
                  <c:v>Revenue per Order (AOV)</c:v>
                </c:pt>
              </c:strCache>
            </c:strRef>
          </c:tx>
          <c:spPr>
            <a:solidFill>
              <a:schemeClr val="accent1"/>
            </a:solidFill>
            <a:ln w="22225">
              <a:solidFill>
                <a:srgbClr val="A3220D"/>
              </a:solidFill>
            </a:ln>
            <a:effectLst/>
          </c:spPr>
          <c:invertIfNegative val="0"/>
          <c:dLbls>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Pivot_Table_AOV!$I$3:$I$9</c:f>
              <c:strCache>
                <c:ptCount val="7"/>
                <c:pt idx="0">
                  <c:v>Monday</c:v>
                </c:pt>
                <c:pt idx="1">
                  <c:v>Tuesday</c:v>
                </c:pt>
                <c:pt idx="2">
                  <c:v>Wednesday</c:v>
                </c:pt>
                <c:pt idx="3">
                  <c:v>Thursday</c:v>
                </c:pt>
                <c:pt idx="4">
                  <c:v>Friday</c:v>
                </c:pt>
                <c:pt idx="5">
                  <c:v>Saturday</c:v>
                </c:pt>
                <c:pt idx="6">
                  <c:v>Sunday</c:v>
                </c:pt>
              </c:strCache>
            </c:strRef>
          </c:cat>
          <c:val>
            <c:numRef>
              <c:f>Pivot_Table_AOV!$J$3:$J$9</c:f>
              <c:numCache>
                <c:formatCode>_("$"* #,##0.00_);_("$"* \(#,##0.00\);_("$"* "-"??_);_(@_)</c:formatCode>
                <c:ptCount val="7"/>
                <c:pt idx="0">
                  <c:v>38.414298496778798</c:v>
                </c:pt>
                <c:pt idx="1">
                  <c:v>38.390110998990899</c:v>
                </c:pt>
                <c:pt idx="2">
                  <c:v>37.833465608465588</c:v>
                </c:pt>
                <c:pt idx="3">
                  <c:v>38.137851188638457</c:v>
                </c:pt>
                <c:pt idx="4">
                  <c:v>38.460684002261154</c:v>
                </c:pt>
                <c:pt idx="5">
                  <c:v>39.006459784673837</c:v>
                </c:pt>
                <c:pt idx="6">
                  <c:v>37.806211890243894</c:v>
                </c:pt>
              </c:numCache>
            </c:numRef>
          </c:val>
          <c:extLst>
            <c:ext xmlns:c16="http://schemas.microsoft.com/office/drawing/2014/chart" uri="{C3380CC4-5D6E-409C-BE32-E72D297353CC}">
              <c16:uniqueId val="{00000000-0260-4726-87B5-942E33397AC2}"/>
            </c:ext>
          </c:extLst>
        </c:ser>
        <c:ser>
          <c:idx val="1"/>
          <c:order val="1"/>
          <c:tx>
            <c:strRef>
              <c:f>Pivot_Table_AOV!$K$2</c:f>
              <c:strCache>
                <c:ptCount val="1"/>
                <c:pt idx="0">
                  <c:v>Revenue per Pizza</c:v>
                </c:pt>
              </c:strCache>
            </c:strRef>
          </c:tx>
          <c:spPr>
            <a:solidFill>
              <a:srgbClr val="FFFF00"/>
            </a:solidFill>
            <a:ln w="22225">
              <a:solidFill>
                <a:srgbClr val="A3220D"/>
              </a:solidFill>
            </a:ln>
            <a:effectLst/>
          </c:spPr>
          <c:invertIfNegative val="0"/>
          <c:dLbls>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800" b="1"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Pivot_Table_AOV!$I$3:$I$9</c:f>
              <c:strCache>
                <c:ptCount val="7"/>
                <c:pt idx="0">
                  <c:v>Monday</c:v>
                </c:pt>
                <c:pt idx="1">
                  <c:v>Tuesday</c:v>
                </c:pt>
                <c:pt idx="2">
                  <c:v>Wednesday</c:v>
                </c:pt>
                <c:pt idx="3">
                  <c:v>Thursday</c:v>
                </c:pt>
                <c:pt idx="4">
                  <c:v>Friday</c:v>
                </c:pt>
                <c:pt idx="5">
                  <c:v>Saturday</c:v>
                </c:pt>
                <c:pt idx="6">
                  <c:v>Sunday</c:v>
                </c:pt>
              </c:strCache>
            </c:strRef>
          </c:cat>
          <c:val>
            <c:numRef>
              <c:f>Pivot_Table_AOV!$K$3:$K$9</c:f>
              <c:numCache>
                <c:formatCode>_("$"* #,##0.00_);_("$"* \(#,##0.00\);_("$"* "-"??_);_(@_)</c:formatCode>
                <c:ptCount val="7"/>
                <c:pt idx="0">
                  <c:v>16.550431765612945</c:v>
                </c:pt>
                <c:pt idx="1">
                  <c:v>16.553125453226968</c:v>
                </c:pt>
                <c:pt idx="2">
                  <c:v>16.471120069104511</c:v>
                </c:pt>
                <c:pt idx="3">
                  <c:v>16.518922171703657</c:v>
                </c:pt>
                <c:pt idx="4">
                  <c:v>16.509815578743019</c:v>
                </c:pt>
                <c:pt idx="5">
                  <c:v>16.439663686107028</c:v>
                </c:pt>
                <c:pt idx="6">
                  <c:v>16.438028169014078</c:v>
                </c:pt>
              </c:numCache>
            </c:numRef>
          </c:val>
          <c:extLst>
            <c:ext xmlns:c16="http://schemas.microsoft.com/office/drawing/2014/chart" uri="{C3380CC4-5D6E-409C-BE32-E72D297353CC}">
              <c16:uniqueId val="{00000001-0260-4726-87B5-942E33397AC2}"/>
            </c:ext>
          </c:extLst>
        </c:ser>
        <c:dLbls>
          <c:dLblPos val="outEnd"/>
          <c:showLegendKey val="0"/>
          <c:showVal val="1"/>
          <c:showCatName val="0"/>
          <c:showSerName val="0"/>
          <c:showPercent val="0"/>
          <c:showBubbleSize val="0"/>
        </c:dLbls>
        <c:gapWidth val="35"/>
        <c:overlap val="-27"/>
        <c:axId val="99726303"/>
        <c:axId val="99722943"/>
      </c:barChart>
      <c:catAx>
        <c:axId val="9972630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7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99722943"/>
        <c:crosses val="autoZero"/>
        <c:auto val="1"/>
        <c:lblAlgn val="ctr"/>
        <c:lblOffset val="100"/>
        <c:noMultiLvlLbl val="0"/>
      </c:catAx>
      <c:valAx>
        <c:axId val="99722943"/>
        <c:scaling>
          <c:orientation val="minMax"/>
        </c:scaling>
        <c:delete val="1"/>
        <c:axPos val="l"/>
        <c:numFmt formatCode="_(&quot;$&quot;* #,##0.00_);_(&quot;$&quot;* \(#,##0.00\);_(&quot;$&quot;* &quot;-&quot;??_);_(@_)" sourceLinked="1"/>
        <c:majorTickMark val="none"/>
        <c:minorTickMark val="none"/>
        <c:tickLblPos val="nextTo"/>
        <c:crossAx val="99726303"/>
        <c:crosses val="autoZero"/>
        <c:crossBetween val="between"/>
      </c:valAx>
      <c:spPr>
        <a:noFill/>
        <a:ln>
          <a:solidFill>
            <a:schemeClr val="tx1"/>
          </a:solidFill>
        </a:ln>
        <a:effectLst/>
      </c:spPr>
    </c:plotArea>
    <c:legend>
      <c:legendPos val="t"/>
      <c:legendEntry>
        <c:idx val="0"/>
        <c:txPr>
          <a:bodyPr rot="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25-Vincent.xlsx]Pivot_Table_Revenue!PivotTable6</c:name>
    <c:fmtId val="14"/>
  </c:pivotSource>
  <c:chart>
    <c:title>
      <c:tx>
        <c:rich>
          <a:bodyPr rot="0" spcFirstLastPara="1" vertOverflow="ellipsis" vert="horz" wrap="square" anchor="ctr" anchorCtr="1"/>
          <a:lstStyle/>
          <a:p>
            <a:pPr>
              <a:defRPr sz="1100" b="0" i="0" u="none" strike="noStrike" kern="1200" spc="0" baseline="0">
                <a:solidFill>
                  <a:schemeClr val="tx1">
                    <a:lumMod val="65000"/>
                    <a:lumOff val="35000"/>
                  </a:schemeClr>
                </a:solidFill>
                <a:latin typeface="+mn-lt"/>
                <a:ea typeface="+mn-ea"/>
                <a:cs typeface="+mn-cs"/>
              </a:defRPr>
            </a:pPr>
            <a:r>
              <a:rPr lang="en-US" sz="1100" b="1">
                <a:solidFill>
                  <a:srgbClr val="FFFF00"/>
                </a:solidFill>
              </a:rPr>
              <a:t>Peak Day</a:t>
            </a:r>
            <a:r>
              <a:rPr lang="en-US" sz="1100" b="1" baseline="0">
                <a:solidFill>
                  <a:srgbClr val="FFFF00"/>
                </a:solidFill>
              </a:rPr>
              <a:t> by Revenue ($)</a:t>
            </a:r>
            <a:endParaRPr lang="en-US" sz="1100" b="1">
              <a:solidFill>
                <a:srgbClr val="FFFF00"/>
              </a:solidFill>
            </a:endParaRPr>
          </a:p>
        </c:rich>
      </c:tx>
      <c:overlay val="0"/>
      <c:spPr>
        <a:noFill/>
        <a:ln>
          <a:noFill/>
        </a:ln>
        <a:effectLst/>
      </c:spPr>
      <c:txPr>
        <a:bodyPr rot="0" spcFirstLastPara="1" vertOverflow="ellipsis" vert="horz" wrap="square" anchor="ctr" anchorCtr="1"/>
        <a:lstStyle/>
        <a:p>
          <a:pPr>
            <a:defRPr sz="11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1"/>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2"/>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3"/>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4"/>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FFF00"/>
          </a:solidFill>
          <a:ln w="22225">
            <a:solidFill>
              <a:srgbClr val="A3220D"/>
            </a:solidFill>
          </a:ln>
          <a:effectLst/>
        </c:spPr>
        <c:dLbl>
          <c:idx val="0"/>
          <c:layout>
            <c:manualLayout>
              <c:x val="0"/>
              <c:y val="0.462102749876502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FFFF00"/>
          </a:solidFill>
          <a:ln w="22225">
            <a:solidFill>
              <a:srgbClr val="A3220D"/>
            </a:solidFill>
          </a:ln>
          <a:effectLst/>
        </c:spPr>
        <c:dLbl>
          <c:idx val="0"/>
          <c:layout>
            <c:manualLayout>
              <c:x val="-5.2309937749452115E-17"/>
              <c:y val="0.358732964616770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FFFF00"/>
          </a:solidFill>
          <a:ln w="22225">
            <a:solidFill>
              <a:srgbClr val="A3220D"/>
            </a:solidFill>
          </a:ln>
          <a:effectLst/>
        </c:spPr>
        <c:dLbl>
          <c:idx val="0"/>
          <c:layout>
            <c:manualLayout>
              <c:x val="0"/>
              <c:y val="0.1490798229385611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FFFF00"/>
          </a:solidFill>
          <a:ln w="22225">
            <a:solidFill>
              <a:srgbClr val="A3220D"/>
            </a:solidFill>
          </a:ln>
          <a:effectLst/>
        </c:spPr>
        <c:dLbl>
          <c:idx val="0"/>
          <c:layout>
            <c:manualLayout>
              <c:x val="0"/>
              <c:y val="0.3143014887496246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rgbClr val="FFFF00"/>
          </a:solidFill>
          <a:ln w="22225">
            <a:solidFill>
              <a:srgbClr val="A3220D"/>
            </a:solidFill>
          </a:ln>
          <a:effectLst/>
        </c:spPr>
        <c:dLbl>
          <c:idx val="0"/>
          <c:layout>
            <c:manualLayout>
              <c:x val="0"/>
              <c:y val="0.1733836363460252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rgbClr val="FFFF00"/>
          </a:solidFill>
          <a:ln w="22225">
            <a:solidFill>
              <a:srgbClr val="A3220D"/>
            </a:solidFill>
          </a:ln>
          <a:effectLst/>
        </c:spPr>
        <c:dLbl>
          <c:idx val="0"/>
          <c:layout>
            <c:manualLayout>
              <c:x val="0"/>
              <c:y val="0.1788654701136175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rgbClr val="FFFF00"/>
          </a:solidFill>
          <a:ln w="22225">
            <a:solidFill>
              <a:srgbClr val="A3220D"/>
            </a:solidFill>
          </a:ln>
          <a:effectLst/>
        </c:spPr>
        <c:dLbl>
          <c:idx val="0"/>
          <c:layout>
            <c:manualLayout>
              <c:x val="1.0461987549890423E-16"/>
              <c:y val="0.3170518495558934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3"/>
        <c:spPr>
          <a:solidFill>
            <a:srgbClr val="FFFF00"/>
          </a:solidFill>
          <a:ln w="22225">
            <a:solidFill>
              <a:srgbClr val="A3220D"/>
            </a:solidFill>
          </a:ln>
          <a:effectLst/>
        </c:spPr>
        <c:dLbl>
          <c:idx val="0"/>
          <c:layout>
            <c:manualLayout>
              <c:x val="0"/>
              <c:y val="0.3143014887496246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
        <c:spPr>
          <a:solidFill>
            <a:srgbClr val="FFFF00"/>
          </a:solidFill>
          <a:ln w="22225">
            <a:solidFill>
              <a:srgbClr val="A3220D"/>
            </a:solidFill>
          </a:ln>
          <a:effectLst/>
        </c:spPr>
        <c:dLbl>
          <c:idx val="0"/>
          <c:layout>
            <c:manualLayout>
              <c:x val="0"/>
              <c:y val="0.1490798229385611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5"/>
        <c:spPr>
          <a:solidFill>
            <a:srgbClr val="FFFF00"/>
          </a:solidFill>
          <a:ln w="22225">
            <a:solidFill>
              <a:srgbClr val="A3220D"/>
            </a:solidFill>
          </a:ln>
          <a:effectLst/>
        </c:spPr>
        <c:dLbl>
          <c:idx val="0"/>
          <c:layout>
            <c:manualLayout>
              <c:x val="-5.2309937749452115E-17"/>
              <c:y val="0.358732964616770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6"/>
        <c:spPr>
          <a:solidFill>
            <a:srgbClr val="FFFF00"/>
          </a:solidFill>
          <a:ln w="22225">
            <a:solidFill>
              <a:srgbClr val="A3220D"/>
            </a:solidFill>
          </a:ln>
          <a:effectLst/>
        </c:spPr>
        <c:dLbl>
          <c:idx val="0"/>
          <c:layout>
            <c:manualLayout>
              <c:x val="0"/>
              <c:y val="0.1733836363460252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rgbClr val="FFFF00"/>
          </a:solidFill>
          <a:ln w="22225">
            <a:solidFill>
              <a:srgbClr val="A3220D"/>
            </a:solidFill>
          </a:ln>
          <a:effectLst/>
        </c:spPr>
        <c:dLbl>
          <c:idx val="0"/>
          <c:layout>
            <c:manualLayout>
              <c:x val="0"/>
              <c:y val="0.462102749876502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8"/>
        <c:spPr>
          <a:solidFill>
            <a:srgbClr val="FFFF00"/>
          </a:solidFill>
          <a:ln w="22225">
            <a:solidFill>
              <a:srgbClr val="A3220D"/>
            </a:solidFill>
          </a:ln>
          <a:effectLst/>
        </c:spPr>
        <c:dLbl>
          <c:idx val="0"/>
          <c:layout>
            <c:manualLayout>
              <c:x val="0"/>
              <c:y val="0.1788654701136175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9"/>
        <c:spPr>
          <a:solidFill>
            <a:srgbClr val="FFFF00"/>
          </a:solidFill>
          <a:ln w="22225">
            <a:solidFill>
              <a:srgbClr val="A3220D"/>
            </a:solidFill>
          </a:ln>
          <a:effectLst/>
        </c:spPr>
        <c:dLbl>
          <c:idx val="0"/>
          <c:layout>
            <c:manualLayout>
              <c:x val="1.0461987549890423E-16"/>
              <c:y val="0.3170518495558934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0"/>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1"/>
        <c:spPr>
          <a:solidFill>
            <a:srgbClr val="FFFF00"/>
          </a:solidFill>
          <a:ln w="22225">
            <a:solidFill>
              <a:srgbClr val="A3220D"/>
            </a:solidFill>
          </a:ln>
          <a:effectLst/>
        </c:spPr>
        <c:dLbl>
          <c:idx val="0"/>
          <c:layout>
            <c:manualLayout>
              <c:x val="0"/>
              <c:y val="0.3143014887496246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2"/>
        <c:spPr>
          <a:solidFill>
            <a:srgbClr val="FFFF00"/>
          </a:solidFill>
          <a:ln w="22225">
            <a:solidFill>
              <a:srgbClr val="A3220D"/>
            </a:solidFill>
          </a:ln>
          <a:effectLst/>
        </c:spPr>
        <c:dLbl>
          <c:idx val="0"/>
          <c:layout>
            <c:manualLayout>
              <c:x val="0"/>
              <c:y val="0.1490798229385611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3"/>
        <c:spPr>
          <a:solidFill>
            <a:srgbClr val="FFFF00"/>
          </a:solidFill>
          <a:ln w="22225">
            <a:solidFill>
              <a:srgbClr val="A3220D"/>
            </a:solidFill>
          </a:ln>
          <a:effectLst/>
        </c:spPr>
        <c:dLbl>
          <c:idx val="0"/>
          <c:layout>
            <c:manualLayout>
              <c:x val="-5.2309937749452115E-17"/>
              <c:y val="0.358732964616770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4"/>
        <c:spPr>
          <a:solidFill>
            <a:srgbClr val="FFFF00"/>
          </a:solidFill>
          <a:ln w="22225">
            <a:solidFill>
              <a:srgbClr val="A3220D"/>
            </a:solidFill>
          </a:ln>
          <a:effectLst/>
        </c:spPr>
        <c:dLbl>
          <c:idx val="0"/>
          <c:layout>
            <c:manualLayout>
              <c:x val="0"/>
              <c:y val="0.1733836363460252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5"/>
        <c:spPr>
          <a:solidFill>
            <a:srgbClr val="FFFF00"/>
          </a:solidFill>
          <a:ln w="22225">
            <a:solidFill>
              <a:srgbClr val="A3220D"/>
            </a:solidFill>
          </a:ln>
          <a:effectLst/>
        </c:spPr>
        <c:dLbl>
          <c:idx val="0"/>
          <c:layout>
            <c:manualLayout>
              <c:x val="0"/>
              <c:y val="0.462102749876502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6"/>
        <c:spPr>
          <a:solidFill>
            <a:srgbClr val="FFFF00"/>
          </a:solidFill>
          <a:ln w="22225">
            <a:solidFill>
              <a:srgbClr val="A3220D"/>
            </a:solidFill>
          </a:ln>
          <a:effectLst/>
        </c:spPr>
        <c:dLbl>
          <c:idx val="0"/>
          <c:layout>
            <c:manualLayout>
              <c:x val="0"/>
              <c:y val="0.1788654701136175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7"/>
        <c:spPr>
          <a:solidFill>
            <a:srgbClr val="FFFF00"/>
          </a:solidFill>
          <a:ln w="22225">
            <a:solidFill>
              <a:srgbClr val="A3220D"/>
            </a:solidFill>
          </a:ln>
          <a:effectLst/>
        </c:spPr>
        <c:dLbl>
          <c:idx val="0"/>
          <c:layout>
            <c:manualLayout>
              <c:x val="1.0461987549890423E-16"/>
              <c:y val="0.3170518495558934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Pivot_Table_Revenue!$H$15</c:f>
              <c:strCache>
                <c:ptCount val="1"/>
                <c:pt idx="0">
                  <c:v>Total</c:v>
                </c:pt>
              </c:strCache>
            </c:strRef>
          </c:tx>
          <c:spPr>
            <a:solidFill>
              <a:srgbClr val="FFFF00"/>
            </a:solidFill>
            <a:ln w="22225">
              <a:solidFill>
                <a:srgbClr val="A3220D"/>
              </a:solidFill>
            </a:ln>
            <a:effectLst/>
          </c:spPr>
          <c:invertIfNegative val="0"/>
          <c:dPt>
            <c:idx val="0"/>
            <c:invertIfNegative val="0"/>
            <c:bubble3D val="0"/>
            <c:extLst>
              <c:ext xmlns:c16="http://schemas.microsoft.com/office/drawing/2014/chart" uri="{C3380CC4-5D6E-409C-BE32-E72D297353CC}">
                <c16:uniqueId val="{00000000-5518-4355-AD15-E95F5AA18E44}"/>
              </c:ext>
            </c:extLst>
          </c:dPt>
          <c:dPt>
            <c:idx val="1"/>
            <c:invertIfNegative val="0"/>
            <c:bubble3D val="0"/>
            <c:extLst>
              <c:ext xmlns:c16="http://schemas.microsoft.com/office/drawing/2014/chart" uri="{C3380CC4-5D6E-409C-BE32-E72D297353CC}">
                <c16:uniqueId val="{00000001-5518-4355-AD15-E95F5AA18E44}"/>
              </c:ext>
            </c:extLst>
          </c:dPt>
          <c:dPt>
            <c:idx val="2"/>
            <c:invertIfNegative val="0"/>
            <c:bubble3D val="0"/>
            <c:extLst>
              <c:ext xmlns:c16="http://schemas.microsoft.com/office/drawing/2014/chart" uri="{C3380CC4-5D6E-409C-BE32-E72D297353CC}">
                <c16:uniqueId val="{00000002-5518-4355-AD15-E95F5AA18E44}"/>
              </c:ext>
            </c:extLst>
          </c:dPt>
          <c:dPt>
            <c:idx val="3"/>
            <c:invertIfNegative val="0"/>
            <c:bubble3D val="0"/>
            <c:extLst>
              <c:ext xmlns:c16="http://schemas.microsoft.com/office/drawing/2014/chart" uri="{C3380CC4-5D6E-409C-BE32-E72D297353CC}">
                <c16:uniqueId val="{00000003-5518-4355-AD15-E95F5AA18E44}"/>
              </c:ext>
            </c:extLst>
          </c:dPt>
          <c:dPt>
            <c:idx val="4"/>
            <c:invertIfNegative val="0"/>
            <c:bubble3D val="0"/>
            <c:extLst>
              <c:ext xmlns:c16="http://schemas.microsoft.com/office/drawing/2014/chart" uri="{C3380CC4-5D6E-409C-BE32-E72D297353CC}">
                <c16:uniqueId val="{00000004-5518-4355-AD15-E95F5AA18E44}"/>
              </c:ext>
            </c:extLst>
          </c:dPt>
          <c:dPt>
            <c:idx val="5"/>
            <c:invertIfNegative val="0"/>
            <c:bubble3D val="0"/>
            <c:extLst>
              <c:ext xmlns:c16="http://schemas.microsoft.com/office/drawing/2014/chart" uri="{C3380CC4-5D6E-409C-BE32-E72D297353CC}">
                <c16:uniqueId val="{00000005-5518-4355-AD15-E95F5AA18E44}"/>
              </c:ext>
            </c:extLst>
          </c:dPt>
          <c:dPt>
            <c:idx val="6"/>
            <c:invertIfNegative val="0"/>
            <c:bubble3D val="0"/>
            <c:extLst>
              <c:ext xmlns:c16="http://schemas.microsoft.com/office/drawing/2014/chart" uri="{C3380CC4-5D6E-409C-BE32-E72D297353CC}">
                <c16:uniqueId val="{00000006-5518-4355-AD15-E95F5AA18E44}"/>
              </c:ext>
            </c:extLst>
          </c:dPt>
          <c:dLbls>
            <c:dLbl>
              <c:idx val="0"/>
              <c:layout>
                <c:manualLayout>
                  <c:x val="0"/>
                  <c:y val="0.31430148874962466"/>
                </c:manualLayout>
              </c:layout>
              <c:spPr>
                <a:solidFill>
                  <a:sysClr val="window" lastClr="FFFFFF"/>
                </a:solidFill>
                <a:ln>
                  <a:noFill/>
                </a:ln>
                <a:effectLst/>
              </c:spPr>
              <c:txPr>
                <a:bodyPr rot="0" spcFirstLastPara="1" vertOverflow="ellipsis" vert="horz" wrap="square" lIns="38100" tIns="19050" rIns="38100" bIns="19050" anchor="ctr" anchorCtr="0">
                  <a:spAutoFit/>
                </a:bodyPr>
                <a:lstStyle/>
                <a:p>
                  <a:pPr algn="ctr" rtl="0">
                    <a:defRPr lang="en-US" sz="800" b="0" i="0" u="none" strike="noStrike" kern="1200" baseline="0">
                      <a:solidFill>
                        <a:srgbClr val="212121">
                          <a:lumMod val="75000"/>
                        </a:srgb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518-4355-AD15-E95F5AA18E44}"/>
                </c:ext>
              </c:extLst>
            </c:dLbl>
            <c:dLbl>
              <c:idx val="1"/>
              <c:layout>
                <c:manualLayout>
                  <c:x val="0"/>
                  <c:y val="0.1490798229385611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518-4355-AD15-E95F5AA18E44}"/>
                </c:ext>
              </c:extLst>
            </c:dLbl>
            <c:dLbl>
              <c:idx val="2"/>
              <c:layout>
                <c:manualLayout>
                  <c:x val="-5.2309937749452115E-17"/>
                  <c:y val="0.3587329646167704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518-4355-AD15-E95F5AA18E44}"/>
                </c:ext>
              </c:extLst>
            </c:dLbl>
            <c:dLbl>
              <c:idx val="3"/>
              <c:layout>
                <c:manualLayout>
                  <c:x val="0"/>
                  <c:y val="0.1733836363460252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518-4355-AD15-E95F5AA18E44}"/>
                </c:ext>
              </c:extLst>
            </c:dLbl>
            <c:dLbl>
              <c:idx val="4"/>
              <c:layout>
                <c:manualLayout>
                  <c:x val="-6.2815406541026212E-17"/>
                  <c:y val="0.4128974922753557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518-4355-AD15-E95F5AA18E44}"/>
                </c:ext>
              </c:extLst>
            </c:dLbl>
            <c:dLbl>
              <c:idx val="5"/>
              <c:layout>
                <c:manualLayout>
                  <c:x val="0"/>
                  <c:y val="0.17886547011361759"/>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518-4355-AD15-E95F5AA18E44}"/>
                </c:ext>
              </c:extLst>
            </c:dLbl>
            <c:dLbl>
              <c:idx val="6"/>
              <c:layout>
                <c:manualLayout>
                  <c:x val="1.0461987549890423E-16"/>
                  <c:y val="0.31705184955589349"/>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518-4355-AD15-E95F5AA18E44}"/>
                </c:ext>
              </c:extLst>
            </c:dLbl>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80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Pivot_Table_Revenue!$G$16:$G$22</c:f>
              <c:strCache>
                <c:ptCount val="7"/>
                <c:pt idx="0">
                  <c:v>Monday</c:v>
                </c:pt>
                <c:pt idx="1">
                  <c:v>Tuesday</c:v>
                </c:pt>
                <c:pt idx="2">
                  <c:v>Wednesday</c:v>
                </c:pt>
                <c:pt idx="3">
                  <c:v>Thursday</c:v>
                </c:pt>
                <c:pt idx="4">
                  <c:v>Friday</c:v>
                </c:pt>
                <c:pt idx="5">
                  <c:v>Saturday</c:v>
                </c:pt>
                <c:pt idx="6">
                  <c:v>Sunday</c:v>
                </c:pt>
              </c:strCache>
            </c:strRef>
          </c:cat>
          <c:val>
            <c:numRef>
              <c:f>Pivot_Table_Revenue!$H$16:$H$22</c:f>
              <c:numCache>
                <c:formatCode>_("$"* #,##0.00_);_("$"* \(#,##0.00\);_("$"* "-"??_);_(@_)</c:formatCode>
                <c:ptCount val="7"/>
                <c:pt idx="0">
                  <c:v>107329.54999999996</c:v>
                </c:pt>
                <c:pt idx="1">
                  <c:v>114133.79999999994</c:v>
                </c:pt>
                <c:pt idx="2">
                  <c:v>114408.39999999994</c:v>
                </c:pt>
                <c:pt idx="3">
                  <c:v>123528.49999999996</c:v>
                </c:pt>
                <c:pt idx="4">
                  <c:v>136073.89999999997</c:v>
                </c:pt>
                <c:pt idx="5">
                  <c:v>123182.39999999997</c:v>
                </c:pt>
                <c:pt idx="6">
                  <c:v>99203.499999999971</c:v>
                </c:pt>
              </c:numCache>
            </c:numRef>
          </c:val>
          <c:extLst>
            <c:ext xmlns:c16="http://schemas.microsoft.com/office/drawing/2014/chart" uri="{C3380CC4-5D6E-409C-BE32-E72D297353CC}">
              <c16:uniqueId val="{00000007-5518-4355-AD15-E95F5AA18E44}"/>
            </c:ext>
          </c:extLst>
        </c:ser>
        <c:dLbls>
          <c:dLblPos val="outEnd"/>
          <c:showLegendKey val="0"/>
          <c:showVal val="1"/>
          <c:showCatName val="0"/>
          <c:showSerName val="0"/>
          <c:showPercent val="0"/>
          <c:showBubbleSize val="0"/>
        </c:dLbls>
        <c:gapWidth val="50"/>
        <c:overlap val="-27"/>
        <c:axId val="99726303"/>
        <c:axId val="99722943"/>
      </c:barChart>
      <c:catAx>
        <c:axId val="9972630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7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99722943"/>
        <c:crosses val="autoZero"/>
        <c:auto val="1"/>
        <c:lblAlgn val="ctr"/>
        <c:lblOffset val="100"/>
        <c:noMultiLvlLbl val="0"/>
      </c:catAx>
      <c:valAx>
        <c:axId val="99722943"/>
        <c:scaling>
          <c:orientation val="minMax"/>
        </c:scaling>
        <c:delete val="1"/>
        <c:axPos val="l"/>
        <c:numFmt formatCode="_(&quot;$&quot;* #,##0.00_);_(&quot;$&quot;* \(#,##0.00\);_(&quot;$&quot;* &quot;-&quot;??_);_(@_)" sourceLinked="1"/>
        <c:majorTickMark val="none"/>
        <c:minorTickMark val="none"/>
        <c:tickLblPos val="nextTo"/>
        <c:crossAx val="9972630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25-Vincent.xlsx]Pivot_Table_Orders!PivotTable6</c:name>
    <c:fmtId val="2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solidFill>
                  <a:srgbClr val="FFFF00"/>
                </a:solidFill>
              </a:rPr>
              <a:t>Peak Day</a:t>
            </a:r>
            <a:r>
              <a:rPr lang="en-US" b="1" baseline="0">
                <a:solidFill>
                  <a:srgbClr val="FFFF00"/>
                </a:solidFill>
              </a:rPr>
              <a:t> by Orders</a:t>
            </a:r>
            <a:endParaRPr lang="en-US" b="1">
              <a:solidFill>
                <a:srgbClr val="FFFF00"/>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1"/>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2"/>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3"/>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4"/>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FFF00"/>
          </a:solidFill>
          <a:ln w="22225">
            <a:solidFill>
              <a:srgbClr val="A3220D"/>
            </a:solidFill>
          </a:ln>
          <a:effectLst/>
        </c:spPr>
        <c:dLbl>
          <c:idx val="0"/>
          <c:layout>
            <c:manualLayout>
              <c:x val="0"/>
              <c:y val="0.462102749876502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FFFF00"/>
          </a:solidFill>
          <a:ln w="22225">
            <a:solidFill>
              <a:srgbClr val="A3220D"/>
            </a:solidFill>
          </a:ln>
          <a:effectLst/>
        </c:spPr>
        <c:dLbl>
          <c:idx val="0"/>
          <c:layout>
            <c:manualLayout>
              <c:x val="-5.2309937749452115E-17"/>
              <c:y val="0.358732964616770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FFFF00"/>
          </a:solidFill>
          <a:ln w="22225">
            <a:solidFill>
              <a:srgbClr val="A3220D"/>
            </a:solidFill>
          </a:ln>
          <a:effectLst/>
        </c:spPr>
        <c:dLbl>
          <c:idx val="0"/>
          <c:layout>
            <c:manualLayout>
              <c:x val="0"/>
              <c:y val="0.1490798229385611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FFFF00"/>
          </a:solidFill>
          <a:ln w="22225">
            <a:solidFill>
              <a:srgbClr val="A3220D"/>
            </a:solidFill>
          </a:ln>
          <a:effectLst/>
        </c:spPr>
        <c:dLbl>
          <c:idx val="0"/>
          <c:layout>
            <c:manualLayout>
              <c:x val="0"/>
              <c:y val="0.3143014887496246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rgbClr val="FFFF00"/>
          </a:solidFill>
          <a:ln w="22225">
            <a:solidFill>
              <a:srgbClr val="A3220D"/>
            </a:solidFill>
          </a:ln>
          <a:effectLst/>
        </c:spPr>
        <c:dLbl>
          <c:idx val="0"/>
          <c:layout>
            <c:manualLayout>
              <c:x val="0"/>
              <c:y val="0.1733836363460252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rgbClr val="FFFF00"/>
          </a:solidFill>
          <a:ln w="22225">
            <a:solidFill>
              <a:srgbClr val="A3220D"/>
            </a:solidFill>
          </a:ln>
          <a:effectLst/>
        </c:spPr>
        <c:dLbl>
          <c:idx val="0"/>
          <c:layout>
            <c:manualLayout>
              <c:x val="0"/>
              <c:y val="0.1788654701136175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rgbClr val="FFFF00"/>
          </a:solidFill>
          <a:ln w="22225">
            <a:solidFill>
              <a:srgbClr val="A3220D"/>
            </a:solidFill>
          </a:ln>
          <a:effectLst/>
        </c:spPr>
        <c:dLbl>
          <c:idx val="0"/>
          <c:layout>
            <c:manualLayout>
              <c:x val="1.0461987549890423E-16"/>
              <c:y val="0.3170518495558934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3"/>
        <c:spPr>
          <a:solidFill>
            <a:srgbClr val="FFFF00"/>
          </a:solidFill>
          <a:ln w="22225">
            <a:solidFill>
              <a:srgbClr val="A3220D"/>
            </a:solidFill>
          </a:ln>
          <a:effectLst/>
        </c:spPr>
        <c:dLbl>
          <c:idx val="0"/>
          <c:layout>
            <c:manualLayout>
              <c:x val="0"/>
              <c:y val="0.3143014887496246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
        <c:spPr>
          <a:solidFill>
            <a:srgbClr val="FFFF00"/>
          </a:solidFill>
          <a:ln w="22225">
            <a:solidFill>
              <a:srgbClr val="A3220D"/>
            </a:solidFill>
          </a:ln>
          <a:effectLst/>
        </c:spPr>
        <c:dLbl>
          <c:idx val="0"/>
          <c:layout>
            <c:manualLayout>
              <c:x val="0"/>
              <c:y val="0.1490798229385611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5"/>
        <c:spPr>
          <a:solidFill>
            <a:srgbClr val="FFFF00"/>
          </a:solidFill>
          <a:ln w="22225">
            <a:solidFill>
              <a:srgbClr val="A3220D"/>
            </a:solidFill>
          </a:ln>
          <a:effectLst/>
        </c:spPr>
        <c:dLbl>
          <c:idx val="0"/>
          <c:layout>
            <c:manualLayout>
              <c:x val="-5.2309937749452115E-17"/>
              <c:y val="0.358732964616770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6"/>
        <c:spPr>
          <a:solidFill>
            <a:srgbClr val="FFFF00"/>
          </a:solidFill>
          <a:ln w="22225">
            <a:solidFill>
              <a:srgbClr val="A3220D"/>
            </a:solidFill>
          </a:ln>
          <a:effectLst/>
        </c:spPr>
        <c:dLbl>
          <c:idx val="0"/>
          <c:layout>
            <c:manualLayout>
              <c:x val="0"/>
              <c:y val="0.1733836363460252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rgbClr val="FFFF00"/>
          </a:solidFill>
          <a:ln w="22225">
            <a:solidFill>
              <a:srgbClr val="A3220D"/>
            </a:solidFill>
          </a:ln>
          <a:effectLst/>
        </c:spPr>
        <c:dLbl>
          <c:idx val="0"/>
          <c:layout>
            <c:manualLayout>
              <c:x val="0"/>
              <c:y val="0.462102749876502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8"/>
        <c:spPr>
          <a:solidFill>
            <a:srgbClr val="FFFF00"/>
          </a:solidFill>
          <a:ln w="22225">
            <a:solidFill>
              <a:srgbClr val="A3220D"/>
            </a:solidFill>
          </a:ln>
          <a:effectLst/>
        </c:spPr>
        <c:dLbl>
          <c:idx val="0"/>
          <c:layout>
            <c:manualLayout>
              <c:x val="0"/>
              <c:y val="0.1788654701136175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9"/>
        <c:spPr>
          <a:solidFill>
            <a:srgbClr val="FFFF00"/>
          </a:solidFill>
          <a:ln w="22225">
            <a:solidFill>
              <a:srgbClr val="A3220D"/>
            </a:solidFill>
          </a:ln>
          <a:effectLst/>
        </c:spPr>
        <c:dLbl>
          <c:idx val="0"/>
          <c:layout>
            <c:manualLayout>
              <c:x val="1.0461987549890423E-16"/>
              <c:y val="0.3170518495558934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0"/>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1"/>
        <c:spPr>
          <a:solidFill>
            <a:srgbClr val="FFFF00"/>
          </a:solidFill>
          <a:ln w="22225">
            <a:solidFill>
              <a:srgbClr val="A3220D"/>
            </a:solidFill>
          </a:ln>
          <a:effectLst/>
        </c:spPr>
        <c:dLbl>
          <c:idx val="0"/>
          <c:layout>
            <c:manualLayout>
              <c:x val="0"/>
              <c:y val="0.3143014887496246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2"/>
        <c:spPr>
          <a:solidFill>
            <a:srgbClr val="FFFF00"/>
          </a:solidFill>
          <a:ln w="22225">
            <a:solidFill>
              <a:srgbClr val="A3220D"/>
            </a:solidFill>
          </a:ln>
          <a:effectLst/>
        </c:spPr>
        <c:dLbl>
          <c:idx val="0"/>
          <c:layout>
            <c:manualLayout>
              <c:x val="0"/>
              <c:y val="0.1490798229385611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3"/>
        <c:spPr>
          <a:solidFill>
            <a:srgbClr val="FFFF00"/>
          </a:solidFill>
          <a:ln w="22225">
            <a:solidFill>
              <a:srgbClr val="A3220D"/>
            </a:solidFill>
          </a:ln>
          <a:effectLst/>
        </c:spPr>
        <c:dLbl>
          <c:idx val="0"/>
          <c:layout>
            <c:manualLayout>
              <c:x val="-5.2309937749452115E-17"/>
              <c:y val="0.358732964616770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4"/>
        <c:spPr>
          <a:solidFill>
            <a:srgbClr val="FFFF00"/>
          </a:solidFill>
          <a:ln w="22225">
            <a:solidFill>
              <a:srgbClr val="A3220D"/>
            </a:solidFill>
          </a:ln>
          <a:effectLst/>
        </c:spPr>
        <c:dLbl>
          <c:idx val="0"/>
          <c:layout>
            <c:manualLayout>
              <c:x val="0"/>
              <c:y val="0.1733836363460252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5"/>
        <c:spPr>
          <a:solidFill>
            <a:srgbClr val="FFFF00"/>
          </a:solidFill>
          <a:ln w="22225">
            <a:solidFill>
              <a:srgbClr val="A3220D"/>
            </a:solidFill>
          </a:ln>
          <a:effectLst/>
        </c:spPr>
        <c:dLbl>
          <c:idx val="0"/>
          <c:layout>
            <c:manualLayout>
              <c:x val="0"/>
              <c:y val="0.462102749876502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6"/>
        <c:spPr>
          <a:solidFill>
            <a:srgbClr val="FFFF00"/>
          </a:solidFill>
          <a:ln w="22225">
            <a:solidFill>
              <a:srgbClr val="A3220D"/>
            </a:solidFill>
          </a:ln>
          <a:effectLst/>
        </c:spPr>
        <c:dLbl>
          <c:idx val="0"/>
          <c:layout>
            <c:manualLayout>
              <c:x val="0"/>
              <c:y val="0.1788654701136175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7"/>
        <c:spPr>
          <a:solidFill>
            <a:srgbClr val="FFFF00"/>
          </a:solidFill>
          <a:ln w="22225">
            <a:solidFill>
              <a:srgbClr val="A3220D"/>
            </a:solidFill>
          </a:ln>
          <a:effectLst/>
        </c:spPr>
        <c:dLbl>
          <c:idx val="0"/>
          <c:layout>
            <c:manualLayout>
              <c:x val="1.0461987549890423E-16"/>
              <c:y val="0.3170518495558934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8"/>
        <c:spPr>
          <a:solidFill>
            <a:srgbClr val="FFFF00"/>
          </a:solidFill>
          <a:ln w="22225">
            <a:solidFill>
              <a:srgbClr val="A3220D"/>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9"/>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0"/>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1"/>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Pivot_Table_Orders!$H$15</c:f>
              <c:strCache>
                <c:ptCount val="1"/>
                <c:pt idx="0">
                  <c:v>Total</c:v>
                </c:pt>
              </c:strCache>
            </c:strRef>
          </c:tx>
          <c:spPr>
            <a:solidFill>
              <a:srgbClr val="FFFF00"/>
            </a:solidFill>
            <a:ln w="22225">
              <a:solidFill>
                <a:srgbClr val="C00000"/>
              </a:solidFill>
            </a:ln>
            <a:effectLst/>
          </c:spPr>
          <c:invertIfNegative val="0"/>
          <c:dLbls>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Pivot_Table_Orders!$G$16:$G$22</c:f>
              <c:strCache>
                <c:ptCount val="7"/>
                <c:pt idx="0">
                  <c:v>Monday</c:v>
                </c:pt>
                <c:pt idx="1">
                  <c:v>Tuesday</c:v>
                </c:pt>
                <c:pt idx="2">
                  <c:v>Wednesday</c:v>
                </c:pt>
                <c:pt idx="3">
                  <c:v>Thursday</c:v>
                </c:pt>
                <c:pt idx="4">
                  <c:v>Friday</c:v>
                </c:pt>
                <c:pt idx="5">
                  <c:v>Saturday</c:v>
                </c:pt>
                <c:pt idx="6">
                  <c:v>Sunday</c:v>
                </c:pt>
              </c:strCache>
            </c:strRef>
          </c:cat>
          <c:val>
            <c:numRef>
              <c:f>Pivot_Table_Orders!$H$16:$H$22</c:f>
              <c:numCache>
                <c:formatCode>_(* #,##0_);_(* \(#,##0\);_(* "-"??_);_(@_)</c:formatCode>
                <c:ptCount val="7"/>
                <c:pt idx="0">
                  <c:v>2794</c:v>
                </c:pt>
                <c:pt idx="1">
                  <c:v>2973</c:v>
                </c:pt>
                <c:pt idx="2">
                  <c:v>3024</c:v>
                </c:pt>
                <c:pt idx="3">
                  <c:v>3239</c:v>
                </c:pt>
                <c:pt idx="4">
                  <c:v>3538</c:v>
                </c:pt>
                <c:pt idx="5">
                  <c:v>3158</c:v>
                </c:pt>
                <c:pt idx="6">
                  <c:v>2624</c:v>
                </c:pt>
              </c:numCache>
            </c:numRef>
          </c:val>
          <c:extLst>
            <c:ext xmlns:c16="http://schemas.microsoft.com/office/drawing/2014/chart" uri="{C3380CC4-5D6E-409C-BE32-E72D297353CC}">
              <c16:uniqueId val="{00000000-1CC4-4DF5-88B5-5355DE528B8C}"/>
            </c:ext>
          </c:extLst>
        </c:ser>
        <c:dLbls>
          <c:dLblPos val="outEnd"/>
          <c:showLegendKey val="0"/>
          <c:showVal val="1"/>
          <c:showCatName val="0"/>
          <c:showSerName val="0"/>
          <c:showPercent val="0"/>
          <c:showBubbleSize val="0"/>
        </c:dLbls>
        <c:gapWidth val="50"/>
        <c:overlap val="-27"/>
        <c:axId val="99726303"/>
        <c:axId val="99722943"/>
      </c:barChart>
      <c:catAx>
        <c:axId val="9972630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7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99722943"/>
        <c:crosses val="autoZero"/>
        <c:auto val="1"/>
        <c:lblAlgn val="ctr"/>
        <c:lblOffset val="100"/>
        <c:noMultiLvlLbl val="0"/>
      </c:catAx>
      <c:valAx>
        <c:axId val="99722943"/>
        <c:scaling>
          <c:orientation val="minMax"/>
        </c:scaling>
        <c:delete val="1"/>
        <c:axPos val="l"/>
        <c:numFmt formatCode="_(* #,##0_);_(* \(#,##0\);_(* &quot;-&quot;??_);_(@_)" sourceLinked="1"/>
        <c:majorTickMark val="none"/>
        <c:minorTickMark val="none"/>
        <c:tickLblPos val="nextTo"/>
        <c:crossAx val="9972630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25-Vincent.xlsx]Pivot_Table_Quantities!PivotTable6</c:name>
    <c:fmtId val="3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solidFill>
                  <a:srgbClr val="FFFF00"/>
                </a:solidFill>
              </a:rPr>
              <a:t>Peak Day</a:t>
            </a:r>
            <a:r>
              <a:rPr lang="en-US" b="1" baseline="0">
                <a:solidFill>
                  <a:srgbClr val="FFFF00"/>
                </a:solidFill>
              </a:rPr>
              <a:t> by Quantities</a:t>
            </a:r>
            <a:endParaRPr lang="en-US" b="1">
              <a:solidFill>
                <a:srgbClr val="FFFF00"/>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1"/>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2"/>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3"/>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4"/>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FFF00"/>
          </a:solidFill>
          <a:ln w="22225">
            <a:solidFill>
              <a:srgbClr val="A3220D"/>
            </a:solidFill>
          </a:ln>
          <a:effectLst/>
        </c:spPr>
        <c:dLbl>
          <c:idx val="0"/>
          <c:layout>
            <c:manualLayout>
              <c:x val="0"/>
              <c:y val="0.462102749876502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FFFF00"/>
          </a:solidFill>
          <a:ln w="22225">
            <a:solidFill>
              <a:srgbClr val="A3220D"/>
            </a:solidFill>
          </a:ln>
          <a:effectLst/>
        </c:spPr>
        <c:dLbl>
          <c:idx val="0"/>
          <c:layout>
            <c:manualLayout>
              <c:x val="-5.2309937749452115E-17"/>
              <c:y val="0.358732964616770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FFFF00"/>
          </a:solidFill>
          <a:ln w="22225">
            <a:solidFill>
              <a:srgbClr val="A3220D"/>
            </a:solidFill>
          </a:ln>
          <a:effectLst/>
        </c:spPr>
        <c:dLbl>
          <c:idx val="0"/>
          <c:layout>
            <c:manualLayout>
              <c:x val="0"/>
              <c:y val="0.1490798229385611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FFFF00"/>
          </a:solidFill>
          <a:ln w="22225">
            <a:solidFill>
              <a:srgbClr val="A3220D"/>
            </a:solidFill>
          </a:ln>
          <a:effectLst/>
        </c:spPr>
        <c:dLbl>
          <c:idx val="0"/>
          <c:layout>
            <c:manualLayout>
              <c:x val="0"/>
              <c:y val="0.3143014887496246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rgbClr val="FFFF00"/>
          </a:solidFill>
          <a:ln w="22225">
            <a:solidFill>
              <a:srgbClr val="A3220D"/>
            </a:solidFill>
          </a:ln>
          <a:effectLst/>
        </c:spPr>
        <c:dLbl>
          <c:idx val="0"/>
          <c:layout>
            <c:manualLayout>
              <c:x val="0"/>
              <c:y val="0.1733836363460252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rgbClr val="FFFF00"/>
          </a:solidFill>
          <a:ln w="22225">
            <a:solidFill>
              <a:srgbClr val="A3220D"/>
            </a:solidFill>
          </a:ln>
          <a:effectLst/>
        </c:spPr>
        <c:dLbl>
          <c:idx val="0"/>
          <c:layout>
            <c:manualLayout>
              <c:x val="0"/>
              <c:y val="0.1788654701136175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rgbClr val="FFFF00"/>
          </a:solidFill>
          <a:ln w="22225">
            <a:solidFill>
              <a:srgbClr val="A3220D"/>
            </a:solidFill>
          </a:ln>
          <a:effectLst/>
        </c:spPr>
        <c:dLbl>
          <c:idx val="0"/>
          <c:layout>
            <c:manualLayout>
              <c:x val="1.0461987549890423E-16"/>
              <c:y val="0.3170518495558934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3"/>
        <c:spPr>
          <a:solidFill>
            <a:srgbClr val="FFFF00"/>
          </a:solidFill>
          <a:ln w="22225">
            <a:solidFill>
              <a:srgbClr val="A3220D"/>
            </a:solidFill>
          </a:ln>
          <a:effectLst/>
        </c:spPr>
        <c:dLbl>
          <c:idx val="0"/>
          <c:layout>
            <c:manualLayout>
              <c:x val="0"/>
              <c:y val="0.3143014887496246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
        <c:spPr>
          <a:solidFill>
            <a:srgbClr val="FFFF00"/>
          </a:solidFill>
          <a:ln w="22225">
            <a:solidFill>
              <a:srgbClr val="A3220D"/>
            </a:solidFill>
          </a:ln>
          <a:effectLst/>
        </c:spPr>
        <c:dLbl>
          <c:idx val="0"/>
          <c:layout>
            <c:manualLayout>
              <c:x val="0"/>
              <c:y val="0.1490798229385611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5"/>
        <c:spPr>
          <a:solidFill>
            <a:srgbClr val="FFFF00"/>
          </a:solidFill>
          <a:ln w="22225">
            <a:solidFill>
              <a:srgbClr val="A3220D"/>
            </a:solidFill>
          </a:ln>
          <a:effectLst/>
        </c:spPr>
        <c:dLbl>
          <c:idx val="0"/>
          <c:layout>
            <c:manualLayout>
              <c:x val="-5.2309937749452115E-17"/>
              <c:y val="0.358732964616770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6"/>
        <c:spPr>
          <a:solidFill>
            <a:srgbClr val="FFFF00"/>
          </a:solidFill>
          <a:ln w="22225">
            <a:solidFill>
              <a:srgbClr val="A3220D"/>
            </a:solidFill>
          </a:ln>
          <a:effectLst/>
        </c:spPr>
        <c:dLbl>
          <c:idx val="0"/>
          <c:layout>
            <c:manualLayout>
              <c:x val="0"/>
              <c:y val="0.1733836363460252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rgbClr val="FFFF00"/>
          </a:solidFill>
          <a:ln w="22225">
            <a:solidFill>
              <a:srgbClr val="A3220D"/>
            </a:solidFill>
          </a:ln>
          <a:effectLst/>
        </c:spPr>
        <c:dLbl>
          <c:idx val="0"/>
          <c:layout>
            <c:manualLayout>
              <c:x val="0"/>
              <c:y val="0.462102749876502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8"/>
        <c:spPr>
          <a:solidFill>
            <a:srgbClr val="FFFF00"/>
          </a:solidFill>
          <a:ln w="22225">
            <a:solidFill>
              <a:srgbClr val="A3220D"/>
            </a:solidFill>
          </a:ln>
          <a:effectLst/>
        </c:spPr>
        <c:dLbl>
          <c:idx val="0"/>
          <c:layout>
            <c:manualLayout>
              <c:x val="0"/>
              <c:y val="0.1788654701136175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9"/>
        <c:spPr>
          <a:solidFill>
            <a:srgbClr val="FFFF00"/>
          </a:solidFill>
          <a:ln w="22225">
            <a:solidFill>
              <a:srgbClr val="A3220D"/>
            </a:solidFill>
          </a:ln>
          <a:effectLst/>
        </c:spPr>
        <c:dLbl>
          <c:idx val="0"/>
          <c:layout>
            <c:manualLayout>
              <c:x val="1.0461987549890423E-16"/>
              <c:y val="0.3170518495558934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0"/>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1"/>
        <c:spPr>
          <a:solidFill>
            <a:srgbClr val="FFFF00"/>
          </a:solidFill>
          <a:ln w="22225">
            <a:solidFill>
              <a:srgbClr val="A3220D"/>
            </a:solidFill>
          </a:ln>
          <a:effectLst/>
        </c:spPr>
        <c:dLbl>
          <c:idx val="0"/>
          <c:layout>
            <c:manualLayout>
              <c:x val="0"/>
              <c:y val="0.3143014887496246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2"/>
        <c:spPr>
          <a:solidFill>
            <a:srgbClr val="FFFF00"/>
          </a:solidFill>
          <a:ln w="22225">
            <a:solidFill>
              <a:srgbClr val="A3220D"/>
            </a:solidFill>
          </a:ln>
          <a:effectLst/>
        </c:spPr>
        <c:dLbl>
          <c:idx val="0"/>
          <c:layout>
            <c:manualLayout>
              <c:x val="0"/>
              <c:y val="0.1490798229385611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3"/>
        <c:spPr>
          <a:solidFill>
            <a:srgbClr val="FFFF00"/>
          </a:solidFill>
          <a:ln w="22225">
            <a:solidFill>
              <a:srgbClr val="A3220D"/>
            </a:solidFill>
          </a:ln>
          <a:effectLst/>
        </c:spPr>
        <c:dLbl>
          <c:idx val="0"/>
          <c:layout>
            <c:manualLayout>
              <c:x val="-5.2309937749452115E-17"/>
              <c:y val="0.358732964616770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4"/>
        <c:spPr>
          <a:solidFill>
            <a:srgbClr val="FFFF00"/>
          </a:solidFill>
          <a:ln w="22225">
            <a:solidFill>
              <a:srgbClr val="A3220D"/>
            </a:solidFill>
          </a:ln>
          <a:effectLst/>
        </c:spPr>
        <c:dLbl>
          <c:idx val="0"/>
          <c:layout>
            <c:manualLayout>
              <c:x val="0"/>
              <c:y val="0.17338363634602522"/>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5"/>
        <c:spPr>
          <a:solidFill>
            <a:srgbClr val="FFFF00"/>
          </a:solidFill>
          <a:ln w="22225">
            <a:solidFill>
              <a:srgbClr val="A3220D"/>
            </a:solidFill>
          </a:ln>
          <a:effectLst/>
        </c:spPr>
        <c:dLbl>
          <c:idx val="0"/>
          <c:layout>
            <c:manualLayout>
              <c:x val="0"/>
              <c:y val="0.46210274987650246"/>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6"/>
        <c:spPr>
          <a:solidFill>
            <a:srgbClr val="FFFF00"/>
          </a:solidFill>
          <a:ln w="22225">
            <a:solidFill>
              <a:srgbClr val="A3220D"/>
            </a:solidFill>
          </a:ln>
          <a:effectLst/>
        </c:spPr>
        <c:dLbl>
          <c:idx val="0"/>
          <c:layout>
            <c:manualLayout>
              <c:x val="0"/>
              <c:y val="0.1788654701136175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7"/>
        <c:spPr>
          <a:solidFill>
            <a:srgbClr val="FFFF00"/>
          </a:solidFill>
          <a:ln w="22225">
            <a:solidFill>
              <a:srgbClr val="A3220D"/>
            </a:solidFill>
          </a:ln>
          <a:effectLst/>
        </c:spPr>
        <c:dLbl>
          <c:idx val="0"/>
          <c:layout>
            <c:manualLayout>
              <c:x val="1.0461987549890423E-16"/>
              <c:y val="0.31705184955589349"/>
            </c:manualLayout>
          </c:layout>
          <c:spPr>
            <a:solidFill>
              <a:sysClr val="window" lastClr="FFFFFF"/>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chemeClr val="accent2">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8"/>
        <c:spPr>
          <a:solidFill>
            <a:srgbClr val="FFFF00"/>
          </a:solidFill>
          <a:ln w="22225">
            <a:solidFill>
              <a:srgbClr val="A3220D"/>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9"/>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0"/>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1"/>
        <c:spPr>
          <a:solidFill>
            <a:srgbClr val="FFFF00"/>
          </a:solidFill>
          <a:ln w="22225">
            <a:solidFill>
              <a:srgbClr val="C00000"/>
            </a:solidFill>
          </a:ln>
          <a:effectLst/>
        </c:spPr>
      </c:pivotFmt>
      <c:pivotFmt>
        <c:idx val="32"/>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3"/>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Pivot_Table_Quantities!$H$15</c:f>
              <c:strCache>
                <c:ptCount val="1"/>
                <c:pt idx="0">
                  <c:v>Total</c:v>
                </c:pt>
              </c:strCache>
            </c:strRef>
          </c:tx>
          <c:spPr>
            <a:solidFill>
              <a:srgbClr val="FFFF00"/>
            </a:solidFill>
            <a:ln w="22225">
              <a:solidFill>
                <a:srgbClr val="C00000"/>
              </a:solidFill>
            </a:ln>
            <a:effectLst/>
          </c:spPr>
          <c:invertIfNegative val="0"/>
          <c:dLbls>
            <c:spPr>
              <a:solidFill>
                <a:srgbClr val="C00000"/>
              </a:solid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FFFF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Pivot_Table_Quantities!$G$16:$G$22</c:f>
              <c:strCache>
                <c:ptCount val="7"/>
                <c:pt idx="0">
                  <c:v>Monday</c:v>
                </c:pt>
                <c:pt idx="1">
                  <c:v>Tuesday</c:v>
                </c:pt>
                <c:pt idx="2">
                  <c:v>Wednesday</c:v>
                </c:pt>
                <c:pt idx="3">
                  <c:v>Thursday</c:v>
                </c:pt>
                <c:pt idx="4">
                  <c:v>Friday</c:v>
                </c:pt>
                <c:pt idx="5">
                  <c:v>Saturday</c:v>
                </c:pt>
                <c:pt idx="6">
                  <c:v>Sunday</c:v>
                </c:pt>
              </c:strCache>
            </c:strRef>
          </c:cat>
          <c:val>
            <c:numRef>
              <c:f>Pivot_Table_Quantities!$H$16:$H$22</c:f>
              <c:numCache>
                <c:formatCode>_(* #,##0_);_(* \(#,##0\);_(* "-"??_);_(@_)</c:formatCode>
                <c:ptCount val="7"/>
                <c:pt idx="0">
                  <c:v>6485</c:v>
                </c:pt>
                <c:pt idx="1">
                  <c:v>6895</c:v>
                </c:pt>
                <c:pt idx="2">
                  <c:v>6946</c:v>
                </c:pt>
                <c:pt idx="3">
                  <c:v>7478</c:v>
                </c:pt>
                <c:pt idx="4">
                  <c:v>8242</c:v>
                </c:pt>
                <c:pt idx="5">
                  <c:v>7493</c:v>
                </c:pt>
                <c:pt idx="6">
                  <c:v>6035</c:v>
                </c:pt>
              </c:numCache>
            </c:numRef>
          </c:val>
          <c:extLst>
            <c:ext xmlns:c16="http://schemas.microsoft.com/office/drawing/2014/chart" uri="{C3380CC4-5D6E-409C-BE32-E72D297353CC}">
              <c16:uniqueId val="{00000000-6371-450F-AB6E-CAA0D0A3388D}"/>
            </c:ext>
          </c:extLst>
        </c:ser>
        <c:dLbls>
          <c:dLblPos val="outEnd"/>
          <c:showLegendKey val="0"/>
          <c:showVal val="1"/>
          <c:showCatName val="0"/>
          <c:showSerName val="0"/>
          <c:showPercent val="0"/>
          <c:showBubbleSize val="0"/>
        </c:dLbls>
        <c:gapWidth val="50"/>
        <c:overlap val="-27"/>
        <c:axId val="99726303"/>
        <c:axId val="99722943"/>
      </c:barChart>
      <c:catAx>
        <c:axId val="9972630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7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99722943"/>
        <c:crosses val="autoZero"/>
        <c:auto val="1"/>
        <c:lblAlgn val="ctr"/>
        <c:lblOffset val="100"/>
        <c:noMultiLvlLbl val="0"/>
      </c:catAx>
      <c:valAx>
        <c:axId val="99722943"/>
        <c:scaling>
          <c:orientation val="minMax"/>
        </c:scaling>
        <c:delete val="1"/>
        <c:axPos val="l"/>
        <c:numFmt formatCode="_(* #,##0_);_(* \(#,##0\);_(* &quot;-&quot;??_);_(@_)" sourceLinked="1"/>
        <c:majorTickMark val="none"/>
        <c:minorTickMark val="none"/>
        <c:tickLblPos val="nextTo"/>
        <c:crossAx val="99726303"/>
        <c:crosses val="autoZero"/>
        <c:crossBetween val="between"/>
      </c:valAx>
      <c:spPr>
        <a:solidFill>
          <a:schemeClr val="accent4">
            <a:lumMod val="60000"/>
            <a:lumOff val="40000"/>
          </a:schemeClr>
        </a:solid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25-Vincent.xlsx]Pivot_Table_Revenue!PivotTable2</c:name>
    <c:fmtId val="22"/>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Revenue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s>
    <c:plotArea>
      <c:layout/>
      <c:lineChart>
        <c:grouping val="standard"/>
        <c:varyColors val="0"/>
        <c:ser>
          <c:idx val="0"/>
          <c:order val="0"/>
          <c:tx>
            <c:strRef>
              <c:f>Pivot_Table_Revenue!$B$6</c:f>
              <c:strCache>
                <c:ptCount val="1"/>
                <c:pt idx="0">
                  <c:v>Total</c:v>
                </c:pt>
              </c:strCache>
            </c:strRef>
          </c:tx>
          <c:spPr>
            <a:ln w="28575" cap="rnd">
              <a:solidFill>
                <a:srgbClr val="FFFF00"/>
              </a:solidFill>
              <a:round/>
            </a:ln>
            <a:effectLst/>
          </c:spPr>
          <c:marker>
            <c:symbol val="circle"/>
            <c:size val="6"/>
            <c:spPr>
              <a:solidFill>
                <a:srgbClr val="A3220D"/>
              </a:solidFill>
              <a:ln w="9525">
                <a:solidFill>
                  <a:srgbClr val="A3220D"/>
                </a:solidFill>
              </a:ln>
              <a:effectLst/>
            </c:spPr>
          </c:marker>
          <c:dPt>
            <c:idx val="6"/>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0-3546-41C6-9568-ACE011080E29}"/>
              </c:ext>
            </c:extLst>
          </c:dPt>
          <c:dPt>
            <c:idx val="9"/>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1-3546-41C6-9568-ACE011080E29}"/>
              </c:ext>
            </c:extLst>
          </c:dPt>
          <c:dLbls>
            <c:dLbl>
              <c:idx val="6"/>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a:pPr>
                      <a:t>[CATEGORY NAME]</a:t>
                    </a:fld>
                    <a:r>
                      <a:rPr lang="en-US" sz="900" baseline="0"/>
                      <a:t>, </a:t>
                    </a:r>
                    <a:fld id="{53BCD553-8C53-454B-865C-3FB106B46615}" type="VALUE">
                      <a:rPr lang="en-US" sz="900" baseline="0">
                        <a:solidFill>
                          <a:schemeClr val="accent2">
                            <a:lumMod val="75000"/>
                          </a:schemeClr>
                        </a:solidFill>
                      </a:rPr>
                      <a:pPr>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3546-41C6-9568-ACE011080E29}"/>
                </c:ext>
              </c:extLst>
            </c:dLbl>
            <c:dLbl>
              <c:idx val="9"/>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546-41C6-9568-ACE011080E29}"/>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Pivot_Table_Revenue!$B$7:$B$19</c:f>
              <c:numCache>
                <c:formatCode>_("$"* #,##0.00_);_("$"* \(#,##0.00\);_("$"* "-"??_);_(@_)</c:formatCode>
                <c:ptCount val="12"/>
                <c:pt idx="0">
                  <c:v>69793.299999999959</c:v>
                </c:pt>
                <c:pt idx="1">
                  <c:v>65159.6</c:v>
                </c:pt>
                <c:pt idx="2">
                  <c:v>70397.099999999977</c:v>
                </c:pt>
                <c:pt idx="3">
                  <c:v>68736.799999999959</c:v>
                </c:pt>
                <c:pt idx="4">
                  <c:v>71402.749999999985</c:v>
                </c:pt>
                <c:pt idx="5">
                  <c:v>68230.199999999983</c:v>
                </c:pt>
                <c:pt idx="6">
                  <c:v>72557.899999999994</c:v>
                </c:pt>
                <c:pt idx="7">
                  <c:v>68278.249999999985</c:v>
                </c:pt>
                <c:pt idx="8">
                  <c:v>64180.05</c:v>
                </c:pt>
                <c:pt idx="9">
                  <c:v>64027.600000000006</c:v>
                </c:pt>
                <c:pt idx="10">
                  <c:v>70395.349999999977</c:v>
                </c:pt>
                <c:pt idx="11">
                  <c:v>64701.15</c:v>
                </c:pt>
              </c:numCache>
            </c:numRef>
          </c:val>
          <c:smooth val="1"/>
          <c:extLst>
            <c:ext xmlns:c16="http://schemas.microsoft.com/office/drawing/2014/chart" uri="{C3380CC4-5D6E-409C-BE32-E72D297353CC}">
              <c16:uniqueId val="{00000002-3546-41C6-9568-ACE011080E2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quot;$&quot;* #,##0.00_);_(&quot;$&quot;* \(#,##0.00\);_(&quot;$&quot;* &quot;-&quot;??_);_(@_)" sourceLinked="1"/>
        <c:majorTickMark val="out"/>
        <c:minorTickMark val="none"/>
        <c:tickLblPos val="nextTo"/>
        <c:crossAx val="147939334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25-Vincent.xlsx]Pivot_Table_Revenue!PivotTable2</c:name>
    <c:fmtId val="-1"/>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Revenue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s>
    <c:plotArea>
      <c:layout/>
      <c:lineChart>
        <c:grouping val="standard"/>
        <c:varyColors val="0"/>
        <c:ser>
          <c:idx val="0"/>
          <c:order val="0"/>
          <c:tx>
            <c:strRef>
              <c:f>Pivot_Table_Revenue!$B$6</c:f>
              <c:strCache>
                <c:ptCount val="1"/>
                <c:pt idx="0">
                  <c:v>Total</c:v>
                </c:pt>
              </c:strCache>
            </c:strRef>
          </c:tx>
          <c:spPr>
            <a:ln w="28575" cap="rnd">
              <a:solidFill>
                <a:srgbClr val="FFFF00"/>
              </a:solidFill>
              <a:round/>
            </a:ln>
            <a:effectLst/>
          </c:spPr>
          <c:marker>
            <c:symbol val="circle"/>
            <c:size val="6"/>
            <c:spPr>
              <a:solidFill>
                <a:srgbClr val="A3220D"/>
              </a:solidFill>
              <a:ln w="9525">
                <a:solidFill>
                  <a:srgbClr val="A3220D"/>
                </a:solidFill>
              </a:ln>
              <a:effectLst/>
            </c:spPr>
          </c:marker>
          <c:dPt>
            <c:idx val="6"/>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0-3546-41C6-9568-ACE011080E29}"/>
              </c:ext>
            </c:extLst>
          </c:dPt>
          <c:dPt>
            <c:idx val="9"/>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1-3546-41C6-9568-ACE011080E29}"/>
              </c:ext>
            </c:extLst>
          </c:dPt>
          <c:dLbls>
            <c:dLbl>
              <c:idx val="6"/>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a:pPr>
                      <a:t>[CATEGORY NAME]</a:t>
                    </a:fld>
                    <a:r>
                      <a:rPr lang="en-US" sz="900" baseline="0"/>
                      <a:t>, </a:t>
                    </a:r>
                    <a:fld id="{53BCD553-8C53-454B-865C-3FB106B46615}" type="VALUE">
                      <a:rPr lang="en-US" sz="900" baseline="0">
                        <a:solidFill>
                          <a:schemeClr val="accent2">
                            <a:lumMod val="75000"/>
                          </a:schemeClr>
                        </a:solidFill>
                      </a:rPr>
                      <a:pPr>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3546-41C6-9568-ACE011080E29}"/>
                </c:ext>
              </c:extLst>
            </c:dLbl>
            <c:dLbl>
              <c:idx val="9"/>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546-41C6-9568-ACE011080E29}"/>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Pivot_Table_Revenue!$B$7:$B$19</c:f>
              <c:numCache>
                <c:formatCode>_("$"* #,##0.00_);_("$"* \(#,##0.00\);_("$"* "-"??_);_(@_)</c:formatCode>
                <c:ptCount val="12"/>
                <c:pt idx="0">
                  <c:v>69793.299999999959</c:v>
                </c:pt>
                <c:pt idx="1">
                  <c:v>65159.6</c:v>
                </c:pt>
                <c:pt idx="2">
                  <c:v>70397.099999999977</c:v>
                </c:pt>
                <c:pt idx="3">
                  <c:v>68736.799999999959</c:v>
                </c:pt>
                <c:pt idx="4">
                  <c:v>71402.749999999985</c:v>
                </c:pt>
                <c:pt idx="5">
                  <c:v>68230.199999999983</c:v>
                </c:pt>
                <c:pt idx="6">
                  <c:v>72557.899999999994</c:v>
                </c:pt>
                <c:pt idx="7">
                  <c:v>68278.249999999985</c:v>
                </c:pt>
                <c:pt idx="8">
                  <c:v>64180.05</c:v>
                </c:pt>
                <c:pt idx="9">
                  <c:v>64027.600000000006</c:v>
                </c:pt>
                <c:pt idx="10">
                  <c:v>70395.349999999977</c:v>
                </c:pt>
                <c:pt idx="11">
                  <c:v>64701.15</c:v>
                </c:pt>
              </c:numCache>
            </c:numRef>
          </c:val>
          <c:smooth val="1"/>
          <c:extLst>
            <c:ext xmlns:c16="http://schemas.microsoft.com/office/drawing/2014/chart" uri="{C3380CC4-5D6E-409C-BE32-E72D297353CC}">
              <c16:uniqueId val="{00000002-3546-41C6-9568-ACE011080E2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quot;$&quot;* #,##0.00_);_(&quot;$&quot;* \(#,##0.00\);_(&quot;$&quot;* &quot;-&quot;??_);_(@_)" sourceLinked="1"/>
        <c:majorTickMark val="out"/>
        <c:minorTickMark val="none"/>
        <c:tickLblPos val="nextTo"/>
        <c:crossAx val="147939334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25-Vincent.xlsx]Pivot_Table_Revenue!PivotTable2</c:name>
    <c:fmtId val="-1"/>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Revenue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s>
    <c:plotArea>
      <c:layout/>
      <c:lineChart>
        <c:grouping val="standard"/>
        <c:varyColors val="0"/>
        <c:ser>
          <c:idx val="0"/>
          <c:order val="0"/>
          <c:tx>
            <c:strRef>
              <c:f>Pivot_Table_Revenue!$B$6</c:f>
              <c:strCache>
                <c:ptCount val="1"/>
                <c:pt idx="0">
                  <c:v>Total</c:v>
                </c:pt>
              </c:strCache>
            </c:strRef>
          </c:tx>
          <c:spPr>
            <a:ln w="28575" cap="rnd">
              <a:solidFill>
                <a:srgbClr val="FFFF00"/>
              </a:solidFill>
              <a:round/>
            </a:ln>
            <a:effectLst/>
          </c:spPr>
          <c:marker>
            <c:symbol val="circle"/>
            <c:size val="6"/>
            <c:spPr>
              <a:solidFill>
                <a:srgbClr val="A3220D"/>
              </a:solidFill>
              <a:ln w="9525">
                <a:solidFill>
                  <a:srgbClr val="A3220D"/>
                </a:solidFill>
              </a:ln>
              <a:effectLst/>
            </c:spPr>
          </c:marker>
          <c:dPt>
            <c:idx val="6"/>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0-3546-41C6-9568-ACE011080E29}"/>
              </c:ext>
            </c:extLst>
          </c:dPt>
          <c:dPt>
            <c:idx val="9"/>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1-3546-41C6-9568-ACE011080E29}"/>
              </c:ext>
            </c:extLst>
          </c:dPt>
          <c:dLbls>
            <c:dLbl>
              <c:idx val="6"/>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a:pPr>
                      <a:t>[CATEGORY NAME]</a:t>
                    </a:fld>
                    <a:r>
                      <a:rPr lang="en-US" sz="900" baseline="0"/>
                      <a:t>, </a:t>
                    </a:r>
                    <a:fld id="{53BCD553-8C53-454B-865C-3FB106B46615}" type="VALUE">
                      <a:rPr lang="en-US" sz="900" baseline="0">
                        <a:solidFill>
                          <a:schemeClr val="accent2">
                            <a:lumMod val="75000"/>
                          </a:schemeClr>
                        </a:solidFill>
                      </a:rPr>
                      <a:pPr>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3546-41C6-9568-ACE011080E29}"/>
                </c:ext>
              </c:extLst>
            </c:dLbl>
            <c:dLbl>
              <c:idx val="9"/>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546-41C6-9568-ACE011080E29}"/>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Pivot_Table_Revenue!$B$7:$B$19</c:f>
              <c:numCache>
                <c:formatCode>_("$"* #,##0.00_);_("$"* \(#,##0.00\);_("$"* "-"??_);_(@_)</c:formatCode>
                <c:ptCount val="12"/>
                <c:pt idx="0">
                  <c:v>69793.299999999959</c:v>
                </c:pt>
                <c:pt idx="1">
                  <c:v>65159.6</c:v>
                </c:pt>
                <c:pt idx="2">
                  <c:v>70397.099999999977</c:v>
                </c:pt>
                <c:pt idx="3">
                  <c:v>68736.799999999959</c:v>
                </c:pt>
                <c:pt idx="4">
                  <c:v>71402.749999999985</c:v>
                </c:pt>
                <c:pt idx="5">
                  <c:v>68230.199999999983</c:v>
                </c:pt>
                <c:pt idx="6">
                  <c:v>72557.899999999994</c:v>
                </c:pt>
                <c:pt idx="7">
                  <c:v>68278.249999999985</c:v>
                </c:pt>
                <c:pt idx="8">
                  <c:v>64180.05</c:v>
                </c:pt>
                <c:pt idx="9">
                  <c:v>64027.600000000006</c:v>
                </c:pt>
                <c:pt idx="10">
                  <c:v>70395.349999999977</c:v>
                </c:pt>
                <c:pt idx="11">
                  <c:v>64701.15</c:v>
                </c:pt>
              </c:numCache>
            </c:numRef>
          </c:val>
          <c:smooth val="1"/>
          <c:extLst>
            <c:ext xmlns:c16="http://schemas.microsoft.com/office/drawing/2014/chart" uri="{C3380CC4-5D6E-409C-BE32-E72D297353CC}">
              <c16:uniqueId val="{00000002-3546-41C6-9568-ACE011080E2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quot;$&quot;* #,##0.00_);_(&quot;$&quot;* \(#,##0.00\);_(&quot;$&quot;* &quot;-&quot;??_);_(@_)" sourceLinked="1"/>
        <c:majorTickMark val="out"/>
        <c:minorTickMark val="none"/>
        <c:tickLblPos val="nextTo"/>
        <c:crossAx val="14793933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25-Vincent.xlsx]Pivot_Table_Revenue!PivotTable2</c:name>
    <c:fmtId val="-1"/>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Revenue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s>
    <c:plotArea>
      <c:layout/>
      <c:lineChart>
        <c:grouping val="standard"/>
        <c:varyColors val="0"/>
        <c:ser>
          <c:idx val="0"/>
          <c:order val="0"/>
          <c:tx>
            <c:strRef>
              <c:f>Pivot_Table_Revenue!$B$6</c:f>
              <c:strCache>
                <c:ptCount val="1"/>
                <c:pt idx="0">
                  <c:v>Total</c:v>
                </c:pt>
              </c:strCache>
            </c:strRef>
          </c:tx>
          <c:spPr>
            <a:ln w="28575" cap="rnd">
              <a:solidFill>
                <a:srgbClr val="FFFF00"/>
              </a:solidFill>
              <a:round/>
            </a:ln>
            <a:effectLst/>
          </c:spPr>
          <c:marker>
            <c:symbol val="circle"/>
            <c:size val="6"/>
            <c:spPr>
              <a:solidFill>
                <a:srgbClr val="A3220D"/>
              </a:solidFill>
              <a:ln w="9525">
                <a:solidFill>
                  <a:srgbClr val="A3220D"/>
                </a:solidFill>
              </a:ln>
              <a:effectLst/>
            </c:spPr>
          </c:marker>
          <c:dPt>
            <c:idx val="6"/>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0-3546-41C6-9568-ACE011080E29}"/>
              </c:ext>
            </c:extLst>
          </c:dPt>
          <c:dPt>
            <c:idx val="9"/>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1-3546-41C6-9568-ACE011080E29}"/>
              </c:ext>
            </c:extLst>
          </c:dPt>
          <c:dLbls>
            <c:dLbl>
              <c:idx val="6"/>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a:pPr>
                      <a:t>[CATEGORY NAME]</a:t>
                    </a:fld>
                    <a:r>
                      <a:rPr lang="en-US" sz="900" baseline="0"/>
                      <a:t>, </a:t>
                    </a:r>
                    <a:fld id="{53BCD553-8C53-454B-865C-3FB106B46615}" type="VALUE">
                      <a:rPr lang="en-US" sz="900" baseline="0">
                        <a:solidFill>
                          <a:schemeClr val="accent2">
                            <a:lumMod val="75000"/>
                          </a:schemeClr>
                        </a:solidFill>
                      </a:rPr>
                      <a:pPr>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3546-41C6-9568-ACE011080E29}"/>
                </c:ext>
              </c:extLst>
            </c:dLbl>
            <c:dLbl>
              <c:idx val="9"/>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546-41C6-9568-ACE011080E29}"/>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Pivot_Table_Revenue!$B$7:$B$19</c:f>
              <c:numCache>
                <c:formatCode>_("$"* #,##0.00_);_("$"* \(#,##0.00\);_("$"* "-"??_);_(@_)</c:formatCode>
                <c:ptCount val="12"/>
                <c:pt idx="0">
                  <c:v>69793.299999999959</c:v>
                </c:pt>
                <c:pt idx="1">
                  <c:v>65159.6</c:v>
                </c:pt>
                <c:pt idx="2">
                  <c:v>70397.099999999977</c:v>
                </c:pt>
                <c:pt idx="3">
                  <c:v>68736.799999999959</c:v>
                </c:pt>
                <c:pt idx="4">
                  <c:v>71402.749999999985</c:v>
                </c:pt>
                <c:pt idx="5">
                  <c:v>68230.199999999983</c:v>
                </c:pt>
                <c:pt idx="6">
                  <c:v>72557.899999999994</c:v>
                </c:pt>
                <c:pt idx="7">
                  <c:v>68278.249999999985</c:v>
                </c:pt>
                <c:pt idx="8">
                  <c:v>64180.05</c:v>
                </c:pt>
                <c:pt idx="9">
                  <c:v>64027.600000000006</c:v>
                </c:pt>
                <c:pt idx="10">
                  <c:v>70395.349999999977</c:v>
                </c:pt>
                <c:pt idx="11">
                  <c:v>64701.15</c:v>
                </c:pt>
              </c:numCache>
            </c:numRef>
          </c:val>
          <c:smooth val="1"/>
          <c:extLst>
            <c:ext xmlns:c16="http://schemas.microsoft.com/office/drawing/2014/chart" uri="{C3380CC4-5D6E-409C-BE32-E72D297353CC}">
              <c16:uniqueId val="{00000002-3546-41C6-9568-ACE011080E2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quot;$&quot;* #,##0.00_);_(&quot;$&quot;* \(#,##0.00\);_(&quot;$&quot;* &quot;-&quot;??_);_(@_)" sourceLinked="1"/>
        <c:majorTickMark val="out"/>
        <c:minorTickMark val="none"/>
        <c:tickLblPos val="nextTo"/>
        <c:crossAx val="14793933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25-Vincent.xlsx]Pivot_Table_Orders!PivotTable2</c:name>
    <c:fmtId val="47"/>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Orders</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1"/>
        <c:spPr>
          <a:solidFill>
            <a:schemeClr val="accent1"/>
          </a:solidFill>
          <a:ln w="28575" cap="rnd">
            <a:solidFill>
              <a:srgbClr val="FFFF00"/>
            </a:solidFill>
            <a:round/>
          </a:ln>
          <a:effectLst/>
        </c:spPr>
        <c:marker>
          <c:symbol val="circle"/>
          <c:size val="5"/>
          <c:spPr>
            <a:solidFill>
              <a:srgbClr val="C00000"/>
            </a:solidFill>
            <a:ln w="1587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2"/>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3"/>
        <c:dLbl>
          <c:idx val="0"/>
          <c:layout>
            <c:manualLayout>
              <c:x val="-7.2200020444024751E-2"/>
              <c:y val="0.1134132757334779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50" b="0" i="0" u="none" strike="noStrike" kern="1200" baseline="0">
                  <a:solidFill>
                    <a:schemeClr val="accent2">
                      <a:lumMod val="75000"/>
                    </a:schemeClr>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7"/>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9"/>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s>
    <c:plotArea>
      <c:layout/>
      <c:lineChart>
        <c:grouping val="standard"/>
        <c:varyColors val="0"/>
        <c:ser>
          <c:idx val="0"/>
          <c:order val="0"/>
          <c:tx>
            <c:strRef>
              <c:f>Pivot_Table_Orders!$B$6</c:f>
              <c:strCache>
                <c:ptCount val="1"/>
                <c:pt idx="0">
                  <c:v>Total</c:v>
                </c:pt>
              </c:strCache>
            </c:strRef>
          </c:tx>
          <c:spPr>
            <a:ln w="28575" cap="rnd">
              <a:solidFill>
                <a:srgbClr val="FFFF00"/>
              </a:solidFill>
              <a:round/>
            </a:ln>
            <a:effectLst/>
          </c:spPr>
          <c:marker>
            <c:symbol val="circle"/>
            <c:size val="5"/>
            <c:spPr>
              <a:solidFill>
                <a:srgbClr val="C00000"/>
              </a:solidFill>
              <a:ln w="9525">
                <a:solidFill>
                  <a:srgbClr val="C00000"/>
                </a:solidFill>
              </a:ln>
              <a:effectLst/>
            </c:spPr>
          </c:marker>
          <c:dPt>
            <c:idx val="6"/>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0-5531-4238-884D-237060372F7F}"/>
              </c:ext>
            </c:extLst>
          </c:dPt>
          <c:dPt>
            <c:idx val="9"/>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1-5531-4238-884D-237060372F7F}"/>
              </c:ext>
            </c:extLst>
          </c:dPt>
          <c:dLbls>
            <c:dLbl>
              <c:idx val="6"/>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rgbClr val="C00000"/>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0-5531-4238-884D-237060372F7F}"/>
                </c:ext>
              </c:extLst>
            </c:dLbl>
            <c:dLbl>
              <c:idx val="9"/>
              <c:layout>
                <c:manualLayout>
                  <c:x val="-0.30247913840010687"/>
                  <c:y val="0.1140224960733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16435468964872041"/>
                      <c:h val="0.29227572847119015"/>
                    </c:manualLayout>
                  </c15:layout>
                </c:ext>
                <c:ext xmlns:c16="http://schemas.microsoft.com/office/drawing/2014/chart" uri="{C3380CC4-5D6E-409C-BE32-E72D297353CC}">
                  <c16:uniqueId val="{00000001-5531-4238-884D-237060372F7F}"/>
                </c:ext>
              </c:extLst>
            </c:dLbl>
            <c:spPr>
              <a:solidFill>
                <a:srgbClr val="C00000"/>
              </a:solid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rgbClr val="C00000"/>
                    </a:solidFill>
                    <a:latin typeface="+mn-lt"/>
                    <a:ea typeface="+mn-ea"/>
                    <a:cs typeface="+mn-cs"/>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Pivot_Table_Orders!$A$7:$A$19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Pivot_Table_Orders!$B$7:$B$19</c:f>
              <c:numCache>
                <c:formatCode>_(* #,##0_);_(* \(#,##0\);_(* "-"??_);_(@_)</c:formatCode>
                <c:ptCount val="12"/>
                <c:pt idx="0">
                  <c:v>1845</c:v>
                </c:pt>
                <c:pt idx="1">
                  <c:v>1685</c:v>
                </c:pt>
                <c:pt idx="2">
                  <c:v>1840</c:v>
                </c:pt>
                <c:pt idx="3">
                  <c:v>1799</c:v>
                </c:pt>
                <c:pt idx="4">
                  <c:v>1853</c:v>
                </c:pt>
                <c:pt idx="5">
                  <c:v>1773</c:v>
                </c:pt>
                <c:pt idx="6">
                  <c:v>1935</c:v>
                </c:pt>
                <c:pt idx="7">
                  <c:v>1841</c:v>
                </c:pt>
                <c:pt idx="8">
                  <c:v>1661</c:v>
                </c:pt>
                <c:pt idx="9">
                  <c:v>1646</c:v>
                </c:pt>
                <c:pt idx="10">
                  <c:v>1792</c:v>
                </c:pt>
                <c:pt idx="11">
                  <c:v>1680</c:v>
                </c:pt>
              </c:numCache>
            </c:numRef>
          </c:val>
          <c:smooth val="1"/>
          <c:extLst>
            <c:ext xmlns:c16="http://schemas.microsoft.com/office/drawing/2014/chart" uri="{C3380CC4-5D6E-409C-BE32-E72D297353CC}">
              <c16:uniqueId val="{00000002-5531-4238-884D-237060372F7F}"/>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 #,##0_);_(* \(#,##0\);_(* &quot;-&quot;??_);_(@_)" sourceLinked="1"/>
        <c:majorTickMark val="out"/>
        <c:minorTickMark val="none"/>
        <c:tickLblPos val="nextTo"/>
        <c:crossAx val="147939334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25-Vincent.xlsx]Pivot_Table_Quantities!PivotTable2</c:name>
    <c:fmtId val="66"/>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Quantities</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1"/>
        <c:spPr>
          <a:solidFill>
            <a:schemeClr val="accent1"/>
          </a:solidFill>
          <a:ln w="28575" cap="rnd">
            <a:solidFill>
              <a:srgbClr val="FFFF00"/>
            </a:solidFill>
            <a:round/>
          </a:ln>
          <a:effectLst/>
        </c:spPr>
        <c:marker>
          <c:symbol val="circle"/>
          <c:size val="5"/>
          <c:spPr>
            <a:solidFill>
              <a:srgbClr val="C00000"/>
            </a:solidFill>
            <a:ln w="1587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2"/>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3"/>
        <c:dLbl>
          <c:idx val="0"/>
          <c:layout>
            <c:manualLayout>
              <c:x val="-7.2200020444024751E-2"/>
              <c:y val="0.1134132757334779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50" b="0" i="0" u="none" strike="noStrike" kern="1200" baseline="0">
                  <a:solidFill>
                    <a:schemeClr val="accent2">
                      <a:lumMod val="75000"/>
                    </a:schemeClr>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7"/>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9"/>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3"/>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s>
    <c:plotArea>
      <c:layout/>
      <c:lineChart>
        <c:grouping val="standard"/>
        <c:varyColors val="0"/>
        <c:ser>
          <c:idx val="0"/>
          <c:order val="0"/>
          <c:tx>
            <c:strRef>
              <c:f>Pivot_Table_Quantities!$B$6</c:f>
              <c:strCache>
                <c:ptCount val="1"/>
                <c:pt idx="0">
                  <c:v>Total</c:v>
                </c:pt>
              </c:strCache>
            </c:strRef>
          </c:tx>
          <c:spPr>
            <a:ln w="28575" cap="rnd">
              <a:solidFill>
                <a:srgbClr val="FFFF00"/>
              </a:solidFill>
              <a:round/>
            </a:ln>
            <a:effectLst/>
          </c:spPr>
          <c:marker>
            <c:symbol val="circle"/>
            <c:size val="5"/>
            <c:spPr>
              <a:solidFill>
                <a:srgbClr val="C00000"/>
              </a:solidFill>
              <a:ln w="9525">
                <a:solidFill>
                  <a:srgbClr val="C00000"/>
                </a:solidFill>
              </a:ln>
              <a:effectLst/>
            </c:spPr>
          </c:marker>
          <c:dPt>
            <c:idx val="6"/>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0-8645-4AF1-B699-F1656AF63C79}"/>
              </c:ext>
            </c:extLst>
          </c:dPt>
          <c:dPt>
            <c:idx val="9"/>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1-8645-4AF1-B699-F1656AF63C79}"/>
              </c:ext>
            </c:extLst>
          </c:dPt>
          <c:dLbls>
            <c:dLbl>
              <c:idx val="6"/>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0-8645-4AF1-B699-F1656AF63C79}"/>
                </c:ext>
              </c:extLst>
            </c:dLbl>
            <c:dLbl>
              <c:idx val="9"/>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1-8645-4AF1-B699-F1656AF63C79}"/>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Pivot_Table_Quantities!$A$7:$A$19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Pivot_Table_Quantities!$B$7:$B$19</c:f>
              <c:numCache>
                <c:formatCode>_(* #,##0_);_(* \(#,##0\);_(* "-"??_);_(@_)</c:formatCode>
                <c:ptCount val="12"/>
                <c:pt idx="0">
                  <c:v>4232</c:v>
                </c:pt>
                <c:pt idx="1">
                  <c:v>3961</c:v>
                </c:pt>
                <c:pt idx="2">
                  <c:v>4261</c:v>
                </c:pt>
                <c:pt idx="3">
                  <c:v>4151</c:v>
                </c:pt>
                <c:pt idx="4">
                  <c:v>4328</c:v>
                </c:pt>
                <c:pt idx="5">
                  <c:v>4107</c:v>
                </c:pt>
                <c:pt idx="6">
                  <c:v>4392</c:v>
                </c:pt>
                <c:pt idx="7">
                  <c:v>4168</c:v>
                </c:pt>
                <c:pt idx="8">
                  <c:v>3890</c:v>
                </c:pt>
                <c:pt idx="9">
                  <c:v>3883</c:v>
                </c:pt>
                <c:pt idx="10">
                  <c:v>4266</c:v>
                </c:pt>
                <c:pt idx="11">
                  <c:v>3935</c:v>
                </c:pt>
              </c:numCache>
            </c:numRef>
          </c:val>
          <c:smooth val="1"/>
          <c:extLst>
            <c:ext xmlns:c16="http://schemas.microsoft.com/office/drawing/2014/chart" uri="{C3380CC4-5D6E-409C-BE32-E72D297353CC}">
              <c16:uniqueId val="{00000002-8645-4AF1-B699-F1656AF63C7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 #,##0_);_(* \(#,##0\);_(* &quot;-&quot;??_);_(@_)" sourceLinked="1"/>
        <c:majorTickMark val="out"/>
        <c:minorTickMark val="none"/>
        <c:tickLblPos val="nextTo"/>
        <c:crossAx val="147939334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25-Vincent.xlsx]Pivot_Table_AOV!PivotTable2</c:name>
    <c:fmtId val="78"/>
  </c:pivotSource>
  <c:chart>
    <c:title>
      <c:tx>
        <c:rich>
          <a:bodyPr rot="0" spcFirstLastPara="1" vertOverflow="ellipsis" vert="horz" wrap="square" anchor="ctr" anchorCtr="1"/>
          <a:lstStyle/>
          <a:p>
            <a:pPr>
              <a:defRPr sz="1100" b="1" i="0" u="none" strike="noStrike" kern="1200" spc="0" baseline="0">
                <a:solidFill>
                  <a:srgbClr val="FFFF00"/>
                </a:solidFill>
                <a:latin typeface="+mn-lt"/>
                <a:ea typeface="+mn-ea"/>
                <a:cs typeface="+mn-cs"/>
              </a:defRPr>
            </a:pPr>
            <a:r>
              <a:rPr lang="en-US" sz="1100" b="1">
                <a:solidFill>
                  <a:srgbClr val="FFFF00"/>
                </a:solidFill>
              </a:rPr>
              <a:t>Monthly AOV and Revenue per Pizza</a:t>
            </a:r>
          </a:p>
        </c:rich>
      </c:tx>
      <c:overlay val="0"/>
      <c:spPr>
        <a:noFill/>
        <a:ln>
          <a:noFill/>
        </a:ln>
        <a:effectLst/>
      </c:spPr>
      <c:txPr>
        <a:bodyPr rot="0" spcFirstLastPara="1" vertOverflow="ellipsis" vert="horz" wrap="square" anchor="ctr" anchorCtr="1"/>
        <a:lstStyle/>
        <a:p>
          <a:pPr>
            <a:defRPr sz="11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1"/>
        <c:spPr>
          <a:solidFill>
            <a:schemeClr val="accent1"/>
          </a:solidFill>
          <a:ln w="28575" cap="rnd">
            <a:solidFill>
              <a:srgbClr val="FFFF00"/>
            </a:solidFill>
            <a:round/>
          </a:ln>
          <a:effectLst/>
        </c:spPr>
        <c:marker>
          <c:symbol val="circle"/>
          <c:size val="5"/>
          <c:spPr>
            <a:solidFill>
              <a:srgbClr val="C00000"/>
            </a:solidFill>
            <a:ln w="1587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2"/>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3"/>
        <c:dLbl>
          <c:idx val="0"/>
          <c:layout>
            <c:manualLayout>
              <c:x val="-7.2200020444024751E-2"/>
              <c:y val="0.1134132757334779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50" b="0" i="0" u="none" strike="noStrike" kern="1200" baseline="0">
                  <a:solidFill>
                    <a:schemeClr val="accent2">
                      <a:lumMod val="75000"/>
                    </a:schemeClr>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7"/>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9"/>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3"/>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solidFill>
            <a:schemeClr val="accent1"/>
          </a:solidFill>
          <a:ln w="28575" cap="rnd">
            <a:solidFill>
              <a:schemeClr val="accent1"/>
            </a:solidFill>
            <a:round/>
          </a:ln>
          <a:effectLst/>
        </c:spPr>
        <c:marker>
          <c:symbol val="square"/>
          <c:size val="5"/>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9"/>
        <c:spPr>
          <a:solidFill>
            <a:schemeClr val="accent1"/>
          </a:solidFill>
          <a:ln w="28575" cap="rnd">
            <a:solidFill>
              <a:schemeClr val="accent1"/>
            </a:solidFill>
            <a:round/>
          </a:ln>
          <a:effectLst/>
        </c:spPr>
        <c:marker>
          <c:symbol val="square"/>
          <c:size val="5"/>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1"/>
        <c:spPr>
          <a:solidFill>
            <a:schemeClr val="accent1"/>
          </a:solidFill>
          <a:ln w="28575" cap="rnd">
            <a:solidFill>
              <a:schemeClr val="accent1"/>
            </a:solidFill>
            <a:round/>
          </a:ln>
          <a:effectLst/>
        </c:spPr>
        <c:marker>
          <c:symbol val="square"/>
          <c:size val="5"/>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1"/>
          <c:order val="1"/>
          <c:tx>
            <c:strRef>
              <c:f>Pivot_Table_AOV!$C$6</c:f>
              <c:strCache>
                <c:ptCount val="1"/>
                <c:pt idx="0">
                  <c:v>Revenue per Pizza</c:v>
                </c:pt>
              </c:strCache>
            </c:strRef>
          </c:tx>
          <c:spPr>
            <a:ln w="28575" cap="rnd">
              <a:solidFill>
                <a:srgbClr val="FFFF00"/>
              </a:solidFill>
              <a:round/>
            </a:ln>
            <a:effectLst/>
          </c:spPr>
          <c:marker>
            <c:symbol val="circle"/>
            <c:size val="5"/>
            <c:spPr>
              <a:solidFill>
                <a:srgbClr val="C00000"/>
              </a:solidFill>
              <a:ln w="9525">
                <a:solidFill>
                  <a:srgbClr val="C00000"/>
                </a:solidFill>
              </a:ln>
              <a:effectLst/>
            </c:spPr>
          </c:marker>
          <c:cat>
            <c:strRef>
              <c:f>Pivot_Table_AOV!$A$7:$A$19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Pivot_Table_AOV!$C$7:$C$19</c:f>
              <c:numCache>
                <c:formatCode>_("$"* #,##0.00_);_("$"* \(#,##0.00\);_("$"* "-"??_);_(@_)</c:formatCode>
                <c:ptCount val="12"/>
                <c:pt idx="0">
                  <c:v>16.491800567107742</c:v>
                </c:pt>
                <c:pt idx="1">
                  <c:v>16.450290330724563</c:v>
                </c:pt>
                <c:pt idx="2">
                  <c:v>16.521262614409757</c:v>
                </c:pt>
                <c:pt idx="3">
                  <c:v>16.559094194170068</c:v>
                </c:pt>
                <c:pt idx="4">
                  <c:v>16.497862754158962</c:v>
                </c:pt>
                <c:pt idx="5">
                  <c:v>16.61314828341855</c:v>
                </c:pt>
                <c:pt idx="6">
                  <c:v>16.520469034608379</c:v>
                </c:pt>
                <c:pt idx="7">
                  <c:v>16.381537907869479</c:v>
                </c:pt>
                <c:pt idx="8">
                  <c:v>16.498727506426736</c:v>
                </c:pt>
                <c:pt idx="9">
                  <c:v>16.489209374195212</c:v>
                </c:pt>
                <c:pt idx="10">
                  <c:v>16.501488513830282</c:v>
                </c:pt>
                <c:pt idx="11">
                  <c:v>16.442477763659468</c:v>
                </c:pt>
              </c:numCache>
            </c:numRef>
          </c:val>
          <c:smooth val="1"/>
          <c:extLst>
            <c:ext xmlns:c16="http://schemas.microsoft.com/office/drawing/2014/chart" uri="{C3380CC4-5D6E-409C-BE32-E72D297353CC}">
              <c16:uniqueId val="{00000000-F5F6-4496-B275-7466C6284DD3}"/>
            </c:ext>
          </c:extLst>
        </c:ser>
        <c:dLbls>
          <c:showLegendKey val="0"/>
          <c:showVal val="0"/>
          <c:showCatName val="0"/>
          <c:showSerName val="0"/>
          <c:showPercent val="0"/>
          <c:showBubbleSize val="0"/>
        </c:dLbls>
        <c:marker val="1"/>
        <c:smooth val="0"/>
        <c:axId val="1479393343"/>
        <c:axId val="1479393823"/>
      </c:lineChart>
      <c:lineChart>
        <c:grouping val="standard"/>
        <c:varyColors val="0"/>
        <c:ser>
          <c:idx val="0"/>
          <c:order val="0"/>
          <c:tx>
            <c:strRef>
              <c:f>Pivot_Table_AOV!$B$6</c:f>
              <c:strCache>
                <c:ptCount val="1"/>
                <c:pt idx="0">
                  <c:v>Revenue per Order (AOV)</c:v>
                </c:pt>
              </c:strCache>
            </c:strRef>
          </c:tx>
          <c:spPr>
            <a:ln w="28575" cap="rnd">
              <a:solidFill>
                <a:schemeClr val="accent1"/>
              </a:solidFill>
              <a:round/>
            </a:ln>
            <a:effectLst/>
          </c:spPr>
          <c:marker>
            <c:symbol val="square"/>
            <c:size val="5"/>
            <c:spPr>
              <a:solidFill>
                <a:srgbClr val="C00000"/>
              </a:solidFill>
              <a:ln w="9525">
                <a:solidFill>
                  <a:schemeClr val="accent1"/>
                </a:solidFill>
              </a:ln>
              <a:effectLst/>
            </c:spPr>
          </c:marker>
          <c:cat>
            <c:strRef>
              <c:f>Pivot_Table_AOV!$A$7:$A$19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Pivot_Table_AOV!$B$7:$B$19</c:f>
              <c:numCache>
                <c:formatCode>_("$"* #,##0.00_);_("$"* \(#,##0.00\);_("$"* "-"??_);_(@_)</c:formatCode>
                <c:ptCount val="12"/>
                <c:pt idx="0">
                  <c:v>37.828346883468811</c:v>
                </c:pt>
                <c:pt idx="1">
                  <c:v>38.670385756676559</c:v>
                </c:pt>
                <c:pt idx="2">
                  <c:v>38.259293478260858</c:v>
                </c:pt>
                <c:pt idx="3">
                  <c:v>38.208337965536387</c:v>
                </c:pt>
                <c:pt idx="4">
                  <c:v>38.533594171613593</c:v>
                </c:pt>
                <c:pt idx="5">
                  <c:v>38.482910321488994</c:v>
                </c:pt>
                <c:pt idx="6">
                  <c:v>37.497622739018084</c:v>
                </c:pt>
                <c:pt idx="7">
                  <c:v>37.087588267246055</c:v>
                </c:pt>
                <c:pt idx="8">
                  <c:v>38.639403973509935</c:v>
                </c:pt>
                <c:pt idx="9">
                  <c:v>38.898906439854194</c:v>
                </c:pt>
                <c:pt idx="10">
                  <c:v>39.283119419642844</c:v>
                </c:pt>
                <c:pt idx="11">
                  <c:v>38.512589285714284</c:v>
                </c:pt>
              </c:numCache>
            </c:numRef>
          </c:val>
          <c:smooth val="1"/>
          <c:extLst>
            <c:ext xmlns:c16="http://schemas.microsoft.com/office/drawing/2014/chart" uri="{C3380CC4-5D6E-409C-BE32-E72D297353CC}">
              <c16:uniqueId val="{00000001-F5F6-4496-B275-7466C6284DD3}"/>
            </c:ext>
          </c:extLst>
        </c:ser>
        <c:dLbls>
          <c:showLegendKey val="0"/>
          <c:showVal val="0"/>
          <c:showCatName val="0"/>
          <c:showSerName val="0"/>
          <c:showPercent val="0"/>
          <c:showBubbleSize val="0"/>
        </c:dLbls>
        <c:marker val="1"/>
        <c:smooth val="0"/>
        <c:axId val="981756559"/>
        <c:axId val="981745039"/>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0"/>
        <c:axPos val="l"/>
        <c:numFmt formatCode="_(&quot;$&quot;* #,##0.00_);_(&quot;$&quot;* \(#,##0.00\);_(&quot;$&quot;*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rgbClr val="FFFF00"/>
                </a:solidFill>
                <a:latin typeface="+mn-lt"/>
                <a:ea typeface="+mn-ea"/>
                <a:cs typeface="+mn-cs"/>
              </a:defRPr>
            </a:pPr>
            <a:endParaRPr lang="en-US"/>
          </a:p>
        </c:txPr>
        <c:crossAx val="1479393343"/>
        <c:crosses val="autoZero"/>
        <c:crossBetween val="between"/>
      </c:valAx>
      <c:valAx>
        <c:axId val="981745039"/>
        <c:scaling>
          <c:orientation val="minMax"/>
        </c:scaling>
        <c:delete val="0"/>
        <c:axPos val="r"/>
        <c:numFmt formatCode="_(&quot;$&quot;* #,##0.00_);_(&quot;$&quot;* \(#,##0.00\);_(&quot;$&quot;*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2"/>
                </a:solidFill>
                <a:latin typeface="+mn-lt"/>
                <a:ea typeface="+mn-ea"/>
                <a:cs typeface="+mn-cs"/>
              </a:defRPr>
            </a:pPr>
            <a:endParaRPr lang="en-US"/>
          </a:p>
        </c:txPr>
        <c:crossAx val="981756559"/>
        <c:crosses val="max"/>
        <c:crossBetween val="between"/>
      </c:valAx>
      <c:catAx>
        <c:axId val="981756559"/>
        <c:scaling>
          <c:orientation val="minMax"/>
        </c:scaling>
        <c:delete val="1"/>
        <c:axPos val="b"/>
        <c:numFmt formatCode="General" sourceLinked="1"/>
        <c:majorTickMark val="out"/>
        <c:minorTickMark val="none"/>
        <c:tickLblPos val="nextTo"/>
        <c:crossAx val="981745039"/>
        <c:crosses val="autoZero"/>
        <c:auto val="1"/>
        <c:lblAlgn val="ctr"/>
        <c:lblOffset val="100"/>
        <c:noMultiLvlLbl val="0"/>
      </c:catAx>
      <c:spPr>
        <a:noFill/>
        <a:ln>
          <a:solidFill>
            <a:schemeClr val="tx1"/>
          </a:solid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25-Vincent.xlsx]Pivot_Table_AOV!PivotTable4</c:name>
    <c:fmtId val="62"/>
  </c:pivotSource>
  <c:chart>
    <c:title>
      <c:tx>
        <c:rich>
          <a:bodyPr rot="0" spcFirstLastPara="1" vertOverflow="ellipsis" vert="horz" wrap="square" anchor="ctr" anchorCtr="1"/>
          <a:lstStyle/>
          <a:p>
            <a:pPr>
              <a:defRPr lang="en-US" sz="1100" b="1" i="0" u="none" strike="noStrike" kern="1200" spc="0" baseline="0">
                <a:ln>
                  <a:solidFill>
                    <a:schemeClr val="bg1">
                      <a:lumMod val="95000"/>
                    </a:schemeClr>
                  </a:solidFill>
                </a:ln>
                <a:solidFill>
                  <a:srgbClr val="FFFF00"/>
                </a:solidFill>
                <a:latin typeface="+mn-lt"/>
                <a:ea typeface="+mn-ea"/>
                <a:cs typeface="+mn-cs"/>
              </a:defRPr>
            </a:pPr>
            <a:r>
              <a:rPr lang="en-US" sz="1100" b="0">
                <a:ln>
                  <a:solidFill>
                    <a:srgbClr val="FFFF00"/>
                  </a:solidFill>
                </a:ln>
                <a:solidFill>
                  <a:srgbClr val="FFFF00"/>
                </a:solidFill>
              </a:rPr>
              <a:t>Hourly AOV and Revenue</a:t>
            </a:r>
            <a:r>
              <a:rPr lang="en-US" sz="1100" b="0" baseline="0">
                <a:ln>
                  <a:solidFill>
                    <a:srgbClr val="FFFF00"/>
                  </a:solidFill>
                </a:ln>
                <a:solidFill>
                  <a:srgbClr val="FFFF00"/>
                </a:solidFill>
              </a:rPr>
              <a:t> per Pizza</a:t>
            </a:r>
            <a:endParaRPr lang="en-US" sz="1100" b="0">
              <a:ln>
                <a:solidFill>
                  <a:srgbClr val="FFFF00"/>
                </a:solidFill>
              </a:ln>
              <a:solidFill>
                <a:srgbClr val="FFFF00"/>
              </a:solidFill>
            </a:endParaRPr>
          </a:p>
        </c:rich>
      </c:tx>
      <c:overlay val="0"/>
      <c:spPr>
        <a:noFill/>
        <a:ln>
          <a:noFill/>
        </a:ln>
        <a:effectLst/>
      </c:spPr>
      <c:txPr>
        <a:bodyPr rot="0" spcFirstLastPara="1" vertOverflow="ellipsis" vert="horz" wrap="square" anchor="ctr" anchorCtr="1"/>
        <a:lstStyle/>
        <a:p>
          <a:pPr>
            <a:defRPr lang="en-US" sz="1100" b="1" i="0" u="none" strike="noStrike" kern="1200" spc="0" baseline="0">
              <a:ln>
                <a:solidFill>
                  <a:schemeClr val="bg1">
                    <a:lumMod val="95000"/>
                  </a:schemeClr>
                </a:solidFill>
              </a:ln>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anchor="ctr" anchorCtr="0"/>
            <a:lstStyle/>
            <a:p>
              <a:pPr algn="ctr">
                <a:defRPr lang="en-US" sz="10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255498A7-502C-4CE5-A552-4712CF838BD4}"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4"/>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0DAF634F-DDD3-46F0-BB38-86E199DF1287}"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5"/>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anchor="ctr" anchorCtr="0"/>
            <a:lstStyle/>
            <a:p>
              <a:pPr algn="ctr">
                <a:defRPr lang="en-US" sz="10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0DAF634F-DDD3-46F0-BB38-86E199DF1287}"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8"/>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255498A7-502C-4CE5-A552-4712CF838BD4}"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9"/>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anchor="ctr" anchorCtr="0"/>
            <a:lstStyle/>
            <a:p>
              <a:pPr algn="ctr">
                <a:defRPr lang="en-US" sz="10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0DAF634F-DDD3-46F0-BB38-86E199DF1287}"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11"/>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255498A7-502C-4CE5-A552-4712CF838BD4}"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1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0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pivotFmt>
      <c:pivotFmt>
        <c:idx val="1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pivotFmt>
      <c:pivotFmt>
        <c:idx val="17"/>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0.16691085918447815"/>
              <c:y val="-9.8410515202293686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1.1333322477906806E-16"/>
              <c:y val="-8.6109200802006958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9"/>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layout>
            <c:manualLayout>
              <c:x val="-0.16691085918447812"/>
              <c:y val="-7.9958543601863635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1"/>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2"/>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layout>
            <c:manualLayout>
              <c:x val="-0.16691085918447812"/>
              <c:y val="-7.9958543601863635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4"/>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5"/>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layout>
            <c:manualLayout>
              <c:x val="-0.16691085918447812"/>
              <c:y val="-7.9958543601863635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7"/>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chemeClr val="accent1"/>
            </a:solidFill>
            <a:round/>
          </a:ln>
          <a:effectLst/>
        </c:spPr>
        <c:marker>
          <c:symbol val="square"/>
          <c:size val="6"/>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solidFill>
            <a:schemeClr val="accent1"/>
          </a:solidFill>
          <a:ln w="28575" cap="rnd">
            <a:solidFill>
              <a:schemeClr val="accent1"/>
            </a:solidFill>
            <a:round/>
          </a:ln>
          <a:effectLst/>
        </c:spPr>
        <c:marker>
          <c:symbol val="square"/>
          <c:size val="6"/>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solidFill>
            <a:schemeClr val="accent1"/>
          </a:solidFill>
          <a:ln w="28575" cap="rnd">
            <a:solidFill>
              <a:schemeClr val="accent1"/>
            </a:solidFill>
            <a:round/>
          </a:ln>
          <a:effectLst/>
        </c:spPr>
        <c:marker>
          <c:symbol val="square"/>
          <c:size val="6"/>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1"/>
          <c:order val="1"/>
          <c:tx>
            <c:strRef>
              <c:f>Pivot_Table_AOV!$K$12</c:f>
              <c:strCache>
                <c:ptCount val="1"/>
                <c:pt idx="0">
                  <c:v>Revenue per Pizza</c:v>
                </c:pt>
              </c:strCache>
            </c:strRef>
          </c:tx>
          <c:spPr>
            <a:ln w="28575" cap="rnd">
              <a:solidFill>
                <a:srgbClr val="FFFF00"/>
              </a:solidFill>
              <a:round/>
            </a:ln>
            <a:effectLst/>
          </c:spPr>
          <c:marker>
            <c:symbol val="circle"/>
            <c:size val="5"/>
            <c:spPr>
              <a:solidFill>
                <a:srgbClr val="C00000"/>
              </a:solidFill>
              <a:ln w="9525">
                <a:solidFill>
                  <a:srgbClr val="C00000"/>
                </a:solidFill>
              </a:ln>
              <a:effectLst/>
            </c:spPr>
          </c:marker>
          <c:cat>
            <c:strRef>
              <c:f>Pivot_Table_AOV!$I$13:$I$27</c:f>
              <c:strCache>
                <c:ptCount val="15"/>
                <c:pt idx="0">
                  <c:v>9</c:v>
                </c:pt>
                <c:pt idx="1">
                  <c:v>10</c:v>
                </c:pt>
                <c:pt idx="2">
                  <c:v>11</c:v>
                </c:pt>
                <c:pt idx="3">
                  <c:v>12</c:v>
                </c:pt>
                <c:pt idx="4">
                  <c:v>13</c:v>
                </c:pt>
                <c:pt idx="5">
                  <c:v>14</c:v>
                </c:pt>
                <c:pt idx="6">
                  <c:v>15</c:v>
                </c:pt>
                <c:pt idx="7">
                  <c:v>16</c:v>
                </c:pt>
                <c:pt idx="8">
                  <c:v>17</c:v>
                </c:pt>
                <c:pt idx="9">
                  <c:v>18</c:v>
                </c:pt>
                <c:pt idx="10">
                  <c:v>19</c:v>
                </c:pt>
                <c:pt idx="11">
                  <c:v>20</c:v>
                </c:pt>
                <c:pt idx="12">
                  <c:v>21</c:v>
                </c:pt>
                <c:pt idx="13">
                  <c:v>22</c:v>
                </c:pt>
                <c:pt idx="14">
                  <c:v>23</c:v>
                </c:pt>
              </c:strCache>
            </c:strRef>
          </c:cat>
          <c:val>
            <c:numRef>
              <c:f>Pivot_Table_AOV!$K$13:$K$27</c:f>
              <c:numCache>
                <c:formatCode>_("$"* #,##0.00_);_("$"* \(#,##0.00\);_("$"* "-"??_);_(@_)</c:formatCode>
                <c:ptCount val="15"/>
                <c:pt idx="0">
                  <c:v>20.75</c:v>
                </c:pt>
                <c:pt idx="1">
                  <c:v>16.869444444444444</c:v>
                </c:pt>
                <c:pt idx="2">
                  <c:v>16.472067448680349</c:v>
                </c:pt>
                <c:pt idx="3">
                  <c:v>16.510906139315221</c:v>
                </c:pt>
                <c:pt idx="4">
                  <c:v>16.539170435053791</c:v>
                </c:pt>
                <c:pt idx="5">
                  <c:v>16.385662884029891</c:v>
                </c:pt>
                <c:pt idx="6">
                  <c:v>16.477705223880594</c:v>
                </c:pt>
                <c:pt idx="7">
                  <c:v>16.526397735314923</c:v>
                </c:pt>
                <c:pt idx="8">
                  <c:v>16.549117251966987</c:v>
                </c:pt>
                <c:pt idx="9">
                  <c:v>16.484557873361634</c:v>
                </c:pt>
                <c:pt idx="10">
                  <c:v>16.48408987743985</c:v>
                </c:pt>
                <c:pt idx="11">
                  <c:v>16.472948500282968</c:v>
                </c:pt>
                <c:pt idx="12">
                  <c:v>16.514656188605109</c:v>
                </c:pt>
                <c:pt idx="13">
                  <c:v>16.461147186147187</c:v>
                </c:pt>
                <c:pt idx="14">
                  <c:v>16.490441176470586</c:v>
                </c:pt>
              </c:numCache>
            </c:numRef>
          </c:val>
          <c:smooth val="1"/>
          <c:extLst>
            <c:ext xmlns:c16="http://schemas.microsoft.com/office/drawing/2014/chart" uri="{C3380CC4-5D6E-409C-BE32-E72D297353CC}">
              <c16:uniqueId val="{00000000-C5AB-42CB-8529-AA3B6AB96F7C}"/>
            </c:ext>
          </c:extLst>
        </c:ser>
        <c:dLbls>
          <c:showLegendKey val="0"/>
          <c:showVal val="0"/>
          <c:showCatName val="0"/>
          <c:showSerName val="0"/>
          <c:showPercent val="0"/>
          <c:showBubbleSize val="0"/>
        </c:dLbls>
        <c:marker val="1"/>
        <c:smooth val="0"/>
        <c:axId val="1484510303"/>
        <c:axId val="1484509343"/>
      </c:lineChart>
      <c:lineChart>
        <c:grouping val="standard"/>
        <c:varyColors val="0"/>
        <c:ser>
          <c:idx val="0"/>
          <c:order val="0"/>
          <c:tx>
            <c:strRef>
              <c:f>Pivot_Table_AOV!$J$12</c:f>
              <c:strCache>
                <c:ptCount val="1"/>
                <c:pt idx="0">
                  <c:v>Revenue per Order (AOV)</c:v>
                </c:pt>
              </c:strCache>
            </c:strRef>
          </c:tx>
          <c:spPr>
            <a:ln w="28575" cap="rnd">
              <a:solidFill>
                <a:schemeClr val="accent1"/>
              </a:solidFill>
              <a:round/>
            </a:ln>
            <a:effectLst/>
          </c:spPr>
          <c:marker>
            <c:symbol val="square"/>
            <c:size val="6"/>
            <c:spPr>
              <a:solidFill>
                <a:srgbClr val="C00000"/>
              </a:solidFill>
              <a:ln w="9525">
                <a:solidFill>
                  <a:schemeClr val="accent1"/>
                </a:solidFill>
              </a:ln>
              <a:effectLst/>
            </c:spPr>
          </c:marker>
          <c:cat>
            <c:strRef>
              <c:f>Pivot_Table_AOV!$I$13:$I$27</c:f>
              <c:strCache>
                <c:ptCount val="15"/>
                <c:pt idx="0">
                  <c:v>9</c:v>
                </c:pt>
                <c:pt idx="1">
                  <c:v>10</c:v>
                </c:pt>
                <c:pt idx="2">
                  <c:v>11</c:v>
                </c:pt>
                <c:pt idx="3">
                  <c:v>12</c:v>
                </c:pt>
                <c:pt idx="4">
                  <c:v>13</c:v>
                </c:pt>
                <c:pt idx="5">
                  <c:v>14</c:v>
                </c:pt>
                <c:pt idx="6">
                  <c:v>15</c:v>
                </c:pt>
                <c:pt idx="7">
                  <c:v>16</c:v>
                </c:pt>
                <c:pt idx="8">
                  <c:v>17</c:v>
                </c:pt>
                <c:pt idx="9">
                  <c:v>18</c:v>
                </c:pt>
                <c:pt idx="10">
                  <c:v>19</c:v>
                </c:pt>
                <c:pt idx="11">
                  <c:v>20</c:v>
                </c:pt>
                <c:pt idx="12">
                  <c:v>21</c:v>
                </c:pt>
                <c:pt idx="13">
                  <c:v>22</c:v>
                </c:pt>
                <c:pt idx="14">
                  <c:v>23</c:v>
                </c:pt>
              </c:strCache>
            </c:strRef>
          </c:cat>
          <c:val>
            <c:numRef>
              <c:f>Pivot_Table_AOV!$J$13:$J$27</c:f>
              <c:numCache>
                <c:formatCode>_("$"* #,##0.00_);_("$"* \(#,##0.00\);_("$"* "-"??_);_(@_)</c:formatCode>
                <c:ptCount val="15"/>
                <c:pt idx="0">
                  <c:v>83</c:v>
                </c:pt>
                <c:pt idx="1">
                  <c:v>37.956249999999997</c:v>
                </c:pt>
                <c:pt idx="2">
                  <c:v>36.503493095044675</c:v>
                </c:pt>
                <c:pt idx="3">
                  <c:v>44.395992063492038</c:v>
                </c:pt>
                <c:pt idx="4">
                  <c:v>43.203951120162913</c:v>
                </c:pt>
                <c:pt idx="5">
                  <c:v>40.218342391304347</c:v>
                </c:pt>
                <c:pt idx="6">
                  <c:v>36.098297002724784</c:v>
                </c:pt>
                <c:pt idx="7">
                  <c:v>36.487187499999983</c:v>
                </c:pt>
                <c:pt idx="8">
                  <c:v>36.916716609589031</c:v>
                </c:pt>
                <c:pt idx="9">
                  <c:v>37.222530220925378</c:v>
                </c:pt>
                <c:pt idx="10">
                  <c:v>36.151767048282714</c:v>
                </c:pt>
                <c:pt idx="11">
                  <c:v>35.45395858708892</c:v>
                </c:pt>
                <c:pt idx="12">
                  <c:v>35.083305509181976</c:v>
                </c:pt>
                <c:pt idx="13">
                  <c:v>34.411990950226247</c:v>
                </c:pt>
                <c:pt idx="14">
                  <c:v>40.04821428571428</c:v>
                </c:pt>
              </c:numCache>
            </c:numRef>
          </c:val>
          <c:smooth val="0"/>
          <c:extLst>
            <c:ext xmlns:c16="http://schemas.microsoft.com/office/drawing/2014/chart" uri="{C3380CC4-5D6E-409C-BE32-E72D297353CC}">
              <c16:uniqueId val="{00000001-C5AB-42CB-8529-AA3B6AB96F7C}"/>
            </c:ext>
          </c:extLst>
        </c:ser>
        <c:dLbls>
          <c:showLegendKey val="0"/>
          <c:showVal val="0"/>
          <c:showCatName val="0"/>
          <c:showSerName val="0"/>
          <c:showPercent val="0"/>
          <c:showBubbleSize val="0"/>
        </c:dLbls>
        <c:marker val="1"/>
        <c:smooth val="0"/>
        <c:axId val="340500543"/>
        <c:axId val="1460048879"/>
      </c:lineChart>
      <c:catAx>
        <c:axId val="148451030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lang="en-US" sz="9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84509343"/>
        <c:crosses val="autoZero"/>
        <c:auto val="1"/>
        <c:lblAlgn val="ctr"/>
        <c:lblOffset val="100"/>
        <c:noMultiLvlLbl val="0"/>
      </c:catAx>
      <c:valAx>
        <c:axId val="1484509343"/>
        <c:scaling>
          <c:orientation val="minMax"/>
          <c:min val="0"/>
        </c:scaling>
        <c:delete val="0"/>
        <c:axPos val="l"/>
        <c:numFmt formatCode="_(&quot;$&quot;* #,##0.00_);_(&quot;$&quot;* \(#,##0.00\);_(&quot;$&quot;* 0??_);_(@_)" sourceLinked="0"/>
        <c:majorTickMark val="out"/>
        <c:minorTickMark val="none"/>
        <c:tickLblPos val="nextTo"/>
        <c:spPr>
          <a:noFill/>
          <a:ln>
            <a:noFill/>
          </a:ln>
          <a:effectLst/>
        </c:spPr>
        <c:txPr>
          <a:bodyPr rot="-60000000" spcFirstLastPara="1" vertOverflow="ellipsis" vert="horz" wrap="square" anchor="ctr" anchorCtr="1"/>
          <a:lstStyle/>
          <a:p>
            <a:pPr algn="ctr">
              <a:defRPr lang="en-US" sz="800" b="1" i="0" u="none" strike="noStrike" kern="1200" baseline="0">
                <a:solidFill>
                  <a:srgbClr val="FFFF00"/>
                </a:solidFill>
                <a:latin typeface="+mn-lt"/>
                <a:ea typeface="+mn-ea"/>
                <a:cs typeface="+mn-cs"/>
              </a:defRPr>
            </a:pPr>
            <a:endParaRPr lang="en-US"/>
          </a:p>
        </c:txPr>
        <c:crossAx val="1484510303"/>
        <c:crosses val="autoZero"/>
        <c:crossBetween val="between"/>
      </c:valAx>
      <c:valAx>
        <c:axId val="1460048879"/>
        <c:scaling>
          <c:orientation val="minMax"/>
        </c:scaling>
        <c:delete val="0"/>
        <c:axPos val="r"/>
        <c:numFmt formatCode="_(&quot;$&quot;* #,##0.00_);_(&quot;$&quot;* \(#,##0.00\);_(&quot;$&quot;* 0??_);_(@_)" sourceLinked="0"/>
        <c:majorTickMark val="out"/>
        <c:minorTickMark val="none"/>
        <c:tickLblPos val="nextTo"/>
        <c:spPr>
          <a:noFill/>
          <a:ln>
            <a:noFill/>
          </a:ln>
          <a:effectLst/>
        </c:spPr>
        <c:txPr>
          <a:bodyPr rot="-60000000" spcFirstLastPara="1" vertOverflow="ellipsis" vert="horz" wrap="square" anchor="ctr" anchorCtr="1"/>
          <a:lstStyle/>
          <a:p>
            <a:pPr algn="ctr">
              <a:defRPr lang="en-US" sz="800" b="1" i="0" u="none" strike="noStrike" kern="1200" baseline="0">
                <a:solidFill>
                  <a:schemeClr val="tx2"/>
                </a:solidFill>
                <a:latin typeface="+mn-lt"/>
                <a:ea typeface="+mn-ea"/>
                <a:cs typeface="+mn-cs"/>
              </a:defRPr>
            </a:pPr>
            <a:endParaRPr lang="en-US"/>
          </a:p>
        </c:txPr>
        <c:crossAx val="340500543"/>
        <c:crosses val="max"/>
        <c:crossBetween val="between"/>
      </c:valAx>
      <c:catAx>
        <c:axId val="340500543"/>
        <c:scaling>
          <c:orientation val="minMax"/>
        </c:scaling>
        <c:delete val="1"/>
        <c:axPos val="b"/>
        <c:numFmt formatCode="General" sourceLinked="1"/>
        <c:majorTickMark val="out"/>
        <c:minorTickMark val="none"/>
        <c:tickLblPos val="nextTo"/>
        <c:crossAx val="1460048879"/>
        <c:crosses val="autoZero"/>
        <c:auto val="1"/>
        <c:lblAlgn val="ctr"/>
        <c:lblOffset val="100"/>
        <c:noMultiLvlLbl val="0"/>
      </c:catAx>
      <c:spPr>
        <a:noFill/>
        <a:ln>
          <a:solidFill>
            <a:schemeClr val="tx1"/>
          </a:solidFill>
        </a:ln>
        <a:effectLst/>
      </c:spPr>
    </c:plotArea>
    <c:legend>
      <c:legendPos val="t"/>
      <c:overlay val="0"/>
      <c:spPr>
        <a:noFill/>
        <a:ln>
          <a:noFill/>
        </a:ln>
        <a:effectLst/>
      </c:spPr>
      <c:txPr>
        <a:bodyPr rot="0" spcFirstLastPara="1" vertOverflow="ellipsis" vert="horz" wrap="square" anchor="ctr" anchorCtr="1"/>
        <a:lstStyle/>
        <a:p>
          <a:pPr>
            <a:defRPr lang="en-US" sz="7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25-Vincent.xlsx]Pivot_Table_Quantities!PivotTable3</c:name>
    <c:fmtId val="51"/>
  </c:pivotSource>
  <c:chart>
    <c:title>
      <c:tx>
        <c:rich>
          <a:bodyPr rot="0" spcFirstLastPara="1" vertOverflow="ellipsis" vert="horz" wrap="square" anchor="ctr" anchorCtr="1"/>
          <a:lstStyle/>
          <a:p>
            <a:pPr>
              <a:defRPr lang="en-US" sz="1100" b="1" i="0" u="none" strike="noStrike" kern="1200" spc="0" baseline="0">
                <a:ln>
                  <a:solidFill>
                    <a:schemeClr val="bg1">
                      <a:lumMod val="95000"/>
                    </a:schemeClr>
                  </a:solidFill>
                </a:ln>
                <a:solidFill>
                  <a:srgbClr val="FFFF00"/>
                </a:solidFill>
                <a:latin typeface="+mn-lt"/>
                <a:ea typeface="+mn-ea"/>
                <a:cs typeface="+mn-cs"/>
              </a:defRPr>
            </a:pPr>
            <a:r>
              <a:rPr lang="en-US" sz="1100" b="0">
                <a:ln>
                  <a:solidFill>
                    <a:srgbClr val="FFFF00"/>
                  </a:solidFill>
                </a:ln>
                <a:solidFill>
                  <a:srgbClr val="FFFF00"/>
                </a:solidFill>
              </a:rPr>
              <a:t>Peak Hour by Quantities</a:t>
            </a:r>
          </a:p>
        </c:rich>
      </c:tx>
      <c:overlay val="0"/>
      <c:spPr>
        <a:noFill/>
        <a:ln>
          <a:noFill/>
        </a:ln>
        <a:effectLst/>
      </c:spPr>
      <c:txPr>
        <a:bodyPr rot="0" spcFirstLastPara="1" vertOverflow="ellipsis" vert="horz" wrap="square" anchor="ctr" anchorCtr="1"/>
        <a:lstStyle/>
        <a:p>
          <a:pPr>
            <a:defRPr lang="en-US" sz="1100" b="1" i="0" u="none" strike="noStrike" kern="1200" spc="0" baseline="0">
              <a:ln>
                <a:solidFill>
                  <a:schemeClr val="bg1">
                    <a:lumMod val="95000"/>
                  </a:schemeClr>
                </a:solidFill>
              </a:ln>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anchor="ctr" anchorCtr="0"/>
            <a:lstStyle/>
            <a:p>
              <a:pPr algn="ctr">
                <a:defRPr lang="en-US" sz="10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255498A7-502C-4CE5-A552-4712CF838BD4}"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4"/>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0DAF634F-DDD3-46F0-BB38-86E199DF1287}"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5"/>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anchor="ctr" anchorCtr="0"/>
            <a:lstStyle/>
            <a:p>
              <a:pPr algn="ctr">
                <a:defRPr lang="en-US" sz="10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0DAF634F-DDD3-46F0-BB38-86E199DF1287}"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8"/>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255498A7-502C-4CE5-A552-4712CF838BD4}"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9"/>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anchor="ctr" anchorCtr="0"/>
            <a:lstStyle/>
            <a:p>
              <a:pPr algn="ctr">
                <a:defRPr lang="en-US" sz="10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0DAF634F-DDD3-46F0-BB38-86E199DF1287}"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11"/>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255498A7-502C-4CE5-A552-4712CF838BD4}"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1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0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pivotFmt>
      <c:pivotFmt>
        <c:idx val="1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pivotFmt>
      <c:pivotFmt>
        <c:idx val="17"/>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0.16691085918447815"/>
              <c:y val="-9.8410515202293686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1.1333322477906806E-16"/>
              <c:y val="-8.6109200802006958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9"/>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layout>
            <c:manualLayout>
              <c:x val="-0.16691085918447812"/>
              <c:y val="-7.9958543601863635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1"/>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2"/>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layout>
            <c:manualLayout>
              <c:x val="-0.16691085918447812"/>
              <c:y val="-7.9958543601863635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4"/>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5"/>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layout>
            <c:manualLayout>
              <c:x val="-0.16691085918447812"/>
              <c:y val="-7.9958543601863635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7"/>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s>
    <c:plotArea>
      <c:layout/>
      <c:lineChart>
        <c:grouping val="standard"/>
        <c:varyColors val="0"/>
        <c:ser>
          <c:idx val="0"/>
          <c:order val="0"/>
          <c:tx>
            <c:strRef>
              <c:f>Pivot_Table_Quantities!$E$6</c:f>
              <c:strCache>
                <c:ptCount val="1"/>
                <c:pt idx="0">
                  <c:v>Total</c:v>
                </c:pt>
              </c:strCache>
            </c:strRef>
          </c:tx>
          <c:spPr>
            <a:ln w="28575" cap="rnd">
              <a:solidFill>
                <a:srgbClr val="FFFF00"/>
              </a:solidFill>
              <a:round/>
            </a:ln>
            <a:effectLst/>
          </c:spPr>
          <c:marker>
            <c:symbol val="circle"/>
            <c:size val="5"/>
            <c:spPr>
              <a:solidFill>
                <a:srgbClr val="A3220D"/>
              </a:solidFill>
              <a:ln w="12700">
                <a:solidFill>
                  <a:srgbClr val="C00000"/>
                </a:solidFill>
              </a:ln>
              <a:effectLst/>
            </c:spPr>
          </c:marker>
          <c:dPt>
            <c:idx val="3"/>
            <c:marker>
              <c:symbol val="circle"/>
              <c:size val="5"/>
              <c:spPr>
                <a:solidFill>
                  <a:srgbClr val="A3220D"/>
                </a:solidFill>
                <a:ln w="12700">
                  <a:solidFill>
                    <a:srgbClr val="C00000"/>
                  </a:solidFill>
                </a:ln>
                <a:effectLst/>
              </c:spPr>
            </c:marker>
            <c:bubble3D val="0"/>
            <c:extLst>
              <c:ext xmlns:c16="http://schemas.microsoft.com/office/drawing/2014/chart" uri="{C3380CC4-5D6E-409C-BE32-E72D297353CC}">
                <c16:uniqueId val="{00000000-F1F4-4BC7-B1A7-BF01BD1CEBCB}"/>
              </c:ext>
            </c:extLst>
          </c:dPt>
          <c:dPt>
            <c:idx val="9"/>
            <c:marker>
              <c:symbol val="circle"/>
              <c:size val="5"/>
              <c:spPr>
                <a:solidFill>
                  <a:srgbClr val="A3220D"/>
                </a:solidFill>
                <a:ln w="12700">
                  <a:solidFill>
                    <a:srgbClr val="C00000"/>
                  </a:solidFill>
                </a:ln>
                <a:effectLst/>
              </c:spPr>
            </c:marker>
            <c:bubble3D val="0"/>
            <c:extLst>
              <c:ext xmlns:c16="http://schemas.microsoft.com/office/drawing/2014/chart" uri="{C3380CC4-5D6E-409C-BE32-E72D297353CC}">
                <c16:uniqueId val="{00000001-F1F4-4BC7-B1A7-BF01BD1CEBCB}"/>
              </c:ext>
            </c:extLst>
          </c:dPt>
          <c:dLbls>
            <c:dLbl>
              <c:idx val="3"/>
              <c:layout>
                <c:manualLayout>
                  <c:x val="-0.16691085918447812"/>
                  <c:y val="-7.9958543601863635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9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0-F1F4-4BC7-B1A7-BF01BD1CEBCB}"/>
                </c:ext>
              </c:extLst>
            </c:dLbl>
            <c:dLbl>
              <c:idx val="9"/>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1-F1F4-4BC7-B1A7-BF01BD1CEBCB}"/>
                </c:ext>
              </c:extLst>
            </c:dLbl>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Pivot_Table_Quantities!$D$7:$D$21</c:f>
              <c:strCache>
                <c:ptCount val="15"/>
                <c:pt idx="0">
                  <c:v>9</c:v>
                </c:pt>
                <c:pt idx="1">
                  <c:v>10</c:v>
                </c:pt>
                <c:pt idx="2">
                  <c:v>11</c:v>
                </c:pt>
                <c:pt idx="3">
                  <c:v>12</c:v>
                </c:pt>
                <c:pt idx="4">
                  <c:v>13</c:v>
                </c:pt>
                <c:pt idx="5">
                  <c:v>14</c:v>
                </c:pt>
                <c:pt idx="6">
                  <c:v>15</c:v>
                </c:pt>
                <c:pt idx="7">
                  <c:v>16</c:v>
                </c:pt>
                <c:pt idx="8">
                  <c:v>17</c:v>
                </c:pt>
                <c:pt idx="9">
                  <c:v>18</c:v>
                </c:pt>
                <c:pt idx="10">
                  <c:v>19</c:v>
                </c:pt>
                <c:pt idx="11">
                  <c:v>20</c:v>
                </c:pt>
                <c:pt idx="12">
                  <c:v>21</c:v>
                </c:pt>
                <c:pt idx="13">
                  <c:v>22</c:v>
                </c:pt>
                <c:pt idx="14">
                  <c:v>23</c:v>
                </c:pt>
              </c:strCache>
            </c:strRef>
          </c:cat>
          <c:val>
            <c:numRef>
              <c:f>Pivot_Table_Quantities!$E$7:$E$21</c:f>
              <c:numCache>
                <c:formatCode>_(* #,##0_);_(* \(#,##0\);_(* "-"??_);_(@_)</c:formatCode>
                <c:ptCount val="15"/>
                <c:pt idx="0">
                  <c:v>4</c:v>
                </c:pt>
                <c:pt idx="1">
                  <c:v>18</c:v>
                </c:pt>
                <c:pt idx="2">
                  <c:v>2728</c:v>
                </c:pt>
                <c:pt idx="3">
                  <c:v>6776</c:v>
                </c:pt>
                <c:pt idx="4">
                  <c:v>6413</c:v>
                </c:pt>
                <c:pt idx="5">
                  <c:v>3613</c:v>
                </c:pt>
                <c:pt idx="6">
                  <c:v>3216</c:v>
                </c:pt>
                <c:pt idx="7">
                  <c:v>4239</c:v>
                </c:pt>
                <c:pt idx="8">
                  <c:v>5211</c:v>
                </c:pt>
                <c:pt idx="9">
                  <c:v>5417</c:v>
                </c:pt>
                <c:pt idx="10">
                  <c:v>4406</c:v>
                </c:pt>
                <c:pt idx="11">
                  <c:v>3534</c:v>
                </c:pt>
                <c:pt idx="12">
                  <c:v>2545</c:v>
                </c:pt>
                <c:pt idx="13">
                  <c:v>1386</c:v>
                </c:pt>
                <c:pt idx="14">
                  <c:v>68</c:v>
                </c:pt>
              </c:numCache>
            </c:numRef>
          </c:val>
          <c:smooth val="1"/>
          <c:extLst>
            <c:ext xmlns:c16="http://schemas.microsoft.com/office/drawing/2014/chart" uri="{C3380CC4-5D6E-409C-BE32-E72D297353CC}">
              <c16:uniqueId val="{00000002-F1F4-4BC7-B1A7-BF01BD1CEBCB}"/>
            </c:ext>
          </c:extLst>
        </c:ser>
        <c:dLbls>
          <c:showLegendKey val="0"/>
          <c:showVal val="0"/>
          <c:showCatName val="0"/>
          <c:showSerName val="0"/>
          <c:showPercent val="0"/>
          <c:showBubbleSize val="0"/>
        </c:dLbls>
        <c:marker val="1"/>
        <c:smooth val="0"/>
        <c:axId val="1484510303"/>
        <c:axId val="1484509343"/>
      </c:lineChart>
      <c:catAx>
        <c:axId val="148451030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lang="en-US" sz="10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84509343"/>
        <c:crosses val="autoZero"/>
        <c:auto val="1"/>
        <c:lblAlgn val="ctr"/>
        <c:lblOffset val="100"/>
        <c:noMultiLvlLbl val="0"/>
      </c:catAx>
      <c:valAx>
        <c:axId val="1484509343"/>
        <c:scaling>
          <c:orientation val="minMax"/>
          <c:min val="0"/>
        </c:scaling>
        <c:delete val="0"/>
        <c:axPos val="l"/>
        <c:numFmt formatCode="_(* #,##0_);_(* \(#,##0\);_(* 0??_);_(@_)" sourceLinked="0"/>
        <c:majorTickMark val="out"/>
        <c:minorTickMark val="none"/>
        <c:tickLblPos val="nextTo"/>
        <c:spPr>
          <a:noFill/>
          <a:ln>
            <a:noFill/>
          </a:ln>
          <a:effectLst/>
        </c:spPr>
        <c:txPr>
          <a:bodyPr rot="-60000000" spcFirstLastPara="1" vertOverflow="ellipsis" vert="horz" wrap="square" anchor="ctr" anchorCtr="1"/>
          <a:lstStyle/>
          <a:p>
            <a:pPr algn="ctr">
              <a:defRPr lang="en-US" sz="900" b="1" i="0" u="none" strike="noStrike" kern="1200" baseline="0">
                <a:solidFill>
                  <a:srgbClr val="FFFF00"/>
                </a:solidFill>
                <a:latin typeface="+mn-lt"/>
                <a:ea typeface="+mn-ea"/>
                <a:cs typeface="+mn-cs"/>
              </a:defRPr>
            </a:pPr>
            <a:endParaRPr lang="en-US"/>
          </a:p>
        </c:txPr>
        <c:crossAx val="148451030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25-Vincent.xlsx]Pivot_Table_Orders!PivotTable3</c:name>
    <c:fmtId val="34"/>
  </c:pivotSource>
  <c:chart>
    <c:title>
      <c:tx>
        <c:rich>
          <a:bodyPr rot="0" spcFirstLastPara="1" vertOverflow="ellipsis" vert="horz" wrap="square" anchor="ctr" anchorCtr="1"/>
          <a:lstStyle/>
          <a:p>
            <a:pPr>
              <a:defRPr lang="en-US" sz="1100" b="1" i="0" u="none" strike="noStrike" kern="1200" spc="0" baseline="0">
                <a:ln>
                  <a:solidFill>
                    <a:schemeClr val="bg1">
                      <a:lumMod val="95000"/>
                    </a:schemeClr>
                  </a:solidFill>
                </a:ln>
                <a:solidFill>
                  <a:srgbClr val="FFFF00"/>
                </a:solidFill>
                <a:latin typeface="+mn-lt"/>
                <a:ea typeface="+mn-ea"/>
                <a:cs typeface="+mn-cs"/>
              </a:defRPr>
            </a:pPr>
            <a:r>
              <a:rPr lang="en-US" sz="1100" b="0">
                <a:ln>
                  <a:solidFill>
                    <a:srgbClr val="FFFF00"/>
                  </a:solidFill>
                </a:ln>
                <a:solidFill>
                  <a:srgbClr val="FFFF00"/>
                </a:solidFill>
              </a:rPr>
              <a:t>Peak Hour by Orders</a:t>
            </a:r>
          </a:p>
        </c:rich>
      </c:tx>
      <c:overlay val="0"/>
      <c:spPr>
        <a:noFill/>
        <a:ln>
          <a:noFill/>
        </a:ln>
        <a:effectLst/>
      </c:spPr>
      <c:txPr>
        <a:bodyPr rot="0" spcFirstLastPara="1" vertOverflow="ellipsis" vert="horz" wrap="square" anchor="ctr" anchorCtr="1"/>
        <a:lstStyle/>
        <a:p>
          <a:pPr>
            <a:defRPr lang="en-US" sz="1100" b="1" i="0" u="none" strike="noStrike" kern="1200" spc="0" baseline="0">
              <a:ln>
                <a:solidFill>
                  <a:schemeClr val="bg1">
                    <a:lumMod val="95000"/>
                  </a:schemeClr>
                </a:solidFill>
              </a:ln>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anchor="ctr" anchorCtr="0"/>
            <a:lstStyle/>
            <a:p>
              <a:pPr algn="ctr">
                <a:defRPr lang="en-US" sz="10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255498A7-502C-4CE5-A552-4712CF838BD4}"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4"/>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0DAF634F-DDD3-46F0-BB38-86E199DF1287}"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5"/>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anchor="ctr" anchorCtr="0"/>
            <a:lstStyle/>
            <a:p>
              <a:pPr algn="ctr">
                <a:defRPr lang="en-US" sz="10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0DAF634F-DDD3-46F0-BB38-86E199DF1287}"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8"/>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255498A7-502C-4CE5-A552-4712CF838BD4}"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9"/>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anchor="ctr" anchorCtr="0"/>
            <a:lstStyle/>
            <a:p>
              <a:pPr algn="ctr">
                <a:defRPr lang="en-US" sz="10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0DAF634F-DDD3-46F0-BB38-86E199DF1287}"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11"/>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255498A7-502C-4CE5-A552-4712CF838BD4}"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1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0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0.17927462653147652"/>
              <c:y val="-9.2259858002150336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7"/>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pivotFmt>
      <c:pivotFmt>
        <c:idx val="1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pivotFmt>
      <c:pivotFmt>
        <c:idx val="19"/>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0.17927462653147652"/>
              <c:y val="-9.2259858002150336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1"/>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pivotFmt>
      <c:pivotFmt>
        <c:idx val="2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3"/>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pivotFmt>
      <c:pivotFmt>
        <c:idx val="2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0.17927462653147652"/>
              <c:y val="-9.2259858002150336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pivotFmt>
      <c:pivotFmt>
        <c:idx val="27"/>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pivotFmt>
    </c:pivotFmts>
    <c:plotArea>
      <c:layout/>
      <c:lineChart>
        <c:grouping val="standard"/>
        <c:varyColors val="0"/>
        <c:ser>
          <c:idx val="0"/>
          <c:order val="0"/>
          <c:tx>
            <c:strRef>
              <c:f>Pivot_Table_Orders!$E$6</c:f>
              <c:strCache>
                <c:ptCount val="1"/>
                <c:pt idx="0">
                  <c:v>Total</c:v>
                </c:pt>
              </c:strCache>
            </c:strRef>
          </c:tx>
          <c:spPr>
            <a:ln w="28575" cap="rnd">
              <a:solidFill>
                <a:srgbClr val="FFFF00"/>
              </a:solidFill>
              <a:round/>
            </a:ln>
            <a:effectLst/>
          </c:spPr>
          <c:marker>
            <c:symbol val="circle"/>
            <c:size val="5"/>
            <c:spPr>
              <a:solidFill>
                <a:srgbClr val="C00000"/>
              </a:solidFill>
              <a:ln w="9525">
                <a:solidFill>
                  <a:srgbClr val="C00000"/>
                </a:solidFill>
              </a:ln>
              <a:effectLst/>
            </c:spPr>
          </c:marker>
          <c:dPt>
            <c:idx val="3"/>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0-24F5-4979-BF44-49B785EE6646}"/>
              </c:ext>
            </c:extLst>
          </c:dPt>
          <c:dPt>
            <c:idx val="4"/>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1-24F5-4979-BF44-49B785EE6646}"/>
              </c:ext>
            </c:extLst>
          </c:dPt>
          <c:dPt>
            <c:idx val="9"/>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2-24F5-4979-BF44-49B785EE6646}"/>
              </c:ext>
            </c:extLst>
          </c:dPt>
          <c:dPt>
            <c:idx val="10"/>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3-24F5-4979-BF44-49B785EE6646}"/>
              </c:ext>
            </c:extLst>
          </c:dPt>
          <c:dLbls>
            <c:dLbl>
              <c:idx val="3"/>
              <c:layout>
                <c:manualLayout>
                  <c:x val="-0.17927462653147652"/>
                  <c:y val="-9.2259858002150336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lang="en-US" sz="9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0-24F5-4979-BF44-49B785EE6646}"/>
                </c:ext>
              </c:extLst>
            </c:dLbl>
            <c:dLbl>
              <c:idx val="9"/>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lang="en-US" sz="9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2-24F5-4979-BF44-49B785EE6646}"/>
                </c:ext>
              </c:extLst>
            </c:dLbl>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Pivot_Table_Orders!$D$7:$D$21</c:f>
              <c:strCache>
                <c:ptCount val="15"/>
                <c:pt idx="0">
                  <c:v>9</c:v>
                </c:pt>
                <c:pt idx="1">
                  <c:v>10</c:v>
                </c:pt>
                <c:pt idx="2">
                  <c:v>11</c:v>
                </c:pt>
                <c:pt idx="3">
                  <c:v>12</c:v>
                </c:pt>
                <c:pt idx="4">
                  <c:v>13</c:v>
                </c:pt>
                <c:pt idx="5">
                  <c:v>14</c:v>
                </c:pt>
                <c:pt idx="6">
                  <c:v>15</c:v>
                </c:pt>
                <c:pt idx="7">
                  <c:v>16</c:v>
                </c:pt>
                <c:pt idx="8">
                  <c:v>17</c:v>
                </c:pt>
                <c:pt idx="9">
                  <c:v>18</c:v>
                </c:pt>
                <c:pt idx="10">
                  <c:v>19</c:v>
                </c:pt>
                <c:pt idx="11">
                  <c:v>20</c:v>
                </c:pt>
                <c:pt idx="12">
                  <c:v>21</c:v>
                </c:pt>
                <c:pt idx="13">
                  <c:v>22</c:v>
                </c:pt>
                <c:pt idx="14">
                  <c:v>23</c:v>
                </c:pt>
              </c:strCache>
            </c:strRef>
          </c:cat>
          <c:val>
            <c:numRef>
              <c:f>Pivot_Table_Orders!$E$7:$E$21</c:f>
              <c:numCache>
                <c:formatCode>_(* #,##0_);_(* \(#,##0\);_(* "-"??_);_(@_)</c:formatCode>
                <c:ptCount val="15"/>
                <c:pt idx="0">
                  <c:v>1</c:v>
                </c:pt>
                <c:pt idx="1">
                  <c:v>8</c:v>
                </c:pt>
                <c:pt idx="2">
                  <c:v>1231</c:v>
                </c:pt>
                <c:pt idx="3">
                  <c:v>2520</c:v>
                </c:pt>
                <c:pt idx="4">
                  <c:v>2455</c:v>
                </c:pt>
                <c:pt idx="5">
                  <c:v>1472</c:v>
                </c:pt>
                <c:pt idx="6">
                  <c:v>1468</c:v>
                </c:pt>
                <c:pt idx="7">
                  <c:v>1920</c:v>
                </c:pt>
                <c:pt idx="8">
                  <c:v>2336</c:v>
                </c:pt>
                <c:pt idx="9">
                  <c:v>2399</c:v>
                </c:pt>
                <c:pt idx="10">
                  <c:v>2009</c:v>
                </c:pt>
                <c:pt idx="11">
                  <c:v>1642</c:v>
                </c:pt>
                <c:pt idx="12">
                  <c:v>1198</c:v>
                </c:pt>
                <c:pt idx="13">
                  <c:v>663</c:v>
                </c:pt>
                <c:pt idx="14">
                  <c:v>28</c:v>
                </c:pt>
              </c:numCache>
            </c:numRef>
          </c:val>
          <c:smooth val="1"/>
          <c:extLst>
            <c:ext xmlns:c16="http://schemas.microsoft.com/office/drawing/2014/chart" uri="{C3380CC4-5D6E-409C-BE32-E72D297353CC}">
              <c16:uniqueId val="{00000004-24F5-4979-BF44-49B785EE6646}"/>
            </c:ext>
          </c:extLst>
        </c:ser>
        <c:dLbls>
          <c:showLegendKey val="0"/>
          <c:showVal val="0"/>
          <c:showCatName val="0"/>
          <c:showSerName val="0"/>
          <c:showPercent val="0"/>
          <c:showBubbleSize val="0"/>
        </c:dLbls>
        <c:marker val="1"/>
        <c:smooth val="0"/>
        <c:axId val="1484510303"/>
        <c:axId val="1484509343"/>
      </c:lineChart>
      <c:catAx>
        <c:axId val="148451030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lang="en-US" sz="9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84509343"/>
        <c:crosses val="autoZero"/>
        <c:auto val="1"/>
        <c:lblAlgn val="ctr"/>
        <c:lblOffset val="100"/>
        <c:noMultiLvlLbl val="0"/>
      </c:catAx>
      <c:valAx>
        <c:axId val="1484509343"/>
        <c:scaling>
          <c:orientation val="minMax"/>
          <c:min val="0"/>
        </c:scaling>
        <c:delete val="0"/>
        <c:axPos val="l"/>
        <c:numFmt formatCode="_(* #,##0_);_(* \(#,##0\);_(* 0??_);_(@_)" sourceLinked="0"/>
        <c:majorTickMark val="out"/>
        <c:minorTickMark val="none"/>
        <c:tickLblPos val="nextTo"/>
        <c:spPr>
          <a:noFill/>
          <a:ln>
            <a:noFill/>
          </a:ln>
          <a:effectLst/>
        </c:spPr>
        <c:txPr>
          <a:bodyPr rot="-60000000" spcFirstLastPara="1" vertOverflow="ellipsis" vert="horz" wrap="square" anchor="ctr" anchorCtr="1"/>
          <a:lstStyle/>
          <a:p>
            <a:pPr algn="ctr">
              <a:defRPr lang="en-US" sz="900" b="1" i="0" u="none" strike="noStrike" kern="1200" baseline="0">
                <a:solidFill>
                  <a:srgbClr val="FFFF00"/>
                </a:solidFill>
                <a:latin typeface="+mn-lt"/>
                <a:ea typeface="+mn-ea"/>
                <a:cs typeface="+mn-cs"/>
              </a:defRPr>
            </a:pPr>
            <a:endParaRPr lang="en-US"/>
          </a:p>
        </c:txPr>
        <c:crossAx val="148451030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25-Vincent.xlsx]Pivot_Table_Revenue!PivotTable2</c:name>
    <c:fmtId val="19"/>
  </c:pivotSource>
  <c:chart>
    <c:title>
      <c:tx>
        <c:rich>
          <a:bodyPr rot="0" spcFirstLastPara="1" vertOverflow="ellipsis" vert="horz" wrap="square" anchor="ctr" anchorCtr="1"/>
          <a:lstStyle/>
          <a:p>
            <a:pPr>
              <a:defRPr sz="1100" b="1" i="0" u="none" strike="noStrike" kern="1200" spc="0" baseline="0">
                <a:solidFill>
                  <a:srgbClr val="FFFF00"/>
                </a:solidFill>
                <a:latin typeface="+mn-lt"/>
                <a:ea typeface="+mn-ea"/>
                <a:cs typeface="+mn-cs"/>
              </a:defRPr>
            </a:pPr>
            <a:r>
              <a:rPr lang="en-US" sz="1100" b="1">
                <a:solidFill>
                  <a:srgbClr val="FFFF00"/>
                </a:solidFill>
              </a:rPr>
              <a:t>Peak Month by Revenue ($)</a:t>
            </a:r>
          </a:p>
        </c:rich>
      </c:tx>
      <c:overlay val="0"/>
      <c:spPr>
        <a:noFill/>
        <a:ln>
          <a:noFill/>
        </a:ln>
        <a:effectLst/>
      </c:spPr>
      <c:txPr>
        <a:bodyPr rot="0" spcFirstLastPara="1" vertOverflow="ellipsis" vert="horz" wrap="square" anchor="ctr" anchorCtr="1"/>
        <a:lstStyle/>
        <a:p>
          <a:pPr>
            <a:defRPr sz="11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s>
    <c:plotArea>
      <c:layout/>
      <c:lineChart>
        <c:grouping val="standard"/>
        <c:varyColors val="0"/>
        <c:ser>
          <c:idx val="0"/>
          <c:order val="0"/>
          <c:tx>
            <c:strRef>
              <c:f>Pivot_Table_Revenue!$B$6</c:f>
              <c:strCache>
                <c:ptCount val="1"/>
                <c:pt idx="0">
                  <c:v>Total</c:v>
                </c:pt>
              </c:strCache>
            </c:strRef>
          </c:tx>
          <c:spPr>
            <a:ln w="28575" cap="rnd">
              <a:solidFill>
                <a:srgbClr val="FFFF00"/>
              </a:solidFill>
              <a:round/>
            </a:ln>
            <a:effectLst/>
          </c:spPr>
          <c:marker>
            <c:symbol val="circle"/>
            <c:size val="6"/>
            <c:spPr>
              <a:solidFill>
                <a:srgbClr val="A3220D"/>
              </a:solidFill>
              <a:ln w="9525">
                <a:solidFill>
                  <a:srgbClr val="A3220D"/>
                </a:solidFill>
              </a:ln>
              <a:effectLst/>
            </c:spPr>
          </c:marker>
          <c:dPt>
            <c:idx val="6"/>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0-9DBD-47D6-B629-A851886BB27B}"/>
              </c:ext>
            </c:extLst>
          </c:dPt>
          <c:dPt>
            <c:idx val="9"/>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1-9DBD-47D6-B629-A851886BB27B}"/>
              </c:ext>
            </c:extLst>
          </c:dPt>
          <c:dLbls>
            <c:dLbl>
              <c:idx val="6"/>
              <c:tx>
                <c:rich>
                  <a:bodyPr rot="0" spcFirstLastPara="1" vertOverflow="clip" horzOverflow="clip" vert="horz" wrap="square" lIns="38100" tIns="19050" rIns="38100" bIns="19050" anchor="ctr" anchorCtr="1">
                    <a:spAutoFit/>
                  </a:bodyPr>
                  <a:lstStyle/>
                  <a:p>
                    <a:pPr>
                      <a:defRPr sz="900" b="0" i="0" u="none" strike="noStrike" kern="1200" baseline="0">
                        <a:solidFill>
                          <a:srgbClr val="C00000"/>
                        </a:solidFill>
                        <a:latin typeface="+mn-lt"/>
                        <a:ea typeface="+mn-ea"/>
                        <a:cs typeface="+mn-cs"/>
                      </a:defRPr>
                    </a:pPr>
                    <a:fld id="{C0FB1BDB-EAFF-4CA8-9A82-25D53D46C7BC}" type="CATEGORYNAME">
                      <a:rPr lang="en-US" sz="900">
                        <a:solidFill>
                          <a:srgbClr val="C00000"/>
                        </a:solidFill>
                      </a:rPr>
                      <a:pPr>
                        <a:defRPr>
                          <a:solidFill>
                            <a:srgbClr val="C00000"/>
                          </a:solidFill>
                        </a:defRPr>
                      </a:pPr>
                      <a:t>[CATEGORY NAME]</a:t>
                    </a:fld>
                    <a:r>
                      <a:rPr lang="en-US" sz="900" baseline="0">
                        <a:solidFill>
                          <a:srgbClr val="C00000"/>
                        </a:solidFill>
                      </a:rPr>
                      <a:t>, </a:t>
                    </a:r>
                    <a:fld id="{53BCD553-8C53-454B-865C-3FB106B46615}" type="VALUE">
                      <a:rPr lang="en-US" sz="900" baseline="0">
                        <a:solidFill>
                          <a:srgbClr val="C00000"/>
                        </a:solidFill>
                      </a:rPr>
                      <a:pPr>
                        <a:defRPr>
                          <a:solidFill>
                            <a:srgbClr val="C00000"/>
                          </a:solidFill>
                        </a:defRPr>
                      </a:pPr>
                      <a:t>[VALUE]</a:t>
                    </a:fld>
                    <a:endParaRPr lang="en-US" sz="900" baseline="0">
                      <a:solidFill>
                        <a:srgbClr val="C00000"/>
                      </a:solidFill>
                    </a:endParaRPr>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rgbClr val="C00000"/>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9DBD-47D6-B629-A851886BB27B}"/>
                </c:ext>
              </c:extLst>
            </c:dLbl>
            <c:dLbl>
              <c:idx val="9"/>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rgbClr val="C00000"/>
                        </a:solidFill>
                        <a:latin typeface="+mn-lt"/>
                        <a:ea typeface="+mn-ea"/>
                        <a:cs typeface="+mn-cs"/>
                      </a:defRPr>
                    </a:pPr>
                    <a:fld id="{C31DC01A-1C53-400B-A8DE-4D5D18A097DE}" type="CATEGORYNAME">
                      <a:rPr lang="en-US" sz="900" b="0" i="0" u="none" strike="noStrike" kern="1200" baseline="0">
                        <a:solidFill>
                          <a:srgbClr val="C00000"/>
                        </a:solidFill>
                        <a:latin typeface="+mn-lt"/>
                        <a:ea typeface="+mn-ea"/>
                        <a:cs typeface="+mn-cs"/>
                      </a:rPr>
                      <a:pPr algn="ctr" rtl="0">
                        <a:defRPr lang="en-US">
                          <a:solidFill>
                            <a:srgbClr val="C00000"/>
                          </a:solidFill>
                        </a:defRPr>
                      </a:pPr>
                      <a:t>[CATEGORY NAME]</a:t>
                    </a:fld>
                    <a:r>
                      <a:rPr lang="en-US" sz="900" b="0" i="0" u="none" strike="noStrike" kern="1200" baseline="0">
                        <a:solidFill>
                          <a:srgbClr val="C00000"/>
                        </a:solidFill>
                        <a:latin typeface="+mn-lt"/>
                        <a:ea typeface="+mn-ea"/>
                        <a:cs typeface="+mn-cs"/>
                      </a:rPr>
                      <a:t>, </a:t>
                    </a:r>
                    <a:fld id="{FD29F36C-5511-466B-952F-510E897A0614}" type="VALUE">
                      <a:rPr lang="en-US" sz="900" b="0" i="0" u="none" strike="noStrike" kern="1200" baseline="0">
                        <a:solidFill>
                          <a:srgbClr val="C00000"/>
                        </a:solidFill>
                        <a:latin typeface="+mn-lt"/>
                        <a:ea typeface="+mn-ea"/>
                        <a:cs typeface="+mn-cs"/>
                      </a:rPr>
                      <a:pPr algn="ctr" rtl="0">
                        <a:defRPr lang="en-US">
                          <a:solidFill>
                            <a:srgbClr val="C00000"/>
                          </a:solidFill>
                        </a:defRPr>
                      </a:pPr>
                      <a:t>[VALUE]</a:t>
                    </a:fld>
                    <a:endParaRPr lang="en-US" sz="900" b="0" i="0" u="none" strike="noStrike" kern="1200" baseline="0">
                      <a:solidFill>
                        <a:srgbClr val="C00000"/>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rgbClr val="C00000"/>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9DBD-47D6-B629-A851886BB27B}"/>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C00000"/>
                    </a:solidFill>
                    <a:latin typeface="+mn-lt"/>
                    <a:ea typeface="+mn-ea"/>
                    <a:cs typeface="+mn-cs"/>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Pivot_Table_Revenue!$B$7:$B$19</c:f>
              <c:numCache>
                <c:formatCode>_("$"* #,##0.00_);_("$"* \(#,##0.00\);_("$"* "-"??_);_(@_)</c:formatCode>
                <c:ptCount val="12"/>
                <c:pt idx="0">
                  <c:v>69793.299999999959</c:v>
                </c:pt>
                <c:pt idx="1">
                  <c:v>65159.6</c:v>
                </c:pt>
                <c:pt idx="2">
                  <c:v>70397.099999999977</c:v>
                </c:pt>
                <c:pt idx="3">
                  <c:v>68736.799999999959</c:v>
                </c:pt>
                <c:pt idx="4">
                  <c:v>71402.749999999985</c:v>
                </c:pt>
                <c:pt idx="5">
                  <c:v>68230.199999999983</c:v>
                </c:pt>
                <c:pt idx="6">
                  <c:v>72557.899999999994</c:v>
                </c:pt>
                <c:pt idx="7">
                  <c:v>68278.249999999985</c:v>
                </c:pt>
                <c:pt idx="8">
                  <c:v>64180.05</c:v>
                </c:pt>
                <c:pt idx="9">
                  <c:v>64027.600000000006</c:v>
                </c:pt>
                <c:pt idx="10">
                  <c:v>70395.349999999977</c:v>
                </c:pt>
                <c:pt idx="11">
                  <c:v>64701.15</c:v>
                </c:pt>
              </c:numCache>
            </c:numRef>
          </c:val>
          <c:smooth val="1"/>
          <c:extLst>
            <c:ext xmlns:c16="http://schemas.microsoft.com/office/drawing/2014/chart" uri="{C3380CC4-5D6E-409C-BE32-E72D297353CC}">
              <c16:uniqueId val="{00000002-9DBD-47D6-B629-A851886BB27B}"/>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0"/>
        <c:axPos val="l"/>
        <c:numFmt formatCode="_(&quot;$&quot;* #,##0.00_);_(&quot;$&quot;* \(#,##0.00\);_(&quot;$&quot;*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rgbClr val="FFFF00"/>
                </a:solidFill>
                <a:latin typeface="+mn-lt"/>
                <a:ea typeface="+mn-ea"/>
                <a:cs typeface="+mn-cs"/>
              </a:defRPr>
            </a:pPr>
            <a:endParaRPr lang="en-US"/>
          </a:p>
        </c:txPr>
        <c:crossAx val="147939334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25-Vincent.xlsx]Pivot_Table_Revenue!PivotTable3</c:name>
    <c:fmtId val="15"/>
  </c:pivotSource>
  <c:chart>
    <c:title>
      <c:tx>
        <c:rich>
          <a:bodyPr rot="0" spcFirstLastPara="1" vertOverflow="ellipsis" vert="horz" wrap="square" anchor="ctr" anchorCtr="1"/>
          <a:lstStyle/>
          <a:p>
            <a:pPr>
              <a:defRPr lang="en-US" sz="1100" b="1" i="0" u="none" strike="noStrike" kern="1200" spc="0" baseline="0">
                <a:ln>
                  <a:solidFill>
                    <a:schemeClr val="bg1">
                      <a:lumMod val="95000"/>
                    </a:schemeClr>
                  </a:solidFill>
                </a:ln>
                <a:solidFill>
                  <a:srgbClr val="FFFF00"/>
                </a:solidFill>
                <a:latin typeface="+mn-lt"/>
                <a:ea typeface="+mn-ea"/>
                <a:cs typeface="+mn-cs"/>
              </a:defRPr>
            </a:pPr>
            <a:r>
              <a:rPr lang="en-US" sz="1100" b="0">
                <a:ln>
                  <a:solidFill>
                    <a:srgbClr val="FFFF00"/>
                  </a:solidFill>
                </a:ln>
                <a:solidFill>
                  <a:srgbClr val="FFFF00"/>
                </a:solidFill>
              </a:rPr>
              <a:t>Peak Hour by Revenue ($)</a:t>
            </a:r>
          </a:p>
        </c:rich>
      </c:tx>
      <c:overlay val="0"/>
      <c:spPr>
        <a:noFill/>
        <a:ln>
          <a:noFill/>
        </a:ln>
        <a:effectLst/>
      </c:spPr>
      <c:txPr>
        <a:bodyPr rot="0" spcFirstLastPara="1" vertOverflow="ellipsis" vert="horz" wrap="square" anchor="ctr" anchorCtr="1"/>
        <a:lstStyle/>
        <a:p>
          <a:pPr>
            <a:defRPr lang="en-US" sz="1100" b="1" i="0" u="none" strike="noStrike" kern="1200" spc="0" baseline="0">
              <a:ln>
                <a:solidFill>
                  <a:schemeClr val="bg1">
                    <a:lumMod val="95000"/>
                  </a:schemeClr>
                </a:solidFill>
              </a:ln>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layout>
            <c:manualLayout>
              <c:x val="-1.1333322477906806E-16"/>
              <c:y val="-8.6109200802007013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layout>
            <c:manualLayout>
              <c:x val="-0.21636592857247167"/>
              <c:y val="-8.6109200802006958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lang="en-US" sz="1050" b="0" i="0" u="none" strike="noStrike" kern="1200" baseline="0">
                  <a:solidFill>
                    <a:schemeClr val="accent2">
                      <a:lumMod val="7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5"/>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pivotFmt>
      <c:pivotFmt>
        <c:idx val="6"/>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pivotFmt>
      <c:pivotFmt>
        <c:idx val="7"/>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pivotFmt>
      <c:pivotFmt>
        <c:idx val="8"/>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pivotFmt>
      <c:pivotFmt>
        <c:idx val="10"/>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layout>
            <c:manualLayout>
              <c:x val="-0.21636592857247167"/>
              <c:y val="-8.6109200802006958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lang="en-US" sz="1050" b="0" i="0" u="none" strike="noStrike" kern="1200" baseline="0">
                  <a:solidFill>
                    <a:schemeClr val="accent2">
                      <a:lumMod val="7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1"/>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pivotFmt>
      <c:pivotFmt>
        <c:idx val="12"/>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layout>
            <c:manualLayout>
              <c:x val="-1.1333322477906806E-16"/>
              <c:y val="-8.6109200802007013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3"/>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layout>
            <c:manualLayout>
              <c:x val="-0.21636592857247167"/>
              <c:y val="-8.6109200802006958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lang="en-US" sz="1050" b="0" i="0" u="none" strike="noStrike" kern="1200" baseline="0">
                  <a:solidFill>
                    <a:schemeClr val="accent2">
                      <a:lumMod val="7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7"/>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layout>
            <c:manualLayout>
              <c:x val="-1.1333322477906806E-16"/>
              <c:y val="-8.6109200802007013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9"/>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pivotFmt>
    </c:pivotFmts>
    <c:plotArea>
      <c:layout/>
      <c:lineChart>
        <c:grouping val="standard"/>
        <c:varyColors val="0"/>
        <c:ser>
          <c:idx val="0"/>
          <c:order val="0"/>
          <c:tx>
            <c:strRef>
              <c:f>Pivot_Table_Revenue!$E$6</c:f>
              <c:strCache>
                <c:ptCount val="1"/>
                <c:pt idx="0">
                  <c:v>Total</c:v>
                </c:pt>
              </c:strCache>
            </c:strRef>
          </c:tx>
          <c:spPr>
            <a:ln w="28575" cap="rnd">
              <a:solidFill>
                <a:srgbClr val="FFFF00"/>
              </a:solidFill>
              <a:round/>
            </a:ln>
            <a:effectLst/>
          </c:spPr>
          <c:marker>
            <c:symbol val="circle"/>
            <c:size val="5"/>
            <c:spPr>
              <a:solidFill>
                <a:srgbClr val="C00000">
                  <a:alpha val="99000"/>
                </a:srgbClr>
              </a:solidFill>
              <a:ln w="9525">
                <a:solidFill>
                  <a:srgbClr val="A3220D"/>
                </a:solidFill>
              </a:ln>
              <a:effectLst/>
            </c:spPr>
          </c:marker>
          <c:dPt>
            <c:idx val="0"/>
            <c:marker>
              <c:symbol val="circle"/>
              <c:size val="5"/>
              <c:spPr>
                <a:solidFill>
                  <a:srgbClr val="C00000">
                    <a:alpha val="99000"/>
                  </a:srgbClr>
                </a:solidFill>
                <a:ln w="9525">
                  <a:solidFill>
                    <a:srgbClr val="A3220D"/>
                  </a:solidFill>
                </a:ln>
                <a:effectLst/>
              </c:spPr>
            </c:marker>
            <c:bubble3D val="0"/>
            <c:extLst>
              <c:ext xmlns:c16="http://schemas.microsoft.com/office/drawing/2014/chart" uri="{C3380CC4-5D6E-409C-BE32-E72D297353CC}">
                <c16:uniqueId val="{00000000-C7DA-493A-82C0-0BA826B7BF7A}"/>
              </c:ext>
            </c:extLst>
          </c:dPt>
          <c:dPt>
            <c:idx val="3"/>
            <c:marker>
              <c:symbol val="circle"/>
              <c:size val="5"/>
              <c:spPr>
                <a:solidFill>
                  <a:srgbClr val="C00000">
                    <a:alpha val="99000"/>
                  </a:srgbClr>
                </a:solidFill>
                <a:ln w="9525">
                  <a:solidFill>
                    <a:srgbClr val="A3220D"/>
                  </a:solidFill>
                </a:ln>
                <a:effectLst/>
              </c:spPr>
            </c:marker>
            <c:bubble3D val="0"/>
            <c:extLst>
              <c:ext xmlns:c16="http://schemas.microsoft.com/office/drawing/2014/chart" uri="{C3380CC4-5D6E-409C-BE32-E72D297353CC}">
                <c16:uniqueId val="{00000001-C7DA-493A-82C0-0BA826B7BF7A}"/>
              </c:ext>
            </c:extLst>
          </c:dPt>
          <c:dPt>
            <c:idx val="4"/>
            <c:marker>
              <c:symbol val="circle"/>
              <c:size val="5"/>
              <c:spPr>
                <a:solidFill>
                  <a:srgbClr val="C00000">
                    <a:alpha val="99000"/>
                  </a:srgbClr>
                </a:solidFill>
                <a:ln w="9525">
                  <a:solidFill>
                    <a:srgbClr val="A3220D"/>
                  </a:solidFill>
                </a:ln>
                <a:effectLst/>
              </c:spPr>
            </c:marker>
            <c:bubble3D val="0"/>
            <c:extLst>
              <c:ext xmlns:c16="http://schemas.microsoft.com/office/drawing/2014/chart" uri="{C3380CC4-5D6E-409C-BE32-E72D297353CC}">
                <c16:uniqueId val="{00000002-C7DA-493A-82C0-0BA826B7BF7A}"/>
              </c:ext>
            </c:extLst>
          </c:dPt>
          <c:dPt>
            <c:idx val="9"/>
            <c:marker>
              <c:symbol val="circle"/>
              <c:size val="5"/>
              <c:spPr>
                <a:solidFill>
                  <a:srgbClr val="C00000">
                    <a:alpha val="99000"/>
                  </a:srgbClr>
                </a:solidFill>
                <a:ln w="9525">
                  <a:solidFill>
                    <a:srgbClr val="A3220D"/>
                  </a:solidFill>
                </a:ln>
                <a:effectLst/>
              </c:spPr>
            </c:marker>
            <c:bubble3D val="0"/>
            <c:extLst>
              <c:ext xmlns:c16="http://schemas.microsoft.com/office/drawing/2014/chart" uri="{C3380CC4-5D6E-409C-BE32-E72D297353CC}">
                <c16:uniqueId val="{00000003-C7DA-493A-82C0-0BA826B7BF7A}"/>
              </c:ext>
            </c:extLst>
          </c:dPt>
          <c:dPt>
            <c:idx val="10"/>
            <c:marker>
              <c:symbol val="circle"/>
              <c:size val="5"/>
              <c:spPr>
                <a:solidFill>
                  <a:srgbClr val="C00000">
                    <a:alpha val="99000"/>
                  </a:srgbClr>
                </a:solidFill>
                <a:ln w="9525">
                  <a:solidFill>
                    <a:srgbClr val="A3220D"/>
                  </a:solidFill>
                </a:ln>
                <a:effectLst/>
              </c:spPr>
            </c:marker>
            <c:bubble3D val="0"/>
            <c:extLst>
              <c:ext xmlns:c16="http://schemas.microsoft.com/office/drawing/2014/chart" uri="{C3380CC4-5D6E-409C-BE32-E72D297353CC}">
                <c16:uniqueId val="{00000004-C7DA-493A-82C0-0BA826B7BF7A}"/>
              </c:ext>
            </c:extLst>
          </c:dPt>
          <c:dLbls>
            <c:dLbl>
              <c:idx val="3"/>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lang="en-US" sz="8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1-C7DA-493A-82C0-0BA826B7BF7A}"/>
                </c:ext>
              </c:extLst>
            </c:dLbl>
            <c:dLbl>
              <c:idx val="9"/>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lang="en-US" sz="8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3-C7DA-493A-82C0-0BA826B7BF7A}"/>
                </c:ext>
              </c:extLst>
            </c:dLbl>
            <c:spPr>
              <a:noFill/>
              <a:ln>
                <a:noFill/>
              </a:ln>
              <a:effectLst/>
            </c:spPr>
            <c:txPr>
              <a:bodyPr rot="0" spcFirstLastPara="1" vertOverflow="ellipsis" vert="horz" wrap="square" lIns="38100" tIns="19050" rIns="38100" bIns="19050" anchor="ctr" anchorCtr="1">
                <a:spAutoFit/>
              </a:bodyPr>
              <a:lstStyle/>
              <a:p>
                <a:pPr>
                  <a:defRPr lang="en-US" sz="8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Pivot_Table_Revenue!$D$7:$D$21</c:f>
              <c:strCache>
                <c:ptCount val="15"/>
                <c:pt idx="0">
                  <c:v>9</c:v>
                </c:pt>
                <c:pt idx="1">
                  <c:v>10</c:v>
                </c:pt>
                <c:pt idx="2">
                  <c:v>11</c:v>
                </c:pt>
                <c:pt idx="3">
                  <c:v>12</c:v>
                </c:pt>
                <c:pt idx="4">
                  <c:v>13</c:v>
                </c:pt>
                <c:pt idx="5">
                  <c:v>14</c:v>
                </c:pt>
                <c:pt idx="6">
                  <c:v>15</c:v>
                </c:pt>
                <c:pt idx="7">
                  <c:v>16</c:v>
                </c:pt>
                <c:pt idx="8">
                  <c:v>17</c:v>
                </c:pt>
                <c:pt idx="9">
                  <c:v>18</c:v>
                </c:pt>
                <c:pt idx="10">
                  <c:v>19</c:v>
                </c:pt>
                <c:pt idx="11">
                  <c:v>20</c:v>
                </c:pt>
                <c:pt idx="12">
                  <c:v>21</c:v>
                </c:pt>
                <c:pt idx="13">
                  <c:v>22</c:v>
                </c:pt>
                <c:pt idx="14">
                  <c:v>23</c:v>
                </c:pt>
              </c:strCache>
            </c:strRef>
          </c:cat>
          <c:val>
            <c:numRef>
              <c:f>Pivot_Table_Revenue!$E$7:$E$21</c:f>
              <c:numCache>
                <c:formatCode>_("$"* #,##0.00_);_("$"* \(#,##0.00\);_("$"* "-"??_);_(@_)</c:formatCode>
                <c:ptCount val="15"/>
                <c:pt idx="0">
                  <c:v>83</c:v>
                </c:pt>
                <c:pt idx="1">
                  <c:v>303.64999999999998</c:v>
                </c:pt>
                <c:pt idx="2">
                  <c:v>44935.799999999996</c:v>
                </c:pt>
                <c:pt idx="3">
                  <c:v>111877.89999999994</c:v>
                </c:pt>
                <c:pt idx="4">
                  <c:v>106065.69999999995</c:v>
                </c:pt>
                <c:pt idx="5">
                  <c:v>59201.4</c:v>
                </c:pt>
                <c:pt idx="6">
                  <c:v>52992.299999999988</c:v>
                </c:pt>
                <c:pt idx="7">
                  <c:v>70055.399999999965</c:v>
                </c:pt>
                <c:pt idx="8">
                  <c:v>86237.449999999968</c:v>
                </c:pt>
                <c:pt idx="9">
                  <c:v>89296.849999999977</c:v>
                </c:pt>
                <c:pt idx="10">
                  <c:v>72628.89999999998</c:v>
                </c:pt>
                <c:pt idx="11">
                  <c:v>58215.4</c:v>
                </c:pt>
                <c:pt idx="12">
                  <c:v>42029.8</c:v>
                </c:pt>
                <c:pt idx="13">
                  <c:v>22815.15</c:v>
                </c:pt>
                <c:pt idx="14">
                  <c:v>1121.3499999999999</c:v>
                </c:pt>
              </c:numCache>
            </c:numRef>
          </c:val>
          <c:smooth val="1"/>
          <c:extLst>
            <c:ext xmlns:c16="http://schemas.microsoft.com/office/drawing/2014/chart" uri="{C3380CC4-5D6E-409C-BE32-E72D297353CC}">
              <c16:uniqueId val="{00000005-C7DA-493A-82C0-0BA826B7BF7A}"/>
            </c:ext>
          </c:extLst>
        </c:ser>
        <c:dLbls>
          <c:showLegendKey val="0"/>
          <c:showVal val="0"/>
          <c:showCatName val="0"/>
          <c:showSerName val="0"/>
          <c:showPercent val="0"/>
          <c:showBubbleSize val="0"/>
        </c:dLbls>
        <c:marker val="1"/>
        <c:smooth val="0"/>
        <c:axId val="1484510303"/>
        <c:axId val="1484509343"/>
      </c:lineChart>
      <c:catAx>
        <c:axId val="148451030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lang="en-US" sz="9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84509343"/>
        <c:crosses val="autoZero"/>
        <c:auto val="1"/>
        <c:lblAlgn val="ctr"/>
        <c:lblOffset val="100"/>
        <c:noMultiLvlLbl val="0"/>
      </c:catAx>
      <c:valAx>
        <c:axId val="1484509343"/>
        <c:scaling>
          <c:orientation val="minMax"/>
          <c:max val="140000"/>
          <c:min val="0"/>
        </c:scaling>
        <c:delete val="0"/>
        <c:axPos val="l"/>
        <c:numFmt formatCode="_(&quot;$&quot;* #,##0_);_(&quot;$&quot;* \(#,##0\);_(&quot;$&quot;* 0??_);_(@_)" sourceLinked="0"/>
        <c:majorTickMark val="out"/>
        <c:minorTickMark val="none"/>
        <c:tickLblPos val="nextTo"/>
        <c:spPr>
          <a:noFill/>
          <a:ln>
            <a:noFill/>
          </a:ln>
          <a:effectLst/>
        </c:spPr>
        <c:txPr>
          <a:bodyPr rot="-60000000" spcFirstLastPara="1" vertOverflow="ellipsis" vert="horz" wrap="square" anchor="ctr" anchorCtr="1"/>
          <a:lstStyle/>
          <a:p>
            <a:pPr algn="ctr">
              <a:defRPr lang="en-US" sz="900" b="1" i="0" u="none" strike="noStrike" kern="1200" baseline="0">
                <a:solidFill>
                  <a:srgbClr val="FFFF00"/>
                </a:solidFill>
                <a:latin typeface="+mn-lt"/>
                <a:ea typeface="+mn-ea"/>
                <a:cs typeface="+mn-cs"/>
              </a:defRPr>
            </a:pPr>
            <a:endParaRPr lang="en-US"/>
          </a:p>
        </c:txPr>
        <c:crossAx val="1484510303"/>
        <c:crosses val="autoZero"/>
        <c:crossBetween val="between"/>
        <c:majorUnit val="20000"/>
        <c:minorUnit val="4000"/>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25-Vincent.xlsx]Pivot_Table_Revenue!PivotTable2</c:name>
    <c:fmtId val="22"/>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Revenue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s>
    <c:plotArea>
      <c:layout/>
      <c:lineChart>
        <c:grouping val="standard"/>
        <c:varyColors val="0"/>
        <c:ser>
          <c:idx val="0"/>
          <c:order val="0"/>
          <c:tx>
            <c:strRef>
              <c:f>Pivot_Table_Revenue!$B$6</c:f>
              <c:strCache>
                <c:ptCount val="1"/>
                <c:pt idx="0">
                  <c:v>Total</c:v>
                </c:pt>
              </c:strCache>
            </c:strRef>
          </c:tx>
          <c:spPr>
            <a:ln w="28575" cap="rnd">
              <a:solidFill>
                <a:srgbClr val="FFFF00"/>
              </a:solidFill>
              <a:round/>
            </a:ln>
            <a:effectLst/>
          </c:spPr>
          <c:marker>
            <c:symbol val="circle"/>
            <c:size val="6"/>
            <c:spPr>
              <a:solidFill>
                <a:srgbClr val="A3220D"/>
              </a:solidFill>
              <a:ln w="9525">
                <a:solidFill>
                  <a:srgbClr val="A3220D"/>
                </a:solidFill>
              </a:ln>
              <a:effectLst/>
            </c:spPr>
          </c:marker>
          <c:dPt>
            <c:idx val="6"/>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0-3546-41C6-9568-ACE011080E29}"/>
              </c:ext>
            </c:extLst>
          </c:dPt>
          <c:dPt>
            <c:idx val="9"/>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1-3546-41C6-9568-ACE011080E29}"/>
              </c:ext>
            </c:extLst>
          </c:dPt>
          <c:dLbls>
            <c:dLbl>
              <c:idx val="6"/>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a:pPr>
                      <a:t>[CATEGORY NAME]</a:t>
                    </a:fld>
                    <a:r>
                      <a:rPr lang="en-US" sz="900" baseline="0"/>
                      <a:t>, </a:t>
                    </a:r>
                    <a:fld id="{53BCD553-8C53-454B-865C-3FB106B46615}" type="VALUE">
                      <a:rPr lang="en-US" sz="900" baseline="0">
                        <a:solidFill>
                          <a:schemeClr val="accent2">
                            <a:lumMod val="75000"/>
                          </a:schemeClr>
                        </a:solidFill>
                      </a:rPr>
                      <a:pPr>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3546-41C6-9568-ACE011080E29}"/>
                </c:ext>
              </c:extLst>
            </c:dLbl>
            <c:dLbl>
              <c:idx val="9"/>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546-41C6-9568-ACE011080E29}"/>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Pivot_Table_Revenue!$B$7:$B$19</c:f>
              <c:numCache>
                <c:formatCode>_("$"* #,##0.00_);_("$"* \(#,##0.00\);_("$"* "-"??_);_(@_)</c:formatCode>
                <c:ptCount val="12"/>
                <c:pt idx="0">
                  <c:v>69793.299999999959</c:v>
                </c:pt>
                <c:pt idx="1">
                  <c:v>65159.6</c:v>
                </c:pt>
                <c:pt idx="2">
                  <c:v>70397.099999999977</c:v>
                </c:pt>
                <c:pt idx="3">
                  <c:v>68736.799999999959</c:v>
                </c:pt>
                <c:pt idx="4">
                  <c:v>71402.749999999985</c:v>
                </c:pt>
                <c:pt idx="5">
                  <c:v>68230.199999999983</c:v>
                </c:pt>
                <c:pt idx="6">
                  <c:v>72557.899999999994</c:v>
                </c:pt>
                <c:pt idx="7">
                  <c:v>68278.249999999985</c:v>
                </c:pt>
                <c:pt idx="8">
                  <c:v>64180.05</c:v>
                </c:pt>
                <c:pt idx="9">
                  <c:v>64027.600000000006</c:v>
                </c:pt>
                <c:pt idx="10">
                  <c:v>70395.349999999977</c:v>
                </c:pt>
                <c:pt idx="11">
                  <c:v>64701.15</c:v>
                </c:pt>
              </c:numCache>
            </c:numRef>
          </c:val>
          <c:smooth val="1"/>
          <c:extLst>
            <c:ext xmlns:c16="http://schemas.microsoft.com/office/drawing/2014/chart" uri="{C3380CC4-5D6E-409C-BE32-E72D297353CC}">
              <c16:uniqueId val="{00000002-3546-41C6-9568-ACE011080E2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quot;$&quot;* #,##0.00_);_(&quot;$&quot;* \(#,##0.00\);_(&quot;$&quot;* &quot;-&quot;??_);_(@_)" sourceLinked="1"/>
        <c:majorTickMark val="out"/>
        <c:minorTickMark val="none"/>
        <c:tickLblPos val="nextTo"/>
        <c:crossAx val="147939334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25-Vincent.xlsx]Pivot_Table_Revenue!PivotTable2</c:name>
    <c:fmtId val="-1"/>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Revenue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s>
    <c:plotArea>
      <c:layout/>
      <c:lineChart>
        <c:grouping val="standard"/>
        <c:varyColors val="0"/>
        <c:ser>
          <c:idx val="0"/>
          <c:order val="0"/>
          <c:tx>
            <c:strRef>
              <c:f>Pivot_Table_Revenue!$B$6</c:f>
              <c:strCache>
                <c:ptCount val="1"/>
                <c:pt idx="0">
                  <c:v>Total</c:v>
                </c:pt>
              </c:strCache>
            </c:strRef>
          </c:tx>
          <c:spPr>
            <a:ln w="28575" cap="rnd">
              <a:solidFill>
                <a:srgbClr val="FFFF00"/>
              </a:solidFill>
              <a:round/>
            </a:ln>
            <a:effectLst/>
          </c:spPr>
          <c:marker>
            <c:symbol val="circle"/>
            <c:size val="6"/>
            <c:spPr>
              <a:solidFill>
                <a:srgbClr val="A3220D"/>
              </a:solidFill>
              <a:ln w="9525">
                <a:solidFill>
                  <a:srgbClr val="A3220D"/>
                </a:solidFill>
              </a:ln>
              <a:effectLst/>
            </c:spPr>
          </c:marker>
          <c:dPt>
            <c:idx val="6"/>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0-3546-41C6-9568-ACE011080E29}"/>
              </c:ext>
            </c:extLst>
          </c:dPt>
          <c:dPt>
            <c:idx val="9"/>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1-3546-41C6-9568-ACE011080E29}"/>
              </c:ext>
            </c:extLst>
          </c:dPt>
          <c:dLbls>
            <c:dLbl>
              <c:idx val="6"/>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a:pPr>
                      <a:t>[CATEGORY NAME]</a:t>
                    </a:fld>
                    <a:r>
                      <a:rPr lang="en-US" sz="900" baseline="0"/>
                      <a:t>, </a:t>
                    </a:r>
                    <a:fld id="{53BCD553-8C53-454B-865C-3FB106B46615}" type="VALUE">
                      <a:rPr lang="en-US" sz="900" baseline="0">
                        <a:solidFill>
                          <a:schemeClr val="accent2">
                            <a:lumMod val="75000"/>
                          </a:schemeClr>
                        </a:solidFill>
                      </a:rPr>
                      <a:pPr>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3546-41C6-9568-ACE011080E29}"/>
                </c:ext>
              </c:extLst>
            </c:dLbl>
            <c:dLbl>
              <c:idx val="9"/>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546-41C6-9568-ACE011080E29}"/>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Pivot_Table_Revenue!$B$7:$B$19</c:f>
              <c:numCache>
                <c:formatCode>_("$"* #,##0.00_);_("$"* \(#,##0.00\);_("$"* "-"??_);_(@_)</c:formatCode>
                <c:ptCount val="12"/>
                <c:pt idx="0">
                  <c:v>69793.299999999959</c:v>
                </c:pt>
                <c:pt idx="1">
                  <c:v>65159.6</c:v>
                </c:pt>
                <c:pt idx="2">
                  <c:v>70397.099999999977</c:v>
                </c:pt>
                <c:pt idx="3">
                  <c:v>68736.799999999959</c:v>
                </c:pt>
                <c:pt idx="4">
                  <c:v>71402.749999999985</c:v>
                </c:pt>
                <c:pt idx="5">
                  <c:v>68230.199999999983</c:v>
                </c:pt>
                <c:pt idx="6">
                  <c:v>72557.899999999994</c:v>
                </c:pt>
                <c:pt idx="7">
                  <c:v>68278.249999999985</c:v>
                </c:pt>
                <c:pt idx="8">
                  <c:v>64180.05</c:v>
                </c:pt>
                <c:pt idx="9">
                  <c:v>64027.600000000006</c:v>
                </c:pt>
                <c:pt idx="10">
                  <c:v>70395.349999999977</c:v>
                </c:pt>
                <c:pt idx="11">
                  <c:v>64701.15</c:v>
                </c:pt>
              </c:numCache>
            </c:numRef>
          </c:val>
          <c:smooth val="1"/>
          <c:extLst>
            <c:ext xmlns:c16="http://schemas.microsoft.com/office/drawing/2014/chart" uri="{C3380CC4-5D6E-409C-BE32-E72D297353CC}">
              <c16:uniqueId val="{00000002-3546-41C6-9568-ACE011080E2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quot;$&quot;* #,##0.00_);_(&quot;$&quot;* \(#,##0.00\);_(&quot;$&quot;* &quot;-&quot;??_);_(@_)" sourceLinked="1"/>
        <c:majorTickMark val="out"/>
        <c:minorTickMark val="none"/>
        <c:tickLblPos val="nextTo"/>
        <c:crossAx val="147939334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25-Vincent.xlsx]Pivot_Table_Revenue!PivotTable2</c:name>
    <c:fmtId val="-1"/>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Revenue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s>
    <c:plotArea>
      <c:layout/>
      <c:lineChart>
        <c:grouping val="standard"/>
        <c:varyColors val="0"/>
        <c:ser>
          <c:idx val="0"/>
          <c:order val="0"/>
          <c:tx>
            <c:strRef>
              <c:f>Pivot_Table_Revenue!$B$6</c:f>
              <c:strCache>
                <c:ptCount val="1"/>
                <c:pt idx="0">
                  <c:v>Total</c:v>
                </c:pt>
              </c:strCache>
            </c:strRef>
          </c:tx>
          <c:spPr>
            <a:ln w="28575" cap="rnd">
              <a:solidFill>
                <a:srgbClr val="FFFF00"/>
              </a:solidFill>
              <a:round/>
            </a:ln>
            <a:effectLst/>
          </c:spPr>
          <c:marker>
            <c:symbol val="circle"/>
            <c:size val="6"/>
            <c:spPr>
              <a:solidFill>
                <a:srgbClr val="A3220D"/>
              </a:solidFill>
              <a:ln w="9525">
                <a:solidFill>
                  <a:srgbClr val="A3220D"/>
                </a:solidFill>
              </a:ln>
              <a:effectLst/>
            </c:spPr>
          </c:marker>
          <c:dPt>
            <c:idx val="6"/>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0-3546-41C6-9568-ACE011080E29}"/>
              </c:ext>
            </c:extLst>
          </c:dPt>
          <c:dPt>
            <c:idx val="9"/>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1-3546-41C6-9568-ACE011080E29}"/>
              </c:ext>
            </c:extLst>
          </c:dPt>
          <c:dLbls>
            <c:dLbl>
              <c:idx val="6"/>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a:pPr>
                      <a:t>[CATEGORY NAME]</a:t>
                    </a:fld>
                    <a:r>
                      <a:rPr lang="en-US" sz="900" baseline="0"/>
                      <a:t>, </a:t>
                    </a:r>
                    <a:fld id="{53BCD553-8C53-454B-865C-3FB106B46615}" type="VALUE">
                      <a:rPr lang="en-US" sz="900" baseline="0">
                        <a:solidFill>
                          <a:schemeClr val="accent2">
                            <a:lumMod val="75000"/>
                          </a:schemeClr>
                        </a:solidFill>
                      </a:rPr>
                      <a:pPr>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3546-41C6-9568-ACE011080E29}"/>
                </c:ext>
              </c:extLst>
            </c:dLbl>
            <c:dLbl>
              <c:idx val="9"/>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546-41C6-9568-ACE011080E29}"/>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Pivot_Table_Revenue!$B$7:$B$19</c:f>
              <c:numCache>
                <c:formatCode>_("$"* #,##0.00_);_("$"* \(#,##0.00\);_("$"* "-"??_);_(@_)</c:formatCode>
                <c:ptCount val="12"/>
                <c:pt idx="0">
                  <c:v>69793.299999999959</c:v>
                </c:pt>
                <c:pt idx="1">
                  <c:v>65159.6</c:v>
                </c:pt>
                <c:pt idx="2">
                  <c:v>70397.099999999977</c:v>
                </c:pt>
                <c:pt idx="3">
                  <c:v>68736.799999999959</c:v>
                </c:pt>
                <c:pt idx="4">
                  <c:v>71402.749999999985</c:v>
                </c:pt>
                <c:pt idx="5">
                  <c:v>68230.199999999983</c:v>
                </c:pt>
                <c:pt idx="6">
                  <c:v>72557.899999999994</c:v>
                </c:pt>
                <c:pt idx="7">
                  <c:v>68278.249999999985</c:v>
                </c:pt>
                <c:pt idx="8">
                  <c:v>64180.05</c:v>
                </c:pt>
                <c:pt idx="9">
                  <c:v>64027.600000000006</c:v>
                </c:pt>
                <c:pt idx="10">
                  <c:v>70395.349999999977</c:v>
                </c:pt>
                <c:pt idx="11">
                  <c:v>64701.15</c:v>
                </c:pt>
              </c:numCache>
            </c:numRef>
          </c:val>
          <c:smooth val="1"/>
          <c:extLst>
            <c:ext xmlns:c16="http://schemas.microsoft.com/office/drawing/2014/chart" uri="{C3380CC4-5D6E-409C-BE32-E72D297353CC}">
              <c16:uniqueId val="{00000002-3546-41C6-9568-ACE011080E2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quot;$&quot;* #,##0.00_);_(&quot;$&quot;* \(#,##0.00\);_(&quot;$&quot;* &quot;-&quot;??_);_(@_)" sourceLinked="1"/>
        <c:majorTickMark val="out"/>
        <c:minorTickMark val="none"/>
        <c:tickLblPos val="nextTo"/>
        <c:crossAx val="14793933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25-Vincent.xlsx]Pivot_Table_Revenue!PivotTable2</c:name>
    <c:fmtId val="-1"/>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Revenue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s>
    <c:plotArea>
      <c:layout/>
      <c:lineChart>
        <c:grouping val="standard"/>
        <c:varyColors val="0"/>
        <c:ser>
          <c:idx val="0"/>
          <c:order val="0"/>
          <c:tx>
            <c:strRef>
              <c:f>Pivot_Table_Revenue!$B$6</c:f>
              <c:strCache>
                <c:ptCount val="1"/>
                <c:pt idx="0">
                  <c:v>Total</c:v>
                </c:pt>
              </c:strCache>
            </c:strRef>
          </c:tx>
          <c:spPr>
            <a:ln w="28575" cap="rnd">
              <a:solidFill>
                <a:srgbClr val="FFFF00"/>
              </a:solidFill>
              <a:round/>
            </a:ln>
            <a:effectLst/>
          </c:spPr>
          <c:marker>
            <c:symbol val="circle"/>
            <c:size val="6"/>
            <c:spPr>
              <a:solidFill>
                <a:srgbClr val="A3220D"/>
              </a:solidFill>
              <a:ln w="9525">
                <a:solidFill>
                  <a:srgbClr val="A3220D"/>
                </a:solidFill>
              </a:ln>
              <a:effectLst/>
            </c:spPr>
          </c:marker>
          <c:dPt>
            <c:idx val="6"/>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0-3546-41C6-9568-ACE011080E29}"/>
              </c:ext>
            </c:extLst>
          </c:dPt>
          <c:dPt>
            <c:idx val="9"/>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1-3546-41C6-9568-ACE011080E29}"/>
              </c:ext>
            </c:extLst>
          </c:dPt>
          <c:dLbls>
            <c:dLbl>
              <c:idx val="6"/>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a:pPr>
                      <a:t>[CATEGORY NAME]</a:t>
                    </a:fld>
                    <a:r>
                      <a:rPr lang="en-US" sz="900" baseline="0"/>
                      <a:t>, </a:t>
                    </a:r>
                    <a:fld id="{53BCD553-8C53-454B-865C-3FB106B46615}" type="VALUE">
                      <a:rPr lang="en-US" sz="900" baseline="0">
                        <a:solidFill>
                          <a:schemeClr val="accent2">
                            <a:lumMod val="75000"/>
                          </a:schemeClr>
                        </a:solidFill>
                      </a:rPr>
                      <a:pPr>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3546-41C6-9568-ACE011080E29}"/>
                </c:ext>
              </c:extLst>
            </c:dLbl>
            <c:dLbl>
              <c:idx val="9"/>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546-41C6-9568-ACE011080E29}"/>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Pivot_Table_Revenue!$B$7:$B$19</c:f>
              <c:numCache>
                <c:formatCode>_("$"* #,##0.00_);_("$"* \(#,##0.00\);_("$"* "-"??_);_(@_)</c:formatCode>
                <c:ptCount val="12"/>
                <c:pt idx="0">
                  <c:v>69793.299999999959</c:v>
                </c:pt>
                <c:pt idx="1">
                  <c:v>65159.6</c:v>
                </c:pt>
                <c:pt idx="2">
                  <c:v>70397.099999999977</c:v>
                </c:pt>
                <c:pt idx="3">
                  <c:v>68736.799999999959</c:v>
                </c:pt>
                <c:pt idx="4">
                  <c:v>71402.749999999985</c:v>
                </c:pt>
                <c:pt idx="5">
                  <c:v>68230.199999999983</c:v>
                </c:pt>
                <c:pt idx="6">
                  <c:v>72557.899999999994</c:v>
                </c:pt>
                <c:pt idx="7">
                  <c:v>68278.249999999985</c:v>
                </c:pt>
                <c:pt idx="8">
                  <c:v>64180.05</c:v>
                </c:pt>
                <c:pt idx="9">
                  <c:v>64027.600000000006</c:v>
                </c:pt>
                <c:pt idx="10">
                  <c:v>70395.349999999977</c:v>
                </c:pt>
                <c:pt idx="11">
                  <c:v>64701.15</c:v>
                </c:pt>
              </c:numCache>
            </c:numRef>
          </c:val>
          <c:smooth val="1"/>
          <c:extLst>
            <c:ext xmlns:c16="http://schemas.microsoft.com/office/drawing/2014/chart" uri="{C3380CC4-5D6E-409C-BE32-E72D297353CC}">
              <c16:uniqueId val="{00000002-3546-41C6-9568-ACE011080E2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quot;$&quot;* #,##0.00_);_(&quot;$&quot;* \(#,##0.00\);_(&quot;$&quot;* &quot;-&quot;??_);_(@_)" sourceLinked="1"/>
        <c:majorTickMark val="out"/>
        <c:minorTickMark val="none"/>
        <c:tickLblPos val="nextTo"/>
        <c:crossAx val="14793933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25-Vincent.xlsx]Pivot_Table_Orders!PivotTable2</c:name>
    <c:fmtId val="47"/>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Orders</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1"/>
        <c:spPr>
          <a:solidFill>
            <a:schemeClr val="accent1"/>
          </a:solidFill>
          <a:ln w="28575" cap="rnd">
            <a:solidFill>
              <a:srgbClr val="FFFF00"/>
            </a:solidFill>
            <a:round/>
          </a:ln>
          <a:effectLst/>
        </c:spPr>
        <c:marker>
          <c:symbol val="circle"/>
          <c:size val="5"/>
          <c:spPr>
            <a:solidFill>
              <a:srgbClr val="C00000"/>
            </a:solidFill>
            <a:ln w="1587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2"/>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3"/>
        <c:dLbl>
          <c:idx val="0"/>
          <c:layout>
            <c:manualLayout>
              <c:x val="-7.2200020444024751E-2"/>
              <c:y val="0.1134132757334779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50" b="0" i="0" u="none" strike="noStrike" kern="1200" baseline="0">
                  <a:solidFill>
                    <a:schemeClr val="accent2">
                      <a:lumMod val="75000"/>
                    </a:schemeClr>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7"/>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9"/>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s>
    <c:plotArea>
      <c:layout/>
      <c:lineChart>
        <c:grouping val="standard"/>
        <c:varyColors val="0"/>
        <c:ser>
          <c:idx val="0"/>
          <c:order val="0"/>
          <c:tx>
            <c:strRef>
              <c:f>Pivot_Table_Orders!$B$6</c:f>
              <c:strCache>
                <c:ptCount val="1"/>
                <c:pt idx="0">
                  <c:v>Total</c:v>
                </c:pt>
              </c:strCache>
            </c:strRef>
          </c:tx>
          <c:spPr>
            <a:ln w="28575" cap="rnd">
              <a:solidFill>
                <a:srgbClr val="FFFF00"/>
              </a:solidFill>
              <a:round/>
            </a:ln>
            <a:effectLst/>
          </c:spPr>
          <c:marker>
            <c:symbol val="circle"/>
            <c:size val="5"/>
            <c:spPr>
              <a:solidFill>
                <a:srgbClr val="C00000"/>
              </a:solidFill>
              <a:ln w="9525">
                <a:solidFill>
                  <a:srgbClr val="C00000"/>
                </a:solidFill>
              </a:ln>
              <a:effectLst/>
            </c:spPr>
          </c:marker>
          <c:dPt>
            <c:idx val="6"/>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0-5531-4238-884D-237060372F7F}"/>
              </c:ext>
            </c:extLst>
          </c:dPt>
          <c:dPt>
            <c:idx val="9"/>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1-5531-4238-884D-237060372F7F}"/>
              </c:ext>
            </c:extLst>
          </c:dPt>
          <c:dLbls>
            <c:dLbl>
              <c:idx val="6"/>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rgbClr val="C00000"/>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0-5531-4238-884D-237060372F7F}"/>
                </c:ext>
              </c:extLst>
            </c:dLbl>
            <c:dLbl>
              <c:idx val="9"/>
              <c:layout>
                <c:manualLayout>
                  <c:x val="-0.30247913840010687"/>
                  <c:y val="0.1140224960733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16435468964872041"/>
                      <c:h val="0.29227572847119015"/>
                    </c:manualLayout>
                  </c15:layout>
                </c:ext>
                <c:ext xmlns:c16="http://schemas.microsoft.com/office/drawing/2014/chart" uri="{C3380CC4-5D6E-409C-BE32-E72D297353CC}">
                  <c16:uniqueId val="{00000001-5531-4238-884D-237060372F7F}"/>
                </c:ext>
              </c:extLst>
            </c:dLbl>
            <c:spPr>
              <a:solidFill>
                <a:srgbClr val="C00000"/>
              </a:solid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rgbClr val="C00000"/>
                    </a:solidFill>
                    <a:latin typeface="+mn-lt"/>
                    <a:ea typeface="+mn-ea"/>
                    <a:cs typeface="+mn-cs"/>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Pivot_Table_Orders!$A$7:$A$19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Pivot_Table_Orders!$B$7:$B$19</c:f>
              <c:numCache>
                <c:formatCode>_(* #,##0_);_(* \(#,##0\);_(* "-"??_);_(@_)</c:formatCode>
                <c:ptCount val="12"/>
                <c:pt idx="0">
                  <c:v>1845</c:v>
                </c:pt>
                <c:pt idx="1">
                  <c:v>1685</c:v>
                </c:pt>
                <c:pt idx="2">
                  <c:v>1840</c:v>
                </c:pt>
                <c:pt idx="3">
                  <c:v>1799</c:v>
                </c:pt>
                <c:pt idx="4">
                  <c:v>1853</c:v>
                </c:pt>
                <c:pt idx="5">
                  <c:v>1773</c:v>
                </c:pt>
                <c:pt idx="6">
                  <c:v>1935</c:v>
                </c:pt>
                <c:pt idx="7">
                  <c:v>1841</c:v>
                </c:pt>
                <c:pt idx="8">
                  <c:v>1661</c:v>
                </c:pt>
                <c:pt idx="9">
                  <c:v>1646</c:v>
                </c:pt>
                <c:pt idx="10">
                  <c:v>1792</c:v>
                </c:pt>
                <c:pt idx="11">
                  <c:v>1680</c:v>
                </c:pt>
              </c:numCache>
            </c:numRef>
          </c:val>
          <c:smooth val="1"/>
          <c:extLst>
            <c:ext xmlns:c16="http://schemas.microsoft.com/office/drawing/2014/chart" uri="{C3380CC4-5D6E-409C-BE32-E72D297353CC}">
              <c16:uniqueId val="{00000002-5531-4238-884D-237060372F7F}"/>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 #,##0_);_(* \(#,##0\);_(* &quot;-&quot;??_);_(@_)" sourceLinked="1"/>
        <c:majorTickMark val="out"/>
        <c:minorTickMark val="none"/>
        <c:tickLblPos val="nextTo"/>
        <c:crossAx val="147939334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25-Vincent.xlsx]Pivot_Table_Quantities!PivotTable2</c:name>
    <c:fmtId val="66"/>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Quantities</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1"/>
        <c:spPr>
          <a:solidFill>
            <a:schemeClr val="accent1"/>
          </a:solidFill>
          <a:ln w="28575" cap="rnd">
            <a:solidFill>
              <a:srgbClr val="FFFF00"/>
            </a:solidFill>
            <a:round/>
          </a:ln>
          <a:effectLst/>
        </c:spPr>
        <c:marker>
          <c:symbol val="circle"/>
          <c:size val="5"/>
          <c:spPr>
            <a:solidFill>
              <a:srgbClr val="C00000"/>
            </a:solidFill>
            <a:ln w="1587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2"/>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3"/>
        <c:dLbl>
          <c:idx val="0"/>
          <c:layout>
            <c:manualLayout>
              <c:x val="-7.2200020444024751E-2"/>
              <c:y val="0.1134132757334779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50" b="0" i="0" u="none" strike="noStrike" kern="1200" baseline="0">
                  <a:solidFill>
                    <a:schemeClr val="accent2">
                      <a:lumMod val="75000"/>
                    </a:schemeClr>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7"/>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9"/>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3"/>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s>
    <c:plotArea>
      <c:layout/>
      <c:lineChart>
        <c:grouping val="standard"/>
        <c:varyColors val="0"/>
        <c:ser>
          <c:idx val="0"/>
          <c:order val="0"/>
          <c:tx>
            <c:strRef>
              <c:f>Pivot_Table_Quantities!$B$6</c:f>
              <c:strCache>
                <c:ptCount val="1"/>
                <c:pt idx="0">
                  <c:v>Total</c:v>
                </c:pt>
              </c:strCache>
            </c:strRef>
          </c:tx>
          <c:spPr>
            <a:ln w="28575" cap="rnd">
              <a:solidFill>
                <a:srgbClr val="FFFF00"/>
              </a:solidFill>
              <a:round/>
            </a:ln>
            <a:effectLst/>
          </c:spPr>
          <c:marker>
            <c:symbol val="circle"/>
            <c:size val="5"/>
            <c:spPr>
              <a:solidFill>
                <a:srgbClr val="C00000"/>
              </a:solidFill>
              <a:ln w="9525">
                <a:solidFill>
                  <a:srgbClr val="C00000"/>
                </a:solidFill>
              </a:ln>
              <a:effectLst/>
            </c:spPr>
          </c:marker>
          <c:dPt>
            <c:idx val="6"/>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0-8645-4AF1-B699-F1656AF63C79}"/>
              </c:ext>
            </c:extLst>
          </c:dPt>
          <c:dPt>
            <c:idx val="9"/>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1-8645-4AF1-B699-F1656AF63C79}"/>
              </c:ext>
            </c:extLst>
          </c:dPt>
          <c:dLbls>
            <c:dLbl>
              <c:idx val="6"/>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0-8645-4AF1-B699-F1656AF63C79}"/>
                </c:ext>
              </c:extLst>
            </c:dLbl>
            <c:dLbl>
              <c:idx val="9"/>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1-8645-4AF1-B699-F1656AF63C79}"/>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Pivot_Table_Quantities!$A$7:$A$19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Pivot_Table_Quantities!$B$7:$B$19</c:f>
              <c:numCache>
                <c:formatCode>_(* #,##0_);_(* \(#,##0\);_(* "-"??_);_(@_)</c:formatCode>
                <c:ptCount val="12"/>
                <c:pt idx="0">
                  <c:v>4232</c:v>
                </c:pt>
                <c:pt idx="1">
                  <c:v>3961</c:v>
                </c:pt>
                <c:pt idx="2">
                  <c:v>4261</c:v>
                </c:pt>
                <c:pt idx="3">
                  <c:v>4151</c:v>
                </c:pt>
                <c:pt idx="4">
                  <c:v>4328</c:v>
                </c:pt>
                <c:pt idx="5">
                  <c:v>4107</c:v>
                </c:pt>
                <c:pt idx="6">
                  <c:v>4392</c:v>
                </c:pt>
                <c:pt idx="7">
                  <c:v>4168</c:v>
                </c:pt>
                <c:pt idx="8">
                  <c:v>3890</c:v>
                </c:pt>
                <c:pt idx="9">
                  <c:v>3883</c:v>
                </c:pt>
                <c:pt idx="10">
                  <c:v>4266</c:v>
                </c:pt>
                <c:pt idx="11">
                  <c:v>3935</c:v>
                </c:pt>
              </c:numCache>
            </c:numRef>
          </c:val>
          <c:smooth val="1"/>
          <c:extLst>
            <c:ext xmlns:c16="http://schemas.microsoft.com/office/drawing/2014/chart" uri="{C3380CC4-5D6E-409C-BE32-E72D297353CC}">
              <c16:uniqueId val="{00000002-8645-4AF1-B699-F1656AF63C7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 #,##0_);_(* \(#,##0\);_(* &quot;-&quot;??_);_(@_)" sourceLinked="1"/>
        <c:majorTickMark val="out"/>
        <c:minorTickMark val="none"/>
        <c:tickLblPos val="nextTo"/>
        <c:crossAx val="147939334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25-Vincent.xlsx]Pivot_Table_AOV!PivotTable2</c:name>
    <c:fmtId val="78"/>
  </c:pivotSource>
  <c:chart>
    <c:title>
      <c:tx>
        <c:rich>
          <a:bodyPr rot="0" spcFirstLastPara="1" vertOverflow="ellipsis" vert="horz" wrap="square" anchor="ctr" anchorCtr="1"/>
          <a:lstStyle/>
          <a:p>
            <a:pPr>
              <a:defRPr sz="1100" b="1" i="0" u="none" strike="noStrike" kern="1200" spc="0" baseline="0">
                <a:solidFill>
                  <a:srgbClr val="FFFF00"/>
                </a:solidFill>
                <a:latin typeface="+mn-lt"/>
                <a:ea typeface="+mn-ea"/>
                <a:cs typeface="+mn-cs"/>
              </a:defRPr>
            </a:pPr>
            <a:r>
              <a:rPr lang="en-US" sz="1100" b="1">
                <a:solidFill>
                  <a:srgbClr val="FFFF00"/>
                </a:solidFill>
              </a:rPr>
              <a:t>Monthly AOV and Revenue per Pizza</a:t>
            </a:r>
          </a:p>
        </c:rich>
      </c:tx>
      <c:overlay val="0"/>
      <c:spPr>
        <a:noFill/>
        <a:ln>
          <a:noFill/>
        </a:ln>
        <a:effectLst/>
      </c:spPr>
      <c:txPr>
        <a:bodyPr rot="0" spcFirstLastPara="1" vertOverflow="ellipsis" vert="horz" wrap="square" anchor="ctr" anchorCtr="1"/>
        <a:lstStyle/>
        <a:p>
          <a:pPr>
            <a:defRPr sz="11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1"/>
        <c:spPr>
          <a:solidFill>
            <a:schemeClr val="accent1"/>
          </a:solidFill>
          <a:ln w="28575" cap="rnd">
            <a:solidFill>
              <a:srgbClr val="FFFF00"/>
            </a:solidFill>
            <a:round/>
          </a:ln>
          <a:effectLst/>
        </c:spPr>
        <c:marker>
          <c:symbol val="circle"/>
          <c:size val="5"/>
          <c:spPr>
            <a:solidFill>
              <a:srgbClr val="C00000"/>
            </a:solidFill>
            <a:ln w="1587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2"/>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3"/>
        <c:dLbl>
          <c:idx val="0"/>
          <c:layout>
            <c:manualLayout>
              <c:x val="-7.2200020444024751E-2"/>
              <c:y val="0.1134132757334779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50" b="0" i="0" u="none" strike="noStrike" kern="1200" baseline="0">
                  <a:solidFill>
                    <a:schemeClr val="accent2">
                      <a:lumMod val="75000"/>
                    </a:schemeClr>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7"/>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9"/>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3"/>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solidFill>
            <a:schemeClr val="accent1"/>
          </a:solidFill>
          <a:ln w="28575" cap="rnd">
            <a:solidFill>
              <a:schemeClr val="accent1"/>
            </a:solidFill>
            <a:round/>
          </a:ln>
          <a:effectLst/>
        </c:spPr>
        <c:marker>
          <c:symbol val="square"/>
          <c:size val="5"/>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9"/>
        <c:spPr>
          <a:solidFill>
            <a:schemeClr val="accent1"/>
          </a:solidFill>
          <a:ln w="28575" cap="rnd">
            <a:solidFill>
              <a:schemeClr val="accent1"/>
            </a:solidFill>
            <a:round/>
          </a:ln>
          <a:effectLst/>
        </c:spPr>
        <c:marker>
          <c:symbol val="square"/>
          <c:size val="5"/>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1"/>
        <c:spPr>
          <a:solidFill>
            <a:schemeClr val="accent1"/>
          </a:solidFill>
          <a:ln w="28575" cap="rnd">
            <a:solidFill>
              <a:schemeClr val="accent1"/>
            </a:solidFill>
            <a:round/>
          </a:ln>
          <a:effectLst/>
        </c:spPr>
        <c:marker>
          <c:symbol val="square"/>
          <c:size val="5"/>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1"/>
          <c:order val="1"/>
          <c:tx>
            <c:strRef>
              <c:f>Pivot_Table_AOV!$C$6</c:f>
              <c:strCache>
                <c:ptCount val="1"/>
                <c:pt idx="0">
                  <c:v>Revenue per Pizza</c:v>
                </c:pt>
              </c:strCache>
            </c:strRef>
          </c:tx>
          <c:spPr>
            <a:ln w="28575" cap="rnd">
              <a:solidFill>
                <a:srgbClr val="FFFF00"/>
              </a:solidFill>
              <a:round/>
            </a:ln>
            <a:effectLst/>
          </c:spPr>
          <c:marker>
            <c:symbol val="circle"/>
            <c:size val="5"/>
            <c:spPr>
              <a:solidFill>
                <a:srgbClr val="C00000"/>
              </a:solidFill>
              <a:ln w="9525">
                <a:solidFill>
                  <a:srgbClr val="C00000"/>
                </a:solidFill>
              </a:ln>
              <a:effectLst/>
            </c:spPr>
          </c:marker>
          <c:cat>
            <c:strRef>
              <c:f>Pivot_Table_AOV!$A$7:$A$19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Pivot_Table_AOV!$C$7:$C$19</c:f>
              <c:numCache>
                <c:formatCode>_("$"* #,##0.00_);_("$"* \(#,##0.00\);_("$"* "-"??_);_(@_)</c:formatCode>
                <c:ptCount val="12"/>
                <c:pt idx="0">
                  <c:v>16.491800567107742</c:v>
                </c:pt>
                <c:pt idx="1">
                  <c:v>16.450290330724563</c:v>
                </c:pt>
                <c:pt idx="2">
                  <c:v>16.521262614409757</c:v>
                </c:pt>
                <c:pt idx="3">
                  <c:v>16.559094194170068</c:v>
                </c:pt>
                <c:pt idx="4">
                  <c:v>16.497862754158962</c:v>
                </c:pt>
                <c:pt idx="5">
                  <c:v>16.61314828341855</c:v>
                </c:pt>
                <c:pt idx="6">
                  <c:v>16.520469034608379</c:v>
                </c:pt>
                <c:pt idx="7">
                  <c:v>16.381537907869479</c:v>
                </c:pt>
                <c:pt idx="8">
                  <c:v>16.498727506426736</c:v>
                </c:pt>
                <c:pt idx="9">
                  <c:v>16.489209374195212</c:v>
                </c:pt>
                <c:pt idx="10">
                  <c:v>16.501488513830282</c:v>
                </c:pt>
                <c:pt idx="11">
                  <c:v>16.442477763659468</c:v>
                </c:pt>
              </c:numCache>
            </c:numRef>
          </c:val>
          <c:smooth val="1"/>
          <c:extLst>
            <c:ext xmlns:c16="http://schemas.microsoft.com/office/drawing/2014/chart" uri="{C3380CC4-5D6E-409C-BE32-E72D297353CC}">
              <c16:uniqueId val="{00000000-F5F6-4496-B275-7466C6284DD3}"/>
            </c:ext>
          </c:extLst>
        </c:ser>
        <c:dLbls>
          <c:showLegendKey val="0"/>
          <c:showVal val="0"/>
          <c:showCatName val="0"/>
          <c:showSerName val="0"/>
          <c:showPercent val="0"/>
          <c:showBubbleSize val="0"/>
        </c:dLbls>
        <c:marker val="1"/>
        <c:smooth val="0"/>
        <c:axId val="1479393343"/>
        <c:axId val="1479393823"/>
      </c:lineChart>
      <c:lineChart>
        <c:grouping val="standard"/>
        <c:varyColors val="0"/>
        <c:ser>
          <c:idx val="0"/>
          <c:order val="0"/>
          <c:tx>
            <c:strRef>
              <c:f>Pivot_Table_AOV!$B$6</c:f>
              <c:strCache>
                <c:ptCount val="1"/>
                <c:pt idx="0">
                  <c:v>Revenue per Order (AOV)</c:v>
                </c:pt>
              </c:strCache>
            </c:strRef>
          </c:tx>
          <c:spPr>
            <a:ln w="28575" cap="rnd">
              <a:solidFill>
                <a:schemeClr val="accent1"/>
              </a:solidFill>
              <a:round/>
            </a:ln>
            <a:effectLst/>
          </c:spPr>
          <c:marker>
            <c:symbol val="square"/>
            <c:size val="5"/>
            <c:spPr>
              <a:solidFill>
                <a:srgbClr val="C00000"/>
              </a:solidFill>
              <a:ln w="9525">
                <a:solidFill>
                  <a:schemeClr val="accent1"/>
                </a:solidFill>
              </a:ln>
              <a:effectLst/>
            </c:spPr>
          </c:marker>
          <c:cat>
            <c:strRef>
              <c:f>Pivot_Table_AOV!$A$7:$A$19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Pivot_Table_AOV!$B$7:$B$19</c:f>
              <c:numCache>
                <c:formatCode>_("$"* #,##0.00_);_("$"* \(#,##0.00\);_("$"* "-"??_);_(@_)</c:formatCode>
                <c:ptCount val="12"/>
                <c:pt idx="0">
                  <c:v>37.828346883468811</c:v>
                </c:pt>
                <c:pt idx="1">
                  <c:v>38.670385756676559</c:v>
                </c:pt>
                <c:pt idx="2">
                  <c:v>38.259293478260858</c:v>
                </c:pt>
                <c:pt idx="3">
                  <c:v>38.208337965536387</c:v>
                </c:pt>
                <c:pt idx="4">
                  <c:v>38.533594171613593</c:v>
                </c:pt>
                <c:pt idx="5">
                  <c:v>38.482910321488994</c:v>
                </c:pt>
                <c:pt idx="6">
                  <c:v>37.497622739018084</c:v>
                </c:pt>
                <c:pt idx="7">
                  <c:v>37.087588267246055</c:v>
                </c:pt>
                <c:pt idx="8">
                  <c:v>38.639403973509935</c:v>
                </c:pt>
                <c:pt idx="9">
                  <c:v>38.898906439854194</c:v>
                </c:pt>
                <c:pt idx="10">
                  <c:v>39.283119419642844</c:v>
                </c:pt>
                <c:pt idx="11">
                  <c:v>38.512589285714284</c:v>
                </c:pt>
              </c:numCache>
            </c:numRef>
          </c:val>
          <c:smooth val="1"/>
          <c:extLst>
            <c:ext xmlns:c16="http://schemas.microsoft.com/office/drawing/2014/chart" uri="{C3380CC4-5D6E-409C-BE32-E72D297353CC}">
              <c16:uniqueId val="{00000001-F5F6-4496-B275-7466C6284DD3}"/>
            </c:ext>
          </c:extLst>
        </c:ser>
        <c:dLbls>
          <c:showLegendKey val="0"/>
          <c:showVal val="0"/>
          <c:showCatName val="0"/>
          <c:showSerName val="0"/>
          <c:showPercent val="0"/>
          <c:showBubbleSize val="0"/>
        </c:dLbls>
        <c:marker val="1"/>
        <c:smooth val="0"/>
        <c:axId val="981756559"/>
        <c:axId val="981745039"/>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0"/>
        <c:axPos val="l"/>
        <c:numFmt formatCode="_(&quot;$&quot;* #,##0.00_);_(&quot;$&quot;* \(#,##0.00\);_(&quot;$&quot;*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rgbClr val="FFFF00"/>
                </a:solidFill>
                <a:latin typeface="+mn-lt"/>
                <a:ea typeface="+mn-ea"/>
                <a:cs typeface="+mn-cs"/>
              </a:defRPr>
            </a:pPr>
            <a:endParaRPr lang="en-US"/>
          </a:p>
        </c:txPr>
        <c:crossAx val="1479393343"/>
        <c:crosses val="autoZero"/>
        <c:crossBetween val="between"/>
      </c:valAx>
      <c:valAx>
        <c:axId val="981745039"/>
        <c:scaling>
          <c:orientation val="minMax"/>
        </c:scaling>
        <c:delete val="0"/>
        <c:axPos val="r"/>
        <c:numFmt formatCode="_(&quot;$&quot;* #,##0.00_);_(&quot;$&quot;* \(#,##0.00\);_(&quot;$&quot;*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2"/>
                </a:solidFill>
                <a:latin typeface="+mn-lt"/>
                <a:ea typeface="+mn-ea"/>
                <a:cs typeface="+mn-cs"/>
              </a:defRPr>
            </a:pPr>
            <a:endParaRPr lang="en-US"/>
          </a:p>
        </c:txPr>
        <c:crossAx val="981756559"/>
        <c:crosses val="max"/>
        <c:crossBetween val="between"/>
      </c:valAx>
      <c:catAx>
        <c:axId val="981756559"/>
        <c:scaling>
          <c:orientation val="minMax"/>
        </c:scaling>
        <c:delete val="1"/>
        <c:axPos val="b"/>
        <c:numFmt formatCode="General" sourceLinked="1"/>
        <c:majorTickMark val="out"/>
        <c:minorTickMark val="none"/>
        <c:tickLblPos val="nextTo"/>
        <c:crossAx val="981745039"/>
        <c:crosses val="autoZero"/>
        <c:auto val="1"/>
        <c:lblAlgn val="ctr"/>
        <c:lblOffset val="100"/>
        <c:noMultiLvlLbl val="0"/>
      </c:catAx>
      <c:spPr>
        <a:noFill/>
        <a:ln>
          <a:solidFill>
            <a:schemeClr val="tx1"/>
          </a:solid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25-Vincent.xlsx]Pivot_Table_AOV!PivotTable4</c:name>
    <c:fmtId val="62"/>
  </c:pivotSource>
  <c:chart>
    <c:title>
      <c:tx>
        <c:rich>
          <a:bodyPr rot="0" spcFirstLastPara="1" vertOverflow="ellipsis" vert="horz" wrap="square" anchor="ctr" anchorCtr="1"/>
          <a:lstStyle/>
          <a:p>
            <a:pPr>
              <a:defRPr lang="en-US" sz="1100" b="1" i="0" u="none" strike="noStrike" kern="1200" spc="0" baseline="0">
                <a:ln>
                  <a:solidFill>
                    <a:schemeClr val="bg1">
                      <a:lumMod val="95000"/>
                    </a:schemeClr>
                  </a:solidFill>
                </a:ln>
                <a:solidFill>
                  <a:srgbClr val="FFFF00"/>
                </a:solidFill>
                <a:latin typeface="+mn-lt"/>
                <a:ea typeface="+mn-ea"/>
                <a:cs typeface="+mn-cs"/>
              </a:defRPr>
            </a:pPr>
            <a:r>
              <a:rPr lang="en-US" sz="1100" b="0">
                <a:ln>
                  <a:solidFill>
                    <a:srgbClr val="FFFF00"/>
                  </a:solidFill>
                </a:ln>
                <a:solidFill>
                  <a:srgbClr val="FFFF00"/>
                </a:solidFill>
              </a:rPr>
              <a:t>Hourly AOV and Revenue</a:t>
            </a:r>
            <a:r>
              <a:rPr lang="en-US" sz="1100" b="0" baseline="0">
                <a:ln>
                  <a:solidFill>
                    <a:srgbClr val="FFFF00"/>
                  </a:solidFill>
                </a:ln>
                <a:solidFill>
                  <a:srgbClr val="FFFF00"/>
                </a:solidFill>
              </a:rPr>
              <a:t> per Pizza</a:t>
            </a:r>
            <a:endParaRPr lang="en-US" sz="1100" b="0">
              <a:ln>
                <a:solidFill>
                  <a:srgbClr val="FFFF00"/>
                </a:solidFill>
              </a:ln>
              <a:solidFill>
                <a:srgbClr val="FFFF00"/>
              </a:solidFill>
            </a:endParaRPr>
          </a:p>
        </c:rich>
      </c:tx>
      <c:overlay val="0"/>
      <c:spPr>
        <a:noFill/>
        <a:ln>
          <a:noFill/>
        </a:ln>
        <a:effectLst/>
      </c:spPr>
      <c:txPr>
        <a:bodyPr rot="0" spcFirstLastPara="1" vertOverflow="ellipsis" vert="horz" wrap="square" anchor="ctr" anchorCtr="1"/>
        <a:lstStyle/>
        <a:p>
          <a:pPr>
            <a:defRPr lang="en-US" sz="1100" b="1" i="0" u="none" strike="noStrike" kern="1200" spc="0" baseline="0">
              <a:ln>
                <a:solidFill>
                  <a:schemeClr val="bg1">
                    <a:lumMod val="95000"/>
                  </a:schemeClr>
                </a:solidFill>
              </a:ln>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anchor="ctr" anchorCtr="0"/>
            <a:lstStyle/>
            <a:p>
              <a:pPr algn="ctr">
                <a:defRPr lang="en-US" sz="10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255498A7-502C-4CE5-A552-4712CF838BD4}"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4"/>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0DAF634F-DDD3-46F0-BB38-86E199DF1287}"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5"/>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anchor="ctr" anchorCtr="0"/>
            <a:lstStyle/>
            <a:p>
              <a:pPr algn="ctr">
                <a:defRPr lang="en-US" sz="10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0DAF634F-DDD3-46F0-BB38-86E199DF1287}"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8"/>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255498A7-502C-4CE5-A552-4712CF838BD4}"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9"/>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anchor="ctr" anchorCtr="0"/>
            <a:lstStyle/>
            <a:p>
              <a:pPr algn="ctr">
                <a:defRPr lang="en-US" sz="10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0DAF634F-DDD3-46F0-BB38-86E199DF1287}"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11"/>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255498A7-502C-4CE5-A552-4712CF838BD4}"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1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0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pivotFmt>
      <c:pivotFmt>
        <c:idx val="1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pivotFmt>
      <c:pivotFmt>
        <c:idx val="17"/>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0.16691085918447815"/>
              <c:y val="-9.8410515202293686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1.1333322477906806E-16"/>
              <c:y val="-8.6109200802006958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9"/>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layout>
            <c:manualLayout>
              <c:x val="-0.16691085918447812"/>
              <c:y val="-7.9958543601863635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1"/>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2"/>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layout>
            <c:manualLayout>
              <c:x val="-0.16691085918447812"/>
              <c:y val="-7.9958543601863635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4"/>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5"/>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layout>
            <c:manualLayout>
              <c:x val="-0.16691085918447812"/>
              <c:y val="-7.9958543601863635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7"/>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chemeClr val="accent1"/>
            </a:solidFill>
            <a:round/>
          </a:ln>
          <a:effectLst/>
        </c:spPr>
        <c:marker>
          <c:symbol val="square"/>
          <c:size val="6"/>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solidFill>
            <a:schemeClr val="accent1"/>
          </a:solidFill>
          <a:ln w="28575" cap="rnd">
            <a:solidFill>
              <a:schemeClr val="accent1"/>
            </a:solidFill>
            <a:round/>
          </a:ln>
          <a:effectLst/>
        </c:spPr>
        <c:marker>
          <c:symbol val="square"/>
          <c:size val="6"/>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solidFill>
            <a:schemeClr val="accent1"/>
          </a:solidFill>
          <a:ln w="28575" cap="rnd">
            <a:solidFill>
              <a:schemeClr val="accent1"/>
            </a:solidFill>
            <a:round/>
          </a:ln>
          <a:effectLst/>
        </c:spPr>
        <c:marker>
          <c:symbol val="square"/>
          <c:size val="6"/>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1"/>
          <c:order val="1"/>
          <c:tx>
            <c:strRef>
              <c:f>Pivot_Table_AOV!$K$12</c:f>
              <c:strCache>
                <c:ptCount val="1"/>
                <c:pt idx="0">
                  <c:v>Revenue per Pizza</c:v>
                </c:pt>
              </c:strCache>
            </c:strRef>
          </c:tx>
          <c:spPr>
            <a:ln w="28575" cap="rnd">
              <a:solidFill>
                <a:srgbClr val="FFFF00"/>
              </a:solidFill>
              <a:round/>
            </a:ln>
            <a:effectLst/>
          </c:spPr>
          <c:marker>
            <c:symbol val="circle"/>
            <c:size val="5"/>
            <c:spPr>
              <a:solidFill>
                <a:srgbClr val="C00000"/>
              </a:solidFill>
              <a:ln w="9525">
                <a:solidFill>
                  <a:srgbClr val="C00000"/>
                </a:solidFill>
              </a:ln>
              <a:effectLst/>
            </c:spPr>
          </c:marker>
          <c:cat>
            <c:strRef>
              <c:f>Pivot_Table_AOV!$I$13:$I$27</c:f>
              <c:strCache>
                <c:ptCount val="15"/>
                <c:pt idx="0">
                  <c:v>9</c:v>
                </c:pt>
                <c:pt idx="1">
                  <c:v>10</c:v>
                </c:pt>
                <c:pt idx="2">
                  <c:v>11</c:v>
                </c:pt>
                <c:pt idx="3">
                  <c:v>12</c:v>
                </c:pt>
                <c:pt idx="4">
                  <c:v>13</c:v>
                </c:pt>
                <c:pt idx="5">
                  <c:v>14</c:v>
                </c:pt>
                <c:pt idx="6">
                  <c:v>15</c:v>
                </c:pt>
                <c:pt idx="7">
                  <c:v>16</c:v>
                </c:pt>
                <c:pt idx="8">
                  <c:v>17</c:v>
                </c:pt>
                <c:pt idx="9">
                  <c:v>18</c:v>
                </c:pt>
                <c:pt idx="10">
                  <c:v>19</c:v>
                </c:pt>
                <c:pt idx="11">
                  <c:v>20</c:v>
                </c:pt>
                <c:pt idx="12">
                  <c:v>21</c:v>
                </c:pt>
                <c:pt idx="13">
                  <c:v>22</c:v>
                </c:pt>
                <c:pt idx="14">
                  <c:v>23</c:v>
                </c:pt>
              </c:strCache>
            </c:strRef>
          </c:cat>
          <c:val>
            <c:numRef>
              <c:f>Pivot_Table_AOV!$K$13:$K$27</c:f>
              <c:numCache>
                <c:formatCode>_("$"* #,##0.00_);_("$"* \(#,##0.00\);_("$"* "-"??_);_(@_)</c:formatCode>
                <c:ptCount val="15"/>
                <c:pt idx="0">
                  <c:v>20.75</c:v>
                </c:pt>
                <c:pt idx="1">
                  <c:v>16.869444444444444</c:v>
                </c:pt>
                <c:pt idx="2">
                  <c:v>16.472067448680349</c:v>
                </c:pt>
                <c:pt idx="3">
                  <c:v>16.510906139315221</c:v>
                </c:pt>
                <c:pt idx="4">
                  <c:v>16.539170435053791</c:v>
                </c:pt>
                <c:pt idx="5">
                  <c:v>16.385662884029891</c:v>
                </c:pt>
                <c:pt idx="6">
                  <c:v>16.477705223880594</c:v>
                </c:pt>
                <c:pt idx="7">
                  <c:v>16.526397735314923</c:v>
                </c:pt>
                <c:pt idx="8">
                  <c:v>16.549117251966987</c:v>
                </c:pt>
                <c:pt idx="9">
                  <c:v>16.484557873361634</c:v>
                </c:pt>
                <c:pt idx="10">
                  <c:v>16.48408987743985</c:v>
                </c:pt>
                <c:pt idx="11">
                  <c:v>16.472948500282968</c:v>
                </c:pt>
                <c:pt idx="12">
                  <c:v>16.514656188605109</c:v>
                </c:pt>
                <c:pt idx="13">
                  <c:v>16.461147186147187</c:v>
                </c:pt>
                <c:pt idx="14">
                  <c:v>16.490441176470586</c:v>
                </c:pt>
              </c:numCache>
            </c:numRef>
          </c:val>
          <c:smooth val="1"/>
          <c:extLst>
            <c:ext xmlns:c16="http://schemas.microsoft.com/office/drawing/2014/chart" uri="{C3380CC4-5D6E-409C-BE32-E72D297353CC}">
              <c16:uniqueId val="{00000000-C5AB-42CB-8529-AA3B6AB96F7C}"/>
            </c:ext>
          </c:extLst>
        </c:ser>
        <c:dLbls>
          <c:showLegendKey val="0"/>
          <c:showVal val="0"/>
          <c:showCatName val="0"/>
          <c:showSerName val="0"/>
          <c:showPercent val="0"/>
          <c:showBubbleSize val="0"/>
        </c:dLbls>
        <c:marker val="1"/>
        <c:smooth val="0"/>
        <c:axId val="1484510303"/>
        <c:axId val="1484509343"/>
      </c:lineChart>
      <c:lineChart>
        <c:grouping val="standard"/>
        <c:varyColors val="0"/>
        <c:ser>
          <c:idx val="0"/>
          <c:order val="0"/>
          <c:tx>
            <c:strRef>
              <c:f>Pivot_Table_AOV!$J$12</c:f>
              <c:strCache>
                <c:ptCount val="1"/>
                <c:pt idx="0">
                  <c:v>Revenue per Order (AOV)</c:v>
                </c:pt>
              </c:strCache>
            </c:strRef>
          </c:tx>
          <c:spPr>
            <a:ln w="28575" cap="rnd">
              <a:solidFill>
                <a:schemeClr val="accent1"/>
              </a:solidFill>
              <a:round/>
            </a:ln>
            <a:effectLst/>
          </c:spPr>
          <c:marker>
            <c:symbol val="square"/>
            <c:size val="6"/>
            <c:spPr>
              <a:solidFill>
                <a:srgbClr val="C00000"/>
              </a:solidFill>
              <a:ln w="9525">
                <a:solidFill>
                  <a:schemeClr val="accent1"/>
                </a:solidFill>
              </a:ln>
              <a:effectLst/>
            </c:spPr>
          </c:marker>
          <c:cat>
            <c:strRef>
              <c:f>Pivot_Table_AOV!$I$13:$I$27</c:f>
              <c:strCache>
                <c:ptCount val="15"/>
                <c:pt idx="0">
                  <c:v>9</c:v>
                </c:pt>
                <c:pt idx="1">
                  <c:v>10</c:v>
                </c:pt>
                <c:pt idx="2">
                  <c:v>11</c:v>
                </c:pt>
                <c:pt idx="3">
                  <c:v>12</c:v>
                </c:pt>
                <c:pt idx="4">
                  <c:v>13</c:v>
                </c:pt>
                <c:pt idx="5">
                  <c:v>14</c:v>
                </c:pt>
                <c:pt idx="6">
                  <c:v>15</c:v>
                </c:pt>
                <c:pt idx="7">
                  <c:v>16</c:v>
                </c:pt>
                <c:pt idx="8">
                  <c:v>17</c:v>
                </c:pt>
                <c:pt idx="9">
                  <c:v>18</c:v>
                </c:pt>
                <c:pt idx="10">
                  <c:v>19</c:v>
                </c:pt>
                <c:pt idx="11">
                  <c:v>20</c:v>
                </c:pt>
                <c:pt idx="12">
                  <c:v>21</c:v>
                </c:pt>
                <c:pt idx="13">
                  <c:v>22</c:v>
                </c:pt>
                <c:pt idx="14">
                  <c:v>23</c:v>
                </c:pt>
              </c:strCache>
            </c:strRef>
          </c:cat>
          <c:val>
            <c:numRef>
              <c:f>Pivot_Table_AOV!$J$13:$J$27</c:f>
              <c:numCache>
                <c:formatCode>_("$"* #,##0.00_);_("$"* \(#,##0.00\);_("$"* "-"??_);_(@_)</c:formatCode>
                <c:ptCount val="15"/>
                <c:pt idx="0">
                  <c:v>83</c:v>
                </c:pt>
                <c:pt idx="1">
                  <c:v>37.956249999999997</c:v>
                </c:pt>
                <c:pt idx="2">
                  <c:v>36.503493095044675</c:v>
                </c:pt>
                <c:pt idx="3">
                  <c:v>44.395992063492038</c:v>
                </c:pt>
                <c:pt idx="4">
                  <c:v>43.203951120162913</c:v>
                </c:pt>
                <c:pt idx="5">
                  <c:v>40.218342391304347</c:v>
                </c:pt>
                <c:pt idx="6">
                  <c:v>36.098297002724784</c:v>
                </c:pt>
                <c:pt idx="7">
                  <c:v>36.487187499999983</c:v>
                </c:pt>
                <c:pt idx="8">
                  <c:v>36.916716609589031</c:v>
                </c:pt>
                <c:pt idx="9">
                  <c:v>37.222530220925378</c:v>
                </c:pt>
                <c:pt idx="10">
                  <c:v>36.151767048282714</c:v>
                </c:pt>
                <c:pt idx="11">
                  <c:v>35.45395858708892</c:v>
                </c:pt>
                <c:pt idx="12">
                  <c:v>35.083305509181976</c:v>
                </c:pt>
                <c:pt idx="13">
                  <c:v>34.411990950226247</c:v>
                </c:pt>
                <c:pt idx="14">
                  <c:v>40.04821428571428</c:v>
                </c:pt>
              </c:numCache>
            </c:numRef>
          </c:val>
          <c:smooth val="0"/>
          <c:extLst>
            <c:ext xmlns:c16="http://schemas.microsoft.com/office/drawing/2014/chart" uri="{C3380CC4-5D6E-409C-BE32-E72D297353CC}">
              <c16:uniqueId val="{00000001-C5AB-42CB-8529-AA3B6AB96F7C}"/>
            </c:ext>
          </c:extLst>
        </c:ser>
        <c:dLbls>
          <c:showLegendKey val="0"/>
          <c:showVal val="0"/>
          <c:showCatName val="0"/>
          <c:showSerName val="0"/>
          <c:showPercent val="0"/>
          <c:showBubbleSize val="0"/>
        </c:dLbls>
        <c:marker val="1"/>
        <c:smooth val="0"/>
        <c:axId val="340500543"/>
        <c:axId val="1460048879"/>
      </c:lineChart>
      <c:catAx>
        <c:axId val="148451030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lang="en-US" sz="9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84509343"/>
        <c:crosses val="autoZero"/>
        <c:auto val="1"/>
        <c:lblAlgn val="ctr"/>
        <c:lblOffset val="100"/>
        <c:noMultiLvlLbl val="0"/>
      </c:catAx>
      <c:valAx>
        <c:axId val="1484509343"/>
        <c:scaling>
          <c:orientation val="minMax"/>
          <c:min val="0"/>
        </c:scaling>
        <c:delete val="0"/>
        <c:axPos val="l"/>
        <c:numFmt formatCode="_(&quot;$&quot;* #,##0.00_);_(&quot;$&quot;* \(#,##0.00\);_(&quot;$&quot;* 0??_);_(@_)" sourceLinked="0"/>
        <c:majorTickMark val="out"/>
        <c:minorTickMark val="none"/>
        <c:tickLblPos val="nextTo"/>
        <c:spPr>
          <a:noFill/>
          <a:ln>
            <a:noFill/>
          </a:ln>
          <a:effectLst/>
        </c:spPr>
        <c:txPr>
          <a:bodyPr rot="-60000000" spcFirstLastPara="1" vertOverflow="ellipsis" vert="horz" wrap="square" anchor="ctr" anchorCtr="1"/>
          <a:lstStyle/>
          <a:p>
            <a:pPr algn="ctr">
              <a:defRPr lang="en-US" sz="800" b="1" i="0" u="none" strike="noStrike" kern="1200" baseline="0">
                <a:solidFill>
                  <a:srgbClr val="FFFF00"/>
                </a:solidFill>
                <a:latin typeface="+mn-lt"/>
                <a:ea typeface="+mn-ea"/>
                <a:cs typeface="+mn-cs"/>
              </a:defRPr>
            </a:pPr>
            <a:endParaRPr lang="en-US"/>
          </a:p>
        </c:txPr>
        <c:crossAx val="1484510303"/>
        <c:crosses val="autoZero"/>
        <c:crossBetween val="between"/>
      </c:valAx>
      <c:valAx>
        <c:axId val="1460048879"/>
        <c:scaling>
          <c:orientation val="minMax"/>
        </c:scaling>
        <c:delete val="0"/>
        <c:axPos val="r"/>
        <c:numFmt formatCode="_(&quot;$&quot;* #,##0.00_);_(&quot;$&quot;* \(#,##0.00\);_(&quot;$&quot;* 0??_);_(@_)" sourceLinked="0"/>
        <c:majorTickMark val="out"/>
        <c:minorTickMark val="none"/>
        <c:tickLblPos val="nextTo"/>
        <c:spPr>
          <a:noFill/>
          <a:ln>
            <a:noFill/>
          </a:ln>
          <a:effectLst/>
        </c:spPr>
        <c:txPr>
          <a:bodyPr rot="-60000000" spcFirstLastPara="1" vertOverflow="ellipsis" vert="horz" wrap="square" anchor="ctr" anchorCtr="1"/>
          <a:lstStyle/>
          <a:p>
            <a:pPr algn="ctr">
              <a:defRPr lang="en-US" sz="800" b="1" i="0" u="none" strike="noStrike" kern="1200" baseline="0">
                <a:solidFill>
                  <a:schemeClr val="tx2"/>
                </a:solidFill>
                <a:latin typeface="+mn-lt"/>
                <a:ea typeface="+mn-ea"/>
                <a:cs typeface="+mn-cs"/>
              </a:defRPr>
            </a:pPr>
            <a:endParaRPr lang="en-US"/>
          </a:p>
        </c:txPr>
        <c:crossAx val="340500543"/>
        <c:crosses val="max"/>
        <c:crossBetween val="between"/>
      </c:valAx>
      <c:catAx>
        <c:axId val="340500543"/>
        <c:scaling>
          <c:orientation val="minMax"/>
        </c:scaling>
        <c:delete val="1"/>
        <c:axPos val="b"/>
        <c:numFmt formatCode="General" sourceLinked="1"/>
        <c:majorTickMark val="out"/>
        <c:minorTickMark val="none"/>
        <c:tickLblPos val="nextTo"/>
        <c:crossAx val="1460048879"/>
        <c:crosses val="autoZero"/>
        <c:auto val="1"/>
        <c:lblAlgn val="ctr"/>
        <c:lblOffset val="100"/>
        <c:noMultiLvlLbl val="0"/>
      </c:catAx>
      <c:spPr>
        <a:noFill/>
        <a:ln>
          <a:solidFill>
            <a:schemeClr val="tx1"/>
          </a:solidFill>
        </a:ln>
        <a:effectLst/>
      </c:spPr>
    </c:plotArea>
    <c:legend>
      <c:legendPos val="t"/>
      <c:overlay val="0"/>
      <c:spPr>
        <a:noFill/>
        <a:ln>
          <a:noFill/>
        </a:ln>
        <a:effectLst/>
      </c:spPr>
      <c:txPr>
        <a:bodyPr rot="0" spcFirstLastPara="1" vertOverflow="ellipsis" vert="horz" wrap="square" anchor="ctr" anchorCtr="1"/>
        <a:lstStyle/>
        <a:p>
          <a:pPr>
            <a:defRPr lang="en-US" sz="7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25-Vincent.xlsx]Pivot_Table_Revenue!PivotTable4</c:name>
    <c:fmtId val="16"/>
  </c:pivotSource>
  <c:chart>
    <c:title>
      <c:tx>
        <c:rich>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r>
              <a:rPr lang="en-US" sz="1100" b="1" i="0" u="none" strike="noStrike" kern="1200" baseline="0" dirty="0">
                <a:solidFill>
                  <a:srgbClr val="FFFF00"/>
                </a:solidFill>
                <a:latin typeface="+mn-lt"/>
                <a:ea typeface="+mn-ea"/>
                <a:cs typeface="+mn-cs"/>
              </a:rPr>
              <a:t>Top 5 Pizzas by Revenue ($)</a:t>
            </a:r>
          </a:p>
        </c:rich>
      </c:tx>
      <c:overlay val="0"/>
      <c:spPr>
        <a:noFill/>
        <a:ln>
          <a:noFill/>
        </a:ln>
        <a:effectLst/>
      </c:spPr>
      <c:txPr>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Pivot_Table_Revenue!$H$6</c:f>
              <c:strCache>
                <c:ptCount val="1"/>
                <c:pt idx="0">
                  <c:v>Total</c:v>
                </c:pt>
              </c:strCache>
            </c:strRef>
          </c:tx>
          <c:spPr>
            <a:solidFill>
              <a:srgbClr val="FFFF00"/>
            </a:solidFill>
            <a:ln w="22225">
              <a:solidFill>
                <a:srgbClr val="A3220D"/>
              </a:solidFill>
            </a:ln>
            <a:effectLst/>
          </c:spPr>
          <c:invertIfNegative val="0"/>
          <c:dLbls>
            <c:spPr>
              <a:solidFill>
                <a:srgbClr val="C00000"/>
              </a:solidFill>
              <a:ln>
                <a:noFill/>
              </a:ln>
              <a:effectLst/>
            </c:spPr>
            <c:txPr>
              <a:bodyPr rot="0" spcFirstLastPara="1" vertOverflow="ellipsis" vert="horz" wrap="square" anchor="ctr" anchorCtr="0"/>
              <a:lstStyle/>
              <a:p>
                <a:pPr algn="ctr">
                  <a:defRPr lang="en-US" sz="90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Pivot_Table_Revenue!$G$7:$G$11</c:f>
              <c:strCache>
                <c:ptCount val="5"/>
                <c:pt idx="0">
                  <c:v>The Spicy Italian Pizza</c:v>
                </c:pt>
                <c:pt idx="1">
                  <c:v>The Classic Deluxe Pizza</c:v>
                </c:pt>
                <c:pt idx="2">
                  <c:v>The California Chicken Pizza</c:v>
                </c:pt>
                <c:pt idx="3">
                  <c:v>The Barbecue Chicken Pizza</c:v>
                </c:pt>
                <c:pt idx="4">
                  <c:v>The Thai Chicken Pizza</c:v>
                </c:pt>
              </c:strCache>
            </c:strRef>
          </c:cat>
          <c:val>
            <c:numRef>
              <c:f>Pivot_Table_Revenue!$H$7:$H$11</c:f>
              <c:numCache>
                <c:formatCode>_("$"* #,##0.00_);_("$"* \(#,##0.00\);_("$"* "-"??_);_(@_)</c:formatCode>
                <c:ptCount val="5"/>
                <c:pt idx="0">
                  <c:v>34831.25</c:v>
                </c:pt>
                <c:pt idx="1">
                  <c:v>38180.5</c:v>
                </c:pt>
                <c:pt idx="2">
                  <c:v>41409.5</c:v>
                </c:pt>
                <c:pt idx="3">
                  <c:v>42768</c:v>
                </c:pt>
                <c:pt idx="4">
                  <c:v>43434.25</c:v>
                </c:pt>
              </c:numCache>
            </c:numRef>
          </c:val>
          <c:extLst>
            <c:ext xmlns:c16="http://schemas.microsoft.com/office/drawing/2014/chart" uri="{C3380CC4-5D6E-409C-BE32-E72D297353CC}">
              <c16:uniqueId val="{00000000-5F4B-4206-8379-8D393C82501F}"/>
            </c:ext>
          </c:extLst>
        </c:ser>
        <c:dLbls>
          <c:showLegendKey val="0"/>
          <c:showVal val="0"/>
          <c:showCatName val="0"/>
          <c:showSerName val="0"/>
          <c:showPercent val="0"/>
          <c:showBubbleSize val="0"/>
        </c:dLbls>
        <c:gapWidth val="50"/>
        <c:axId val="110220063"/>
        <c:axId val="110218623"/>
      </c:barChart>
      <c:catAx>
        <c:axId val="110220063"/>
        <c:scaling>
          <c:orientation val="minMax"/>
        </c:scaling>
        <c:delete val="0"/>
        <c:axPos val="l"/>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lgn="ctr">
              <a:defRPr lang="en-US" sz="8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10218623"/>
        <c:crosses val="autoZero"/>
        <c:auto val="1"/>
        <c:lblAlgn val="ctr"/>
        <c:lblOffset val="100"/>
        <c:noMultiLvlLbl val="0"/>
      </c:catAx>
      <c:valAx>
        <c:axId val="110218623"/>
        <c:scaling>
          <c:orientation val="minMax"/>
        </c:scaling>
        <c:delete val="1"/>
        <c:axPos val="b"/>
        <c:numFmt formatCode="_(&quot;$&quot;* #,##0.00_);_(&quot;$&quot;* \(#,##0.00\);_(&quot;$&quot;* &quot;-&quot;??_);_(@_)" sourceLinked="1"/>
        <c:majorTickMark val="none"/>
        <c:minorTickMark val="none"/>
        <c:tickLblPos val="nextTo"/>
        <c:crossAx val="11022006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lgn="ctr">
        <a:defRPr lang="en-US" sz="900" b="1" i="0" u="none" strike="noStrike" kern="1200" baseline="0">
          <a:solidFill>
            <a:srgbClr val="FFFF00"/>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25-Vincent.xlsx]Pivot_Table_Orders!PivotTable4</c:name>
    <c:fmtId val="17"/>
  </c:pivotSource>
  <c:chart>
    <c:title>
      <c:tx>
        <c:rich>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r>
              <a:rPr lang="en-US" sz="1100" b="1" i="0" u="none" strike="noStrike" kern="1200" baseline="0">
                <a:solidFill>
                  <a:srgbClr val="FFFF00"/>
                </a:solidFill>
                <a:latin typeface="+mn-lt"/>
                <a:ea typeface="+mn-ea"/>
                <a:cs typeface="+mn-cs"/>
              </a:rPr>
              <a:t>Top 5 Pizzas by Orders</a:t>
            </a:r>
          </a:p>
        </c:rich>
      </c:tx>
      <c:overlay val="0"/>
      <c:spPr>
        <a:noFill/>
        <a:ln>
          <a:noFill/>
        </a:ln>
        <a:effectLst/>
      </c:spPr>
      <c:txPr>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Pivot_Table_Orders!$H$6</c:f>
              <c:strCache>
                <c:ptCount val="1"/>
                <c:pt idx="0">
                  <c:v>Total</c:v>
                </c:pt>
              </c:strCache>
            </c:strRef>
          </c:tx>
          <c:spPr>
            <a:solidFill>
              <a:srgbClr val="FFFF00"/>
            </a:solidFill>
            <a:ln w="22225">
              <a:solidFill>
                <a:srgbClr val="C00000"/>
              </a:solidFill>
            </a:ln>
            <a:effectLst/>
          </c:spPr>
          <c:invertIfNegative val="0"/>
          <c:dLbls>
            <c:spPr>
              <a:solidFill>
                <a:srgbClr val="C00000"/>
              </a:solidFill>
              <a:ln>
                <a:noFill/>
              </a:ln>
              <a:effectLst/>
            </c:spPr>
            <c:txPr>
              <a:bodyPr rot="0" spcFirstLastPara="1" vertOverflow="ellipsis" vert="horz" wrap="square" lIns="38100" tIns="19050" rIns="38100" bIns="19050" anchor="ctr" anchorCtr="1">
                <a:spAutoFit/>
              </a:bodyPr>
              <a:lstStyle/>
              <a:p>
                <a:pPr>
                  <a:defRPr lang="en-US" sz="90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Pivot_Table_Orders!$G$7:$G$11</c:f>
              <c:strCache>
                <c:ptCount val="5"/>
                <c:pt idx="0">
                  <c:v>The Thai Chicken Pizza</c:v>
                </c:pt>
                <c:pt idx="1">
                  <c:v>The Barbecue Chicken Pizza</c:v>
                </c:pt>
                <c:pt idx="2">
                  <c:v>The Pepperoni Pizza</c:v>
                </c:pt>
                <c:pt idx="3">
                  <c:v>The Hawaiian Pizza</c:v>
                </c:pt>
                <c:pt idx="4">
                  <c:v>The Classic Deluxe Pizza</c:v>
                </c:pt>
              </c:strCache>
            </c:strRef>
          </c:cat>
          <c:val>
            <c:numRef>
              <c:f>Pivot_Table_Orders!$H$7:$H$11</c:f>
              <c:numCache>
                <c:formatCode>_(* #,##0_);_(* \(#,##0\);_(* "-"??_);_(@_)</c:formatCode>
                <c:ptCount val="5"/>
                <c:pt idx="0">
                  <c:v>2225</c:v>
                </c:pt>
                <c:pt idx="1">
                  <c:v>2273</c:v>
                </c:pt>
                <c:pt idx="2">
                  <c:v>2278</c:v>
                </c:pt>
                <c:pt idx="3">
                  <c:v>2280</c:v>
                </c:pt>
                <c:pt idx="4">
                  <c:v>2329</c:v>
                </c:pt>
              </c:numCache>
            </c:numRef>
          </c:val>
          <c:extLst>
            <c:ext xmlns:c16="http://schemas.microsoft.com/office/drawing/2014/chart" uri="{C3380CC4-5D6E-409C-BE32-E72D297353CC}">
              <c16:uniqueId val="{00000000-4181-4028-8C70-B0D76007C9FB}"/>
            </c:ext>
          </c:extLst>
        </c:ser>
        <c:dLbls>
          <c:showLegendKey val="0"/>
          <c:showVal val="0"/>
          <c:showCatName val="0"/>
          <c:showSerName val="0"/>
          <c:showPercent val="0"/>
          <c:showBubbleSize val="0"/>
        </c:dLbls>
        <c:gapWidth val="50"/>
        <c:axId val="110220063"/>
        <c:axId val="110218623"/>
      </c:barChart>
      <c:catAx>
        <c:axId val="110220063"/>
        <c:scaling>
          <c:orientation val="minMax"/>
        </c:scaling>
        <c:delete val="0"/>
        <c:axPos val="l"/>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lgn="ctr">
              <a:defRPr lang="en-US" sz="8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10218623"/>
        <c:crosses val="autoZero"/>
        <c:auto val="1"/>
        <c:lblAlgn val="ctr"/>
        <c:lblOffset val="100"/>
        <c:noMultiLvlLbl val="0"/>
      </c:catAx>
      <c:valAx>
        <c:axId val="110218623"/>
        <c:scaling>
          <c:orientation val="minMax"/>
        </c:scaling>
        <c:delete val="1"/>
        <c:axPos val="b"/>
        <c:numFmt formatCode="_(* #,##0_);_(* \(#,##0\);_(* &quot;-&quot;??_);_(@_)" sourceLinked="1"/>
        <c:majorTickMark val="none"/>
        <c:minorTickMark val="none"/>
        <c:tickLblPos val="nextTo"/>
        <c:crossAx val="11022006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lgn="ctr">
        <a:defRPr lang="en-US" sz="900" b="1" i="0" u="none" strike="noStrike" kern="1200" baseline="0">
          <a:solidFill>
            <a:srgbClr val="FFFF00"/>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25-Vincent.xlsx]Pivot_Table_Quantities!PivotTable4</c:name>
    <c:fmtId val="28"/>
  </c:pivotSource>
  <c:chart>
    <c:title>
      <c:tx>
        <c:rich>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r>
              <a:rPr lang="en-US" sz="1100" b="1" i="0" u="none" strike="noStrike" kern="1200" baseline="0">
                <a:solidFill>
                  <a:srgbClr val="FFFF00"/>
                </a:solidFill>
                <a:latin typeface="+mn-lt"/>
                <a:ea typeface="+mn-ea"/>
                <a:cs typeface="+mn-cs"/>
              </a:rPr>
              <a:t>Top 5 Pizzas by Quantities</a:t>
            </a:r>
          </a:p>
        </c:rich>
      </c:tx>
      <c:overlay val="0"/>
      <c:spPr>
        <a:noFill/>
        <a:ln>
          <a:noFill/>
        </a:ln>
        <a:effectLst/>
      </c:spPr>
      <c:txPr>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Pivot_Table_Quantities!$H$6</c:f>
              <c:strCache>
                <c:ptCount val="1"/>
                <c:pt idx="0">
                  <c:v>Total</c:v>
                </c:pt>
              </c:strCache>
            </c:strRef>
          </c:tx>
          <c:spPr>
            <a:solidFill>
              <a:srgbClr val="FFFF00"/>
            </a:solidFill>
            <a:ln w="22225">
              <a:solidFill>
                <a:srgbClr val="C00000"/>
              </a:solidFill>
            </a:ln>
            <a:effectLst/>
          </c:spPr>
          <c:invertIfNegative val="0"/>
          <c:dLbls>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Pivot_Table_Quantities!$G$7:$G$11</c:f>
              <c:strCache>
                <c:ptCount val="5"/>
                <c:pt idx="0">
                  <c:v>The Thai Chicken Pizza</c:v>
                </c:pt>
                <c:pt idx="1">
                  <c:v>The Pepperoni Pizza</c:v>
                </c:pt>
                <c:pt idx="2">
                  <c:v>The Hawaiian Pizza</c:v>
                </c:pt>
                <c:pt idx="3">
                  <c:v>The Barbecue Chicken Pizza</c:v>
                </c:pt>
                <c:pt idx="4">
                  <c:v>The Classic Deluxe Pizza</c:v>
                </c:pt>
              </c:strCache>
            </c:strRef>
          </c:cat>
          <c:val>
            <c:numRef>
              <c:f>Pivot_Table_Quantities!$H$7:$H$11</c:f>
              <c:numCache>
                <c:formatCode>_(* #,##0_);_(* \(#,##0\);_(* "-"??_);_(@_)</c:formatCode>
                <c:ptCount val="5"/>
                <c:pt idx="0">
                  <c:v>2371</c:v>
                </c:pt>
                <c:pt idx="1">
                  <c:v>2418</c:v>
                </c:pt>
                <c:pt idx="2">
                  <c:v>2422</c:v>
                </c:pt>
                <c:pt idx="3">
                  <c:v>2432</c:v>
                </c:pt>
                <c:pt idx="4">
                  <c:v>2453</c:v>
                </c:pt>
              </c:numCache>
            </c:numRef>
          </c:val>
          <c:extLst>
            <c:ext xmlns:c16="http://schemas.microsoft.com/office/drawing/2014/chart" uri="{C3380CC4-5D6E-409C-BE32-E72D297353CC}">
              <c16:uniqueId val="{00000000-6AB3-42CD-B37A-3685D8482082}"/>
            </c:ext>
          </c:extLst>
        </c:ser>
        <c:dLbls>
          <c:showLegendKey val="0"/>
          <c:showVal val="0"/>
          <c:showCatName val="0"/>
          <c:showSerName val="0"/>
          <c:showPercent val="0"/>
          <c:showBubbleSize val="0"/>
        </c:dLbls>
        <c:gapWidth val="50"/>
        <c:axId val="110220063"/>
        <c:axId val="110218623"/>
      </c:barChart>
      <c:catAx>
        <c:axId val="110220063"/>
        <c:scaling>
          <c:orientation val="minMax"/>
        </c:scaling>
        <c:delete val="0"/>
        <c:axPos val="l"/>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lgn="ctr">
              <a:defRPr lang="en-US" sz="8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10218623"/>
        <c:crosses val="autoZero"/>
        <c:auto val="1"/>
        <c:lblAlgn val="ctr"/>
        <c:lblOffset val="100"/>
        <c:noMultiLvlLbl val="0"/>
      </c:catAx>
      <c:valAx>
        <c:axId val="110218623"/>
        <c:scaling>
          <c:orientation val="minMax"/>
        </c:scaling>
        <c:delete val="1"/>
        <c:axPos val="b"/>
        <c:numFmt formatCode="_(* #,##0_);_(* \(#,##0\);_(* &quot;-&quot;??_);_(@_)" sourceLinked="1"/>
        <c:majorTickMark val="none"/>
        <c:minorTickMark val="none"/>
        <c:tickLblPos val="nextTo"/>
        <c:crossAx val="11022006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lgn="ctr">
        <a:defRPr lang="en-US" sz="900" b="1" i="0" u="none" strike="noStrike" kern="1200" baseline="0">
          <a:solidFill>
            <a:srgbClr val="FFFF00"/>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25-Vincent.xlsx]Pivot_Table_AOV!PivotTable5</c:name>
    <c:fmtId val="65"/>
  </c:pivotSource>
  <c:chart>
    <c:title>
      <c:tx>
        <c:rich>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r>
              <a:rPr lang="en-US" sz="1100" b="1" i="0" u="none" strike="noStrike" kern="1200" baseline="0">
                <a:solidFill>
                  <a:srgbClr val="FFFF00"/>
                </a:solidFill>
                <a:latin typeface="+mn-lt"/>
                <a:ea typeface="+mn-ea"/>
                <a:cs typeface="+mn-cs"/>
              </a:rPr>
              <a:t>Top 5 Pizzas by Revenue per Pizza</a:t>
            </a:r>
          </a:p>
        </c:rich>
      </c:tx>
      <c:overlay val="0"/>
      <c:spPr>
        <a:noFill/>
        <a:ln>
          <a:noFill/>
        </a:ln>
        <a:effectLst/>
      </c:spPr>
      <c:txPr>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1" i="0" u="none" strike="noStrike" kern="1200" baseline="0">
                  <a:solidFill>
                    <a:srgbClr val="FFFF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2"/>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Pivot_Table_AOV!$F$6</c:f>
              <c:strCache>
                <c:ptCount val="1"/>
                <c:pt idx="0">
                  <c:v>Total</c:v>
                </c:pt>
              </c:strCache>
            </c:strRef>
          </c:tx>
          <c:spPr>
            <a:solidFill>
              <a:srgbClr val="FFFF00"/>
            </a:solidFill>
            <a:ln w="22225">
              <a:solidFill>
                <a:srgbClr val="C00000"/>
              </a:solidFill>
            </a:ln>
            <a:effectLst/>
          </c:spPr>
          <c:invertIfNegative val="0"/>
          <c:dLbls>
            <c:spPr>
              <a:solidFill>
                <a:srgbClr val="C00000"/>
              </a:solidFill>
              <a:ln>
                <a:noFill/>
              </a:ln>
              <a:effectLst/>
            </c:spPr>
            <c:txPr>
              <a:bodyPr rot="0" spcFirstLastPara="1" vertOverflow="ellipsis" vert="horz" wrap="square" lIns="38100" tIns="19050" rIns="38100" bIns="19050" anchor="ctr" anchorCtr="1">
                <a:spAutoFit/>
              </a:bodyPr>
              <a:lstStyle/>
              <a:p>
                <a:pPr>
                  <a:defRPr lang="en-US" sz="90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Pivot_Table_AOV!$E$7:$E$12</c:f>
              <c:strCache>
                <c:ptCount val="5"/>
                <c:pt idx="0">
                  <c:v>The Southwest Chicken Pizza</c:v>
                </c:pt>
                <c:pt idx="1">
                  <c:v>The Thai Chicken Pizza</c:v>
                </c:pt>
                <c:pt idx="2">
                  <c:v>The Five Cheese Pizza</c:v>
                </c:pt>
                <c:pt idx="3">
                  <c:v>The Greek Pizza</c:v>
                </c:pt>
                <c:pt idx="4">
                  <c:v>The Brie Carre Pizza</c:v>
                </c:pt>
              </c:strCache>
            </c:strRef>
          </c:cat>
          <c:val>
            <c:numRef>
              <c:f>Pivot_Table_AOV!$F$7:$F$12</c:f>
              <c:numCache>
                <c:formatCode>_("$"* #,##0.00_);_("$"* \(#,##0.00\);_("$"* "-"??_);_(@_)</c:formatCode>
                <c:ptCount val="5"/>
                <c:pt idx="0">
                  <c:v>18.104199269692227</c:v>
                </c:pt>
                <c:pt idx="1">
                  <c:v>18.31895824546605</c:v>
                </c:pt>
                <c:pt idx="2">
                  <c:v>18.5</c:v>
                </c:pt>
                <c:pt idx="3">
                  <c:v>20.038098591549311</c:v>
                </c:pt>
                <c:pt idx="4">
                  <c:v>23.649999999999984</c:v>
                </c:pt>
              </c:numCache>
            </c:numRef>
          </c:val>
          <c:extLst>
            <c:ext xmlns:c16="http://schemas.microsoft.com/office/drawing/2014/chart" uri="{C3380CC4-5D6E-409C-BE32-E72D297353CC}">
              <c16:uniqueId val="{00000000-1953-4F1A-A56C-38A59A1427B7}"/>
            </c:ext>
          </c:extLst>
        </c:ser>
        <c:dLbls>
          <c:dLblPos val="ctr"/>
          <c:showLegendKey val="0"/>
          <c:showVal val="1"/>
          <c:showCatName val="0"/>
          <c:showSerName val="0"/>
          <c:showPercent val="0"/>
          <c:showBubbleSize val="0"/>
        </c:dLbls>
        <c:gapWidth val="50"/>
        <c:axId val="110220063"/>
        <c:axId val="110218623"/>
      </c:barChart>
      <c:catAx>
        <c:axId val="110220063"/>
        <c:scaling>
          <c:orientation val="minMax"/>
        </c:scaling>
        <c:delete val="0"/>
        <c:axPos val="l"/>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lgn="ctr">
              <a:defRPr lang="en-US" sz="8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10218623"/>
        <c:crosses val="autoZero"/>
        <c:auto val="1"/>
        <c:lblAlgn val="ctr"/>
        <c:lblOffset val="100"/>
        <c:noMultiLvlLbl val="0"/>
      </c:catAx>
      <c:valAx>
        <c:axId val="110218623"/>
        <c:scaling>
          <c:orientation val="minMax"/>
        </c:scaling>
        <c:delete val="1"/>
        <c:axPos val="b"/>
        <c:numFmt formatCode="_(&quot;$&quot;* #,##0.00_);_(&quot;$&quot;* \(#,##0.00\);_(&quot;$&quot;* &quot;-&quot;??_);_(@_)" sourceLinked="1"/>
        <c:majorTickMark val="none"/>
        <c:minorTickMark val="none"/>
        <c:tickLblPos val="nextTo"/>
        <c:crossAx val="11022006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lgn="ctr">
        <a:defRPr lang="en-US" sz="900" b="1" i="0" u="none" strike="noStrike" kern="1200" baseline="0">
          <a:solidFill>
            <a:srgbClr val="FFFF00"/>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25-Vincent.xlsx]Pivot_Table_Revenue!PivotTable2</c:name>
    <c:fmtId val="22"/>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Revenue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s>
    <c:plotArea>
      <c:layout/>
      <c:lineChart>
        <c:grouping val="standard"/>
        <c:varyColors val="0"/>
        <c:ser>
          <c:idx val="0"/>
          <c:order val="0"/>
          <c:tx>
            <c:strRef>
              <c:f>Pivot_Table_Revenue!$B$6</c:f>
              <c:strCache>
                <c:ptCount val="1"/>
                <c:pt idx="0">
                  <c:v>Total</c:v>
                </c:pt>
              </c:strCache>
            </c:strRef>
          </c:tx>
          <c:spPr>
            <a:ln w="28575" cap="rnd">
              <a:solidFill>
                <a:srgbClr val="FFFF00"/>
              </a:solidFill>
              <a:round/>
            </a:ln>
            <a:effectLst/>
          </c:spPr>
          <c:marker>
            <c:symbol val="circle"/>
            <c:size val="6"/>
            <c:spPr>
              <a:solidFill>
                <a:srgbClr val="A3220D"/>
              </a:solidFill>
              <a:ln w="9525">
                <a:solidFill>
                  <a:srgbClr val="A3220D"/>
                </a:solidFill>
              </a:ln>
              <a:effectLst/>
            </c:spPr>
          </c:marker>
          <c:dPt>
            <c:idx val="6"/>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0-3546-41C6-9568-ACE011080E29}"/>
              </c:ext>
            </c:extLst>
          </c:dPt>
          <c:dPt>
            <c:idx val="9"/>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1-3546-41C6-9568-ACE011080E29}"/>
              </c:ext>
            </c:extLst>
          </c:dPt>
          <c:dLbls>
            <c:dLbl>
              <c:idx val="6"/>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a:pPr>
                      <a:t>[CATEGORY NAME]</a:t>
                    </a:fld>
                    <a:r>
                      <a:rPr lang="en-US" sz="900" baseline="0"/>
                      <a:t>, </a:t>
                    </a:r>
                    <a:fld id="{53BCD553-8C53-454B-865C-3FB106B46615}" type="VALUE">
                      <a:rPr lang="en-US" sz="900" baseline="0">
                        <a:solidFill>
                          <a:schemeClr val="accent2">
                            <a:lumMod val="75000"/>
                          </a:schemeClr>
                        </a:solidFill>
                      </a:rPr>
                      <a:pPr>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3546-41C6-9568-ACE011080E29}"/>
                </c:ext>
              </c:extLst>
            </c:dLbl>
            <c:dLbl>
              <c:idx val="9"/>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546-41C6-9568-ACE011080E29}"/>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Pivot_Table_Revenue!$B$7:$B$19</c:f>
              <c:numCache>
                <c:formatCode>_("$"* #,##0.00_);_("$"* \(#,##0.00\);_("$"* "-"??_);_(@_)</c:formatCode>
                <c:ptCount val="12"/>
                <c:pt idx="0">
                  <c:v>69793.299999999959</c:v>
                </c:pt>
                <c:pt idx="1">
                  <c:v>65159.6</c:v>
                </c:pt>
                <c:pt idx="2">
                  <c:v>70397.099999999977</c:v>
                </c:pt>
                <c:pt idx="3">
                  <c:v>68736.799999999959</c:v>
                </c:pt>
                <c:pt idx="4">
                  <c:v>71402.749999999985</c:v>
                </c:pt>
                <c:pt idx="5">
                  <c:v>68230.199999999983</c:v>
                </c:pt>
                <c:pt idx="6">
                  <c:v>72557.899999999994</c:v>
                </c:pt>
                <c:pt idx="7">
                  <c:v>68278.249999999985</c:v>
                </c:pt>
                <c:pt idx="8">
                  <c:v>64180.05</c:v>
                </c:pt>
                <c:pt idx="9">
                  <c:v>64027.600000000006</c:v>
                </c:pt>
                <c:pt idx="10">
                  <c:v>70395.349999999977</c:v>
                </c:pt>
                <c:pt idx="11">
                  <c:v>64701.15</c:v>
                </c:pt>
              </c:numCache>
            </c:numRef>
          </c:val>
          <c:smooth val="1"/>
          <c:extLst>
            <c:ext xmlns:c16="http://schemas.microsoft.com/office/drawing/2014/chart" uri="{C3380CC4-5D6E-409C-BE32-E72D297353CC}">
              <c16:uniqueId val="{00000002-3546-41C6-9568-ACE011080E2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quot;$&quot;* #,##0.00_);_(&quot;$&quot;* \(#,##0.00\);_(&quot;$&quot;* &quot;-&quot;??_);_(@_)" sourceLinked="1"/>
        <c:majorTickMark val="out"/>
        <c:minorTickMark val="none"/>
        <c:tickLblPos val="nextTo"/>
        <c:crossAx val="147939334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25-Vincent.xlsx]Pivot_Table_Revenue!PivotTable2</c:name>
    <c:fmtId val="-1"/>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Revenue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s>
    <c:plotArea>
      <c:layout/>
      <c:lineChart>
        <c:grouping val="standard"/>
        <c:varyColors val="0"/>
        <c:ser>
          <c:idx val="0"/>
          <c:order val="0"/>
          <c:tx>
            <c:strRef>
              <c:f>Pivot_Table_Revenue!$B$6</c:f>
              <c:strCache>
                <c:ptCount val="1"/>
                <c:pt idx="0">
                  <c:v>Total</c:v>
                </c:pt>
              </c:strCache>
            </c:strRef>
          </c:tx>
          <c:spPr>
            <a:ln w="28575" cap="rnd">
              <a:solidFill>
                <a:srgbClr val="FFFF00"/>
              </a:solidFill>
              <a:round/>
            </a:ln>
            <a:effectLst/>
          </c:spPr>
          <c:marker>
            <c:symbol val="circle"/>
            <c:size val="6"/>
            <c:spPr>
              <a:solidFill>
                <a:srgbClr val="A3220D"/>
              </a:solidFill>
              <a:ln w="9525">
                <a:solidFill>
                  <a:srgbClr val="A3220D"/>
                </a:solidFill>
              </a:ln>
              <a:effectLst/>
            </c:spPr>
          </c:marker>
          <c:dPt>
            <c:idx val="6"/>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0-3546-41C6-9568-ACE011080E29}"/>
              </c:ext>
            </c:extLst>
          </c:dPt>
          <c:dPt>
            <c:idx val="9"/>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1-3546-41C6-9568-ACE011080E29}"/>
              </c:ext>
            </c:extLst>
          </c:dPt>
          <c:dLbls>
            <c:dLbl>
              <c:idx val="6"/>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a:pPr>
                      <a:t>[CATEGORY NAME]</a:t>
                    </a:fld>
                    <a:r>
                      <a:rPr lang="en-US" sz="900" baseline="0"/>
                      <a:t>, </a:t>
                    </a:r>
                    <a:fld id="{53BCD553-8C53-454B-865C-3FB106B46615}" type="VALUE">
                      <a:rPr lang="en-US" sz="900" baseline="0">
                        <a:solidFill>
                          <a:schemeClr val="accent2">
                            <a:lumMod val="75000"/>
                          </a:schemeClr>
                        </a:solidFill>
                      </a:rPr>
                      <a:pPr>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3546-41C6-9568-ACE011080E29}"/>
                </c:ext>
              </c:extLst>
            </c:dLbl>
            <c:dLbl>
              <c:idx val="9"/>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546-41C6-9568-ACE011080E29}"/>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Pivot_Table_Revenue!$B$7:$B$19</c:f>
              <c:numCache>
                <c:formatCode>_("$"* #,##0.00_);_("$"* \(#,##0.00\);_("$"* "-"??_);_(@_)</c:formatCode>
                <c:ptCount val="12"/>
                <c:pt idx="0">
                  <c:v>69793.299999999959</c:v>
                </c:pt>
                <c:pt idx="1">
                  <c:v>65159.6</c:v>
                </c:pt>
                <c:pt idx="2">
                  <c:v>70397.099999999977</c:v>
                </c:pt>
                <c:pt idx="3">
                  <c:v>68736.799999999959</c:v>
                </c:pt>
                <c:pt idx="4">
                  <c:v>71402.749999999985</c:v>
                </c:pt>
                <c:pt idx="5">
                  <c:v>68230.199999999983</c:v>
                </c:pt>
                <c:pt idx="6">
                  <c:v>72557.899999999994</c:v>
                </c:pt>
                <c:pt idx="7">
                  <c:v>68278.249999999985</c:v>
                </c:pt>
                <c:pt idx="8">
                  <c:v>64180.05</c:v>
                </c:pt>
                <c:pt idx="9">
                  <c:v>64027.600000000006</c:v>
                </c:pt>
                <c:pt idx="10">
                  <c:v>70395.349999999977</c:v>
                </c:pt>
                <c:pt idx="11">
                  <c:v>64701.15</c:v>
                </c:pt>
              </c:numCache>
            </c:numRef>
          </c:val>
          <c:smooth val="1"/>
          <c:extLst>
            <c:ext xmlns:c16="http://schemas.microsoft.com/office/drawing/2014/chart" uri="{C3380CC4-5D6E-409C-BE32-E72D297353CC}">
              <c16:uniqueId val="{00000002-3546-41C6-9568-ACE011080E2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quot;$&quot;* #,##0.00_);_(&quot;$&quot;* \(#,##0.00\);_(&quot;$&quot;* &quot;-&quot;??_);_(@_)" sourceLinked="1"/>
        <c:majorTickMark val="out"/>
        <c:minorTickMark val="none"/>
        <c:tickLblPos val="nextTo"/>
        <c:crossAx val="147939334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25-Vincent.xlsx]Pivot_Table_Revenue!PivotTable2</c:name>
    <c:fmtId val="-1"/>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Revenue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s>
    <c:plotArea>
      <c:layout/>
      <c:lineChart>
        <c:grouping val="standard"/>
        <c:varyColors val="0"/>
        <c:ser>
          <c:idx val="0"/>
          <c:order val="0"/>
          <c:tx>
            <c:strRef>
              <c:f>Pivot_Table_Revenue!$B$6</c:f>
              <c:strCache>
                <c:ptCount val="1"/>
                <c:pt idx="0">
                  <c:v>Total</c:v>
                </c:pt>
              </c:strCache>
            </c:strRef>
          </c:tx>
          <c:spPr>
            <a:ln w="28575" cap="rnd">
              <a:solidFill>
                <a:srgbClr val="FFFF00"/>
              </a:solidFill>
              <a:round/>
            </a:ln>
            <a:effectLst/>
          </c:spPr>
          <c:marker>
            <c:symbol val="circle"/>
            <c:size val="6"/>
            <c:spPr>
              <a:solidFill>
                <a:srgbClr val="A3220D"/>
              </a:solidFill>
              <a:ln w="9525">
                <a:solidFill>
                  <a:srgbClr val="A3220D"/>
                </a:solidFill>
              </a:ln>
              <a:effectLst/>
            </c:spPr>
          </c:marker>
          <c:dPt>
            <c:idx val="6"/>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0-3546-41C6-9568-ACE011080E29}"/>
              </c:ext>
            </c:extLst>
          </c:dPt>
          <c:dPt>
            <c:idx val="9"/>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1-3546-41C6-9568-ACE011080E29}"/>
              </c:ext>
            </c:extLst>
          </c:dPt>
          <c:dLbls>
            <c:dLbl>
              <c:idx val="6"/>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a:pPr>
                      <a:t>[CATEGORY NAME]</a:t>
                    </a:fld>
                    <a:r>
                      <a:rPr lang="en-US" sz="900" baseline="0"/>
                      <a:t>, </a:t>
                    </a:r>
                    <a:fld id="{53BCD553-8C53-454B-865C-3FB106B46615}" type="VALUE">
                      <a:rPr lang="en-US" sz="900" baseline="0">
                        <a:solidFill>
                          <a:schemeClr val="accent2">
                            <a:lumMod val="75000"/>
                          </a:schemeClr>
                        </a:solidFill>
                      </a:rPr>
                      <a:pPr>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3546-41C6-9568-ACE011080E29}"/>
                </c:ext>
              </c:extLst>
            </c:dLbl>
            <c:dLbl>
              <c:idx val="9"/>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546-41C6-9568-ACE011080E29}"/>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Pivot_Table_Revenue!$B$7:$B$19</c:f>
              <c:numCache>
                <c:formatCode>_("$"* #,##0.00_);_("$"* \(#,##0.00\);_("$"* "-"??_);_(@_)</c:formatCode>
                <c:ptCount val="12"/>
                <c:pt idx="0">
                  <c:v>69793.299999999959</c:v>
                </c:pt>
                <c:pt idx="1">
                  <c:v>65159.6</c:v>
                </c:pt>
                <c:pt idx="2">
                  <c:v>70397.099999999977</c:v>
                </c:pt>
                <c:pt idx="3">
                  <c:v>68736.799999999959</c:v>
                </c:pt>
                <c:pt idx="4">
                  <c:v>71402.749999999985</c:v>
                </c:pt>
                <c:pt idx="5">
                  <c:v>68230.199999999983</c:v>
                </c:pt>
                <c:pt idx="6">
                  <c:v>72557.899999999994</c:v>
                </c:pt>
                <c:pt idx="7">
                  <c:v>68278.249999999985</c:v>
                </c:pt>
                <c:pt idx="8">
                  <c:v>64180.05</c:v>
                </c:pt>
                <c:pt idx="9">
                  <c:v>64027.600000000006</c:v>
                </c:pt>
                <c:pt idx="10">
                  <c:v>70395.349999999977</c:v>
                </c:pt>
                <c:pt idx="11">
                  <c:v>64701.15</c:v>
                </c:pt>
              </c:numCache>
            </c:numRef>
          </c:val>
          <c:smooth val="1"/>
          <c:extLst>
            <c:ext xmlns:c16="http://schemas.microsoft.com/office/drawing/2014/chart" uri="{C3380CC4-5D6E-409C-BE32-E72D297353CC}">
              <c16:uniqueId val="{00000002-3546-41C6-9568-ACE011080E2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quot;$&quot;* #,##0.00_);_(&quot;$&quot;* \(#,##0.00\);_(&quot;$&quot;* &quot;-&quot;??_);_(@_)" sourceLinked="1"/>
        <c:majorTickMark val="out"/>
        <c:minorTickMark val="none"/>
        <c:tickLblPos val="nextTo"/>
        <c:crossAx val="14793933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25-Vincent.xlsx]Pivot_Table_Revenue!PivotTable2</c:name>
    <c:fmtId val="-1"/>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Revenue ($)</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sz="900" baseline="0"/>
                  <a:t>, </a:t>
                </a:r>
                <a:fld id="{53BCD553-8C53-454B-865C-3FB106B46615}" type="VALUE">
                  <a:rPr lang="en-US" sz="900"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s>
    <c:plotArea>
      <c:layout/>
      <c:lineChart>
        <c:grouping val="standard"/>
        <c:varyColors val="0"/>
        <c:ser>
          <c:idx val="0"/>
          <c:order val="0"/>
          <c:tx>
            <c:strRef>
              <c:f>Pivot_Table_Revenue!$B$6</c:f>
              <c:strCache>
                <c:ptCount val="1"/>
                <c:pt idx="0">
                  <c:v>Total</c:v>
                </c:pt>
              </c:strCache>
            </c:strRef>
          </c:tx>
          <c:spPr>
            <a:ln w="28575" cap="rnd">
              <a:solidFill>
                <a:srgbClr val="FFFF00"/>
              </a:solidFill>
              <a:round/>
            </a:ln>
            <a:effectLst/>
          </c:spPr>
          <c:marker>
            <c:symbol val="circle"/>
            <c:size val="6"/>
            <c:spPr>
              <a:solidFill>
                <a:srgbClr val="A3220D"/>
              </a:solidFill>
              <a:ln w="9525">
                <a:solidFill>
                  <a:srgbClr val="A3220D"/>
                </a:solidFill>
              </a:ln>
              <a:effectLst/>
            </c:spPr>
          </c:marker>
          <c:dPt>
            <c:idx val="6"/>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0-3546-41C6-9568-ACE011080E29}"/>
              </c:ext>
            </c:extLst>
          </c:dPt>
          <c:dPt>
            <c:idx val="9"/>
            <c:marker>
              <c:symbol val="circle"/>
              <c:size val="6"/>
              <c:spPr>
                <a:solidFill>
                  <a:srgbClr val="A3220D"/>
                </a:solidFill>
                <a:ln w="9525">
                  <a:solidFill>
                    <a:srgbClr val="A3220D"/>
                  </a:solidFill>
                </a:ln>
                <a:effectLst/>
              </c:spPr>
            </c:marker>
            <c:bubble3D val="0"/>
            <c:extLst>
              <c:ext xmlns:c16="http://schemas.microsoft.com/office/drawing/2014/chart" uri="{C3380CC4-5D6E-409C-BE32-E72D297353CC}">
                <c16:uniqueId val="{00000001-3546-41C6-9568-ACE011080E29}"/>
              </c:ext>
            </c:extLst>
          </c:dPt>
          <c:dLbls>
            <c:dLbl>
              <c:idx val="6"/>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sz="900">
                        <a:solidFill>
                          <a:schemeClr val="accent2">
                            <a:lumMod val="75000"/>
                          </a:schemeClr>
                        </a:solidFill>
                      </a:rPr>
                      <a:pPr>
                        <a:defRPr/>
                      </a:pPr>
                      <a:t>[CATEGORY NAME]</a:t>
                    </a:fld>
                    <a:r>
                      <a:rPr lang="en-US" sz="900" baseline="0"/>
                      <a:t>, </a:t>
                    </a:r>
                    <a:fld id="{53BCD553-8C53-454B-865C-3FB106B46615}" type="VALUE">
                      <a:rPr lang="en-US" sz="900" baseline="0">
                        <a:solidFill>
                          <a:schemeClr val="accent2">
                            <a:lumMod val="75000"/>
                          </a:schemeClr>
                        </a:solidFill>
                      </a:rPr>
                      <a:pPr>
                        <a:defRPr/>
                      </a:pPr>
                      <a:t>[VALUE]</a:t>
                    </a:fld>
                    <a:endParaRPr lang="en-US" sz="900"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0-3546-41C6-9568-ACE011080E29}"/>
                </c:ext>
              </c:extLst>
            </c:dLbl>
            <c:dLbl>
              <c:idx val="9"/>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a:solidFill>
                            <a:schemeClr val="accent2">
                              <a:lumMod val="75000"/>
                            </a:schemeClr>
                          </a:solidFill>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546-41C6-9568-ACE011080E29}"/>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Pivot_Table_Revenue!$A$7:$A$19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Pivot_Table_Revenue!$B$7:$B$19</c:f>
              <c:numCache>
                <c:formatCode>_("$"* #,##0.00_);_("$"* \(#,##0.00\);_("$"* "-"??_);_(@_)</c:formatCode>
                <c:ptCount val="12"/>
                <c:pt idx="0">
                  <c:v>69793.299999999959</c:v>
                </c:pt>
                <c:pt idx="1">
                  <c:v>65159.6</c:v>
                </c:pt>
                <c:pt idx="2">
                  <c:v>70397.099999999977</c:v>
                </c:pt>
                <c:pt idx="3">
                  <c:v>68736.799999999959</c:v>
                </c:pt>
                <c:pt idx="4">
                  <c:v>71402.749999999985</c:v>
                </c:pt>
                <c:pt idx="5">
                  <c:v>68230.199999999983</c:v>
                </c:pt>
                <c:pt idx="6">
                  <c:v>72557.899999999994</c:v>
                </c:pt>
                <c:pt idx="7">
                  <c:v>68278.249999999985</c:v>
                </c:pt>
                <c:pt idx="8">
                  <c:v>64180.05</c:v>
                </c:pt>
                <c:pt idx="9">
                  <c:v>64027.600000000006</c:v>
                </c:pt>
                <c:pt idx="10">
                  <c:v>70395.349999999977</c:v>
                </c:pt>
                <c:pt idx="11">
                  <c:v>64701.15</c:v>
                </c:pt>
              </c:numCache>
            </c:numRef>
          </c:val>
          <c:smooth val="1"/>
          <c:extLst>
            <c:ext xmlns:c16="http://schemas.microsoft.com/office/drawing/2014/chart" uri="{C3380CC4-5D6E-409C-BE32-E72D297353CC}">
              <c16:uniqueId val="{00000002-3546-41C6-9568-ACE011080E2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quot;$&quot;* #,##0.00_);_(&quot;$&quot;* \(#,##0.00\);_(&quot;$&quot;* &quot;-&quot;??_);_(@_)" sourceLinked="1"/>
        <c:majorTickMark val="out"/>
        <c:minorTickMark val="none"/>
        <c:tickLblPos val="nextTo"/>
        <c:crossAx val="14793933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25-Vincent.xlsx]Pivot_Table_Orders!PivotTable2</c:name>
    <c:fmtId val="47"/>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Orders</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1"/>
        <c:spPr>
          <a:solidFill>
            <a:schemeClr val="accent1"/>
          </a:solidFill>
          <a:ln w="28575" cap="rnd">
            <a:solidFill>
              <a:srgbClr val="FFFF00"/>
            </a:solidFill>
            <a:round/>
          </a:ln>
          <a:effectLst/>
        </c:spPr>
        <c:marker>
          <c:symbol val="circle"/>
          <c:size val="5"/>
          <c:spPr>
            <a:solidFill>
              <a:srgbClr val="C00000"/>
            </a:solidFill>
            <a:ln w="1587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2"/>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3"/>
        <c:dLbl>
          <c:idx val="0"/>
          <c:layout>
            <c:manualLayout>
              <c:x val="-7.2200020444024751E-2"/>
              <c:y val="0.1134132757334779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50" b="0" i="0" u="none" strike="noStrike" kern="1200" baseline="0">
                  <a:solidFill>
                    <a:schemeClr val="accent2">
                      <a:lumMod val="75000"/>
                    </a:schemeClr>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7"/>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9"/>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s>
    <c:plotArea>
      <c:layout/>
      <c:lineChart>
        <c:grouping val="standard"/>
        <c:varyColors val="0"/>
        <c:ser>
          <c:idx val="0"/>
          <c:order val="0"/>
          <c:tx>
            <c:strRef>
              <c:f>Pivot_Table_Orders!$B$6</c:f>
              <c:strCache>
                <c:ptCount val="1"/>
                <c:pt idx="0">
                  <c:v>Total</c:v>
                </c:pt>
              </c:strCache>
            </c:strRef>
          </c:tx>
          <c:spPr>
            <a:ln w="28575" cap="rnd">
              <a:solidFill>
                <a:srgbClr val="FFFF00"/>
              </a:solidFill>
              <a:round/>
            </a:ln>
            <a:effectLst/>
          </c:spPr>
          <c:marker>
            <c:symbol val="circle"/>
            <c:size val="5"/>
            <c:spPr>
              <a:solidFill>
                <a:srgbClr val="C00000"/>
              </a:solidFill>
              <a:ln w="9525">
                <a:solidFill>
                  <a:srgbClr val="C00000"/>
                </a:solidFill>
              </a:ln>
              <a:effectLst/>
            </c:spPr>
          </c:marker>
          <c:dPt>
            <c:idx val="6"/>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0-5531-4238-884D-237060372F7F}"/>
              </c:ext>
            </c:extLst>
          </c:dPt>
          <c:dPt>
            <c:idx val="9"/>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1-5531-4238-884D-237060372F7F}"/>
              </c:ext>
            </c:extLst>
          </c:dPt>
          <c:dLbls>
            <c:dLbl>
              <c:idx val="6"/>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rgbClr val="C00000"/>
                      </a:solidFill>
                      <a:latin typeface="+mn-lt"/>
                      <a:ea typeface="+mn-ea"/>
                      <a:cs typeface="+mn-cs"/>
                    </a:defRPr>
                  </a:pPr>
                  <a:endParaRPr lang="en-US"/>
                </a:p>
              </c:txPr>
              <c:dLblPos val="l"/>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0-5531-4238-884D-237060372F7F}"/>
                </c:ext>
              </c:extLst>
            </c:dLbl>
            <c:dLbl>
              <c:idx val="9"/>
              <c:layout>
                <c:manualLayout>
                  <c:x val="-0.30247913840010687"/>
                  <c:y val="0.1140224960733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16435468964872041"/>
                      <c:h val="0.29227572847119015"/>
                    </c:manualLayout>
                  </c15:layout>
                </c:ext>
                <c:ext xmlns:c16="http://schemas.microsoft.com/office/drawing/2014/chart" uri="{C3380CC4-5D6E-409C-BE32-E72D297353CC}">
                  <c16:uniqueId val="{00000001-5531-4238-884D-237060372F7F}"/>
                </c:ext>
              </c:extLst>
            </c:dLbl>
            <c:spPr>
              <a:solidFill>
                <a:srgbClr val="C00000"/>
              </a:solid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rgbClr val="C00000"/>
                    </a:solidFill>
                    <a:latin typeface="+mn-lt"/>
                    <a:ea typeface="+mn-ea"/>
                    <a:cs typeface="+mn-cs"/>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Pivot_Table_Orders!$A$7:$A$19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Pivot_Table_Orders!$B$7:$B$19</c:f>
              <c:numCache>
                <c:formatCode>_(* #,##0_);_(* \(#,##0\);_(* "-"??_);_(@_)</c:formatCode>
                <c:ptCount val="12"/>
                <c:pt idx="0">
                  <c:v>1845</c:v>
                </c:pt>
                <c:pt idx="1">
                  <c:v>1685</c:v>
                </c:pt>
                <c:pt idx="2">
                  <c:v>1840</c:v>
                </c:pt>
                <c:pt idx="3">
                  <c:v>1799</c:v>
                </c:pt>
                <c:pt idx="4">
                  <c:v>1853</c:v>
                </c:pt>
                <c:pt idx="5">
                  <c:v>1773</c:v>
                </c:pt>
                <c:pt idx="6">
                  <c:v>1935</c:v>
                </c:pt>
                <c:pt idx="7">
                  <c:v>1841</c:v>
                </c:pt>
                <c:pt idx="8">
                  <c:v>1661</c:v>
                </c:pt>
                <c:pt idx="9">
                  <c:v>1646</c:v>
                </c:pt>
                <c:pt idx="10">
                  <c:v>1792</c:v>
                </c:pt>
                <c:pt idx="11">
                  <c:v>1680</c:v>
                </c:pt>
              </c:numCache>
            </c:numRef>
          </c:val>
          <c:smooth val="1"/>
          <c:extLst>
            <c:ext xmlns:c16="http://schemas.microsoft.com/office/drawing/2014/chart" uri="{C3380CC4-5D6E-409C-BE32-E72D297353CC}">
              <c16:uniqueId val="{00000002-5531-4238-884D-237060372F7F}"/>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 #,##0_);_(* \(#,##0\);_(* &quot;-&quot;??_);_(@_)" sourceLinked="1"/>
        <c:majorTickMark val="out"/>
        <c:minorTickMark val="none"/>
        <c:tickLblPos val="nextTo"/>
        <c:crossAx val="147939334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25-Vincent.xlsx]Pivot_Table_Quantities!PivotTable2</c:name>
    <c:fmtId val="66"/>
  </c:pivotSource>
  <c:chart>
    <c:title>
      <c:tx>
        <c:rich>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r>
              <a:rPr lang="en-US" sz="1400" b="1">
                <a:solidFill>
                  <a:srgbClr val="FFFF00"/>
                </a:solidFill>
              </a:rPr>
              <a:t>Peak Month by Quantities</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1"/>
        <c:spPr>
          <a:solidFill>
            <a:schemeClr val="accent1"/>
          </a:solidFill>
          <a:ln w="28575" cap="rnd">
            <a:solidFill>
              <a:srgbClr val="FFFF00"/>
            </a:solidFill>
            <a:round/>
          </a:ln>
          <a:effectLst/>
        </c:spPr>
        <c:marker>
          <c:symbol val="circle"/>
          <c:size val="5"/>
          <c:spPr>
            <a:solidFill>
              <a:srgbClr val="C00000"/>
            </a:solidFill>
            <a:ln w="1587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2"/>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3"/>
        <c:dLbl>
          <c:idx val="0"/>
          <c:layout>
            <c:manualLayout>
              <c:x val="-7.2200020444024751E-2"/>
              <c:y val="0.1134132757334779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50" b="0" i="0" u="none" strike="noStrike" kern="1200" baseline="0">
                  <a:solidFill>
                    <a:schemeClr val="accent2">
                      <a:lumMod val="75000"/>
                    </a:schemeClr>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7"/>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9"/>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3"/>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s>
    <c:plotArea>
      <c:layout/>
      <c:lineChart>
        <c:grouping val="standard"/>
        <c:varyColors val="0"/>
        <c:ser>
          <c:idx val="0"/>
          <c:order val="0"/>
          <c:tx>
            <c:strRef>
              <c:f>Pivot_Table_Quantities!$B$6</c:f>
              <c:strCache>
                <c:ptCount val="1"/>
                <c:pt idx="0">
                  <c:v>Total</c:v>
                </c:pt>
              </c:strCache>
            </c:strRef>
          </c:tx>
          <c:spPr>
            <a:ln w="28575" cap="rnd">
              <a:solidFill>
                <a:srgbClr val="FFFF00"/>
              </a:solidFill>
              <a:round/>
            </a:ln>
            <a:effectLst/>
          </c:spPr>
          <c:marker>
            <c:symbol val="circle"/>
            <c:size val="5"/>
            <c:spPr>
              <a:solidFill>
                <a:srgbClr val="C00000"/>
              </a:solidFill>
              <a:ln w="9525">
                <a:solidFill>
                  <a:srgbClr val="C00000"/>
                </a:solidFill>
              </a:ln>
              <a:effectLst/>
            </c:spPr>
          </c:marker>
          <c:dPt>
            <c:idx val="6"/>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0-8645-4AF1-B699-F1656AF63C79}"/>
              </c:ext>
            </c:extLst>
          </c:dPt>
          <c:dPt>
            <c:idx val="9"/>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1-8645-4AF1-B699-F1656AF63C79}"/>
              </c:ext>
            </c:extLst>
          </c:dPt>
          <c:dLbls>
            <c:dLbl>
              <c:idx val="6"/>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0-8645-4AF1-B699-F1656AF63C79}"/>
                </c:ext>
              </c:extLst>
            </c:dLbl>
            <c:dLbl>
              <c:idx val="9"/>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1-8645-4AF1-B699-F1656AF63C79}"/>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0"/>
              </c:ext>
            </c:extLst>
          </c:dLbls>
          <c:cat>
            <c:strRef>
              <c:f>Pivot_Table_Quantities!$A$7:$A$19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Pivot_Table_Quantities!$B$7:$B$19</c:f>
              <c:numCache>
                <c:formatCode>_(* #,##0_);_(* \(#,##0\);_(* "-"??_);_(@_)</c:formatCode>
                <c:ptCount val="12"/>
                <c:pt idx="0">
                  <c:v>4232</c:v>
                </c:pt>
                <c:pt idx="1">
                  <c:v>3961</c:v>
                </c:pt>
                <c:pt idx="2">
                  <c:v>4261</c:v>
                </c:pt>
                <c:pt idx="3">
                  <c:v>4151</c:v>
                </c:pt>
                <c:pt idx="4">
                  <c:v>4328</c:v>
                </c:pt>
                <c:pt idx="5">
                  <c:v>4107</c:v>
                </c:pt>
                <c:pt idx="6">
                  <c:v>4392</c:v>
                </c:pt>
                <c:pt idx="7">
                  <c:v>4168</c:v>
                </c:pt>
                <c:pt idx="8">
                  <c:v>3890</c:v>
                </c:pt>
                <c:pt idx="9">
                  <c:v>3883</c:v>
                </c:pt>
                <c:pt idx="10">
                  <c:v>4266</c:v>
                </c:pt>
                <c:pt idx="11">
                  <c:v>3935</c:v>
                </c:pt>
              </c:numCache>
            </c:numRef>
          </c:val>
          <c:smooth val="1"/>
          <c:extLst>
            <c:ext xmlns:c16="http://schemas.microsoft.com/office/drawing/2014/chart" uri="{C3380CC4-5D6E-409C-BE32-E72D297353CC}">
              <c16:uniqueId val="{00000002-8645-4AF1-B699-F1656AF63C79}"/>
            </c:ext>
          </c:extLst>
        </c:ser>
        <c:dLbls>
          <c:dLblPos val="t"/>
          <c:showLegendKey val="0"/>
          <c:showVal val="1"/>
          <c:showCatName val="0"/>
          <c:showSerName val="0"/>
          <c:showPercent val="0"/>
          <c:showBubbleSize val="0"/>
        </c:dLbls>
        <c:marker val="1"/>
        <c:smooth val="0"/>
        <c:axId val="1479393343"/>
        <c:axId val="1479393823"/>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1"/>
        <c:axPos val="l"/>
        <c:numFmt formatCode="_(* #,##0_);_(* \(#,##0\);_(* &quot;-&quot;??_);_(@_)" sourceLinked="1"/>
        <c:majorTickMark val="out"/>
        <c:minorTickMark val="none"/>
        <c:tickLblPos val="nextTo"/>
        <c:crossAx val="147939334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25-Vincent.xlsx]Pivot_Table_AOV!PivotTable2</c:name>
    <c:fmtId val="78"/>
  </c:pivotSource>
  <c:chart>
    <c:title>
      <c:tx>
        <c:rich>
          <a:bodyPr rot="0" spcFirstLastPara="1" vertOverflow="ellipsis" vert="horz" wrap="square" anchor="ctr" anchorCtr="1"/>
          <a:lstStyle/>
          <a:p>
            <a:pPr>
              <a:defRPr sz="1100" b="1" i="0" u="none" strike="noStrike" kern="1200" spc="0" baseline="0">
                <a:solidFill>
                  <a:srgbClr val="FFFF00"/>
                </a:solidFill>
                <a:latin typeface="+mn-lt"/>
                <a:ea typeface="+mn-ea"/>
                <a:cs typeface="+mn-cs"/>
              </a:defRPr>
            </a:pPr>
            <a:r>
              <a:rPr lang="en-US" sz="1100" b="1">
                <a:solidFill>
                  <a:srgbClr val="FFFF00"/>
                </a:solidFill>
              </a:rPr>
              <a:t>Monthly AOV and Revenue per Pizza</a:t>
            </a:r>
          </a:p>
        </c:rich>
      </c:tx>
      <c:overlay val="0"/>
      <c:spPr>
        <a:noFill/>
        <a:ln>
          <a:noFill/>
        </a:ln>
        <a:effectLst/>
      </c:spPr>
      <c:txPr>
        <a:bodyPr rot="0" spcFirstLastPara="1" vertOverflow="ellipsis" vert="horz" wrap="square" anchor="ctr" anchorCtr="1"/>
        <a:lstStyle/>
        <a:p>
          <a:pPr>
            <a:defRPr sz="11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rgbClr val="FFFF00"/>
            </a:solidFill>
            <a:round/>
          </a:ln>
          <a:effectLst/>
        </c:spPr>
        <c:marker>
          <c:symbol val="circle"/>
          <c:size val="6"/>
          <c:spPr>
            <a:solidFill>
              <a:srgbClr val="FFFF00"/>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1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1"/>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2"/>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pivotFmt>
      <c:pivotFmt>
        <c:idx val="23"/>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4"/>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5"/>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7"/>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28"/>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2">
                      <a:lumMod val="7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fld id="{C0FB1BDB-EAFF-4CA8-9A82-25D53D46C7BC}" type="CATEGORYNAME">
                  <a:rPr lang="en-US">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[CATEGORY NAME]</a:t>
                </a:fld>
                <a:r>
                  <a:rPr lang="en-US" baseline="0"/>
                  <a:t>, </a:t>
                </a:r>
                <a:fld id="{53BCD553-8C53-454B-865C-3FB106B46615}" type="VALUE">
                  <a:rPr lang="en-US" baseline="0">
                    <a:solidFill>
                      <a:schemeClr val="accent2">
                        <a:lumMod val="75000"/>
                      </a:schemeClr>
                    </a:solidFill>
                  </a:rPr>
                  <a:pPr>
                    <a:defRPr sz="900" b="0" i="0" u="none" strike="noStrike" kern="1200" baseline="0">
                      <a:solidFill>
                        <a:schemeClr val="dk1">
                          <a:lumMod val="65000"/>
                          <a:lumOff val="35000"/>
                        </a:schemeClr>
                      </a:solidFill>
                      <a:latin typeface="+mn-lt"/>
                      <a:ea typeface="+mn-ea"/>
                      <a:cs typeface="+mn-cs"/>
                    </a:defRPr>
                  </a:pPr>
                  <a:t>[VALUE]</a:t>
                </a:fld>
                <a:endParaRPr lang="en-US" baseline="0"/>
              </a:p>
            </c:rich>
          </c:tx>
          <c:spPr>
            <a:solidFill>
              <a:sysClr val="window" lastClr="FFFFFF"/>
            </a:solidFill>
            <a:ln>
              <a:solidFill>
                <a:srgbClr val="C00000"/>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0"/>
        <c:spPr>
          <a:solidFill>
            <a:schemeClr val="accent1"/>
          </a:solidFill>
          <a:ln w="28575" cap="rnd">
            <a:solidFill>
              <a:srgbClr val="FFFF00"/>
            </a:solidFill>
            <a:round/>
          </a:ln>
          <a:effectLst/>
        </c:spPr>
        <c:marker>
          <c:symbol val="circle"/>
          <c:size val="6"/>
          <c:spPr>
            <a:solidFill>
              <a:srgbClr val="A3220D"/>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fld id="{C31DC01A-1C53-400B-A8DE-4D5D18A097DE}" type="CATEGORYNAM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[CATEGORY NAME]</a:t>
                </a:fld>
                <a:r>
                  <a:rPr lang="en-US" sz="900" b="0" i="0" u="none" strike="noStrike" kern="1200" baseline="0">
                    <a:solidFill>
                      <a:schemeClr val="accent2">
                        <a:lumMod val="75000"/>
                      </a:schemeClr>
                    </a:solidFill>
                    <a:latin typeface="+mn-lt"/>
                    <a:ea typeface="+mn-ea"/>
                    <a:cs typeface="+mn-cs"/>
                  </a:rPr>
                  <a:t>, </a:t>
                </a:r>
                <a:fld id="{FD29F36C-5511-466B-952F-510E897A0614}" type="VALUE">
                  <a:rPr lang="en-US" sz="900" b="0" i="0" u="none" strike="noStrike" kern="1200" baseline="0">
                    <a:solidFill>
                      <a:schemeClr val="accent2">
                        <a:lumMod val="75000"/>
                      </a:schemeClr>
                    </a:solidFill>
                    <a:latin typeface="+mn-lt"/>
                    <a:ea typeface="+mn-ea"/>
                    <a:cs typeface="+mn-cs"/>
                  </a:rPr>
                  <a:pPr algn="ctr" rtl="0">
                    <a:defRPr lang="en-US" sz="900" b="0" i="0" u="none" strike="noStrike" kern="1200" baseline="0">
                      <a:solidFill>
                        <a:schemeClr val="accent2">
                          <a:lumMod val="75000"/>
                        </a:schemeClr>
                      </a:solidFill>
                      <a:latin typeface="+mn-lt"/>
                      <a:ea typeface="+mn-ea"/>
                      <a:cs typeface="+mn-cs"/>
                    </a:defRPr>
                  </a:pPr>
                  <a:t>[VALUE]</a:t>
                </a:fld>
                <a:endParaRPr lang="en-US" sz="900" b="0" i="0" u="none" strike="noStrike" kern="1200" baseline="0">
                  <a:solidFill>
                    <a:schemeClr val="accent2">
                      <a:lumMod val="75000"/>
                    </a:schemeClr>
                  </a:solidFill>
                  <a:latin typeface="+mn-lt"/>
                  <a:ea typeface="+mn-ea"/>
                  <a:cs typeface="+mn-cs"/>
                </a:endParaRPr>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9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31"/>
        <c:spPr>
          <a:solidFill>
            <a:schemeClr val="accent1"/>
          </a:solidFill>
          <a:ln w="28575" cap="rnd">
            <a:solidFill>
              <a:srgbClr val="FFFF00"/>
            </a:solidFill>
            <a:round/>
          </a:ln>
          <a:effectLst/>
        </c:spPr>
        <c:marker>
          <c:symbol val="circle"/>
          <c:size val="5"/>
          <c:spPr>
            <a:solidFill>
              <a:srgbClr val="C00000"/>
            </a:solidFill>
            <a:ln w="1587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2"/>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5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3"/>
        <c:dLbl>
          <c:idx val="0"/>
          <c:layout>
            <c:manualLayout>
              <c:x val="-7.2200020444024751E-2"/>
              <c:y val="0.1134132757334779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50" b="0" i="0" u="none" strike="noStrike" kern="1200" baseline="0">
                  <a:solidFill>
                    <a:schemeClr val="accent2">
                      <a:lumMod val="75000"/>
                    </a:schemeClr>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7.8381904117523937E-2"/>
              <c:y val="0.1195639329336213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7"/>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9"/>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3"/>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5.6745311260276772E-2"/>
              <c:y val="0.12571459013376468"/>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dLblPos val="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solidFill>
            <a:schemeClr val="accent1"/>
          </a:solidFill>
          <a:ln w="28575" cap="rnd">
            <a:solidFill>
              <a:schemeClr val="accent1"/>
            </a:solidFill>
            <a:round/>
          </a:ln>
          <a:effectLst/>
        </c:spPr>
        <c:marker>
          <c:symbol val="square"/>
          <c:size val="5"/>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9"/>
        <c:spPr>
          <a:solidFill>
            <a:schemeClr val="accent1"/>
          </a:solidFill>
          <a:ln w="28575" cap="rnd">
            <a:solidFill>
              <a:schemeClr val="accent1"/>
            </a:solidFill>
            <a:round/>
          </a:ln>
          <a:effectLst/>
        </c:spPr>
        <c:marker>
          <c:symbol val="square"/>
          <c:size val="5"/>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1"/>
        <c:spPr>
          <a:solidFill>
            <a:schemeClr val="accent1"/>
          </a:solidFill>
          <a:ln w="28575" cap="rnd">
            <a:solidFill>
              <a:schemeClr val="accent1"/>
            </a:solidFill>
            <a:round/>
          </a:ln>
          <a:effectLst/>
        </c:spPr>
        <c:marker>
          <c:symbol val="square"/>
          <c:size val="5"/>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1"/>
          <c:order val="1"/>
          <c:tx>
            <c:strRef>
              <c:f>Pivot_Table_AOV!$C$6</c:f>
              <c:strCache>
                <c:ptCount val="1"/>
                <c:pt idx="0">
                  <c:v>Revenue per Pizza</c:v>
                </c:pt>
              </c:strCache>
            </c:strRef>
          </c:tx>
          <c:spPr>
            <a:ln w="28575" cap="rnd">
              <a:solidFill>
                <a:srgbClr val="FFFF00"/>
              </a:solidFill>
              <a:round/>
            </a:ln>
            <a:effectLst/>
          </c:spPr>
          <c:marker>
            <c:symbol val="circle"/>
            <c:size val="5"/>
            <c:spPr>
              <a:solidFill>
                <a:srgbClr val="C00000"/>
              </a:solidFill>
              <a:ln w="9525">
                <a:solidFill>
                  <a:srgbClr val="C00000"/>
                </a:solidFill>
              </a:ln>
              <a:effectLst/>
            </c:spPr>
          </c:marker>
          <c:cat>
            <c:strRef>
              <c:f>Pivot_Table_AOV!$A$7:$A$19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Pivot_Table_AOV!$C$7:$C$19</c:f>
              <c:numCache>
                <c:formatCode>_("$"* #,##0.00_);_("$"* \(#,##0.00\);_("$"* "-"??_);_(@_)</c:formatCode>
                <c:ptCount val="12"/>
                <c:pt idx="0">
                  <c:v>16.491800567107742</c:v>
                </c:pt>
                <c:pt idx="1">
                  <c:v>16.450290330724563</c:v>
                </c:pt>
                <c:pt idx="2">
                  <c:v>16.521262614409757</c:v>
                </c:pt>
                <c:pt idx="3">
                  <c:v>16.559094194170068</c:v>
                </c:pt>
                <c:pt idx="4">
                  <c:v>16.497862754158962</c:v>
                </c:pt>
                <c:pt idx="5">
                  <c:v>16.61314828341855</c:v>
                </c:pt>
                <c:pt idx="6">
                  <c:v>16.520469034608379</c:v>
                </c:pt>
                <c:pt idx="7">
                  <c:v>16.381537907869479</c:v>
                </c:pt>
                <c:pt idx="8">
                  <c:v>16.498727506426736</c:v>
                </c:pt>
                <c:pt idx="9">
                  <c:v>16.489209374195212</c:v>
                </c:pt>
                <c:pt idx="10">
                  <c:v>16.501488513830282</c:v>
                </c:pt>
                <c:pt idx="11">
                  <c:v>16.442477763659468</c:v>
                </c:pt>
              </c:numCache>
            </c:numRef>
          </c:val>
          <c:smooth val="1"/>
          <c:extLst>
            <c:ext xmlns:c16="http://schemas.microsoft.com/office/drawing/2014/chart" uri="{C3380CC4-5D6E-409C-BE32-E72D297353CC}">
              <c16:uniqueId val="{00000000-F5F6-4496-B275-7466C6284DD3}"/>
            </c:ext>
          </c:extLst>
        </c:ser>
        <c:dLbls>
          <c:showLegendKey val="0"/>
          <c:showVal val="0"/>
          <c:showCatName val="0"/>
          <c:showSerName val="0"/>
          <c:showPercent val="0"/>
          <c:showBubbleSize val="0"/>
        </c:dLbls>
        <c:marker val="1"/>
        <c:smooth val="0"/>
        <c:axId val="1479393343"/>
        <c:axId val="1479393823"/>
      </c:lineChart>
      <c:lineChart>
        <c:grouping val="standard"/>
        <c:varyColors val="0"/>
        <c:ser>
          <c:idx val="0"/>
          <c:order val="0"/>
          <c:tx>
            <c:strRef>
              <c:f>Pivot_Table_AOV!$B$6</c:f>
              <c:strCache>
                <c:ptCount val="1"/>
                <c:pt idx="0">
                  <c:v>Revenue per Order (AOV)</c:v>
                </c:pt>
              </c:strCache>
            </c:strRef>
          </c:tx>
          <c:spPr>
            <a:ln w="28575" cap="rnd">
              <a:solidFill>
                <a:schemeClr val="accent1"/>
              </a:solidFill>
              <a:round/>
            </a:ln>
            <a:effectLst/>
          </c:spPr>
          <c:marker>
            <c:symbol val="square"/>
            <c:size val="5"/>
            <c:spPr>
              <a:solidFill>
                <a:srgbClr val="C00000"/>
              </a:solidFill>
              <a:ln w="9525">
                <a:solidFill>
                  <a:schemeClr val="accent1"/>
                </a:solidFill>
              </a:ln>
              <a:effectLst/>
            </c:spPr>
          </c:marker>
          <c:cat>
            <c:strRef>
              <c:f>Pivot_Table_AOV!$A$7:$A$19</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Pivot_Table_AOV!$B$7:$B$19</c:f>
              <c:numCache>
                <c:formatCode>_("$"* #,##0.00_);_("$"* \(#,##0.00\);_("$"* "-"??_);_(@_)</c:formatCode>
                <c:ptCount val="12"/>
                <c:pt idx="0">
                  <c:v>37.828346883468811</c:v>
                </c:pt>
                <c:pt idx="1">
                  <c:v>38.670385756676559</c:v>
                </c:pt>
                <c:pt idx="2">
                  <c:v>38.259293478260858</c:v>
                </c:pt>
                <c:pt idx="3">
                  <c:v>38.208337965536387</c:v>
                </c:pt>
                <c:pt idx="4">
                  <c:v>38.533594171613593</c:v>
                </c:pt>
                <c:pt idx="5">
                  <c:v>38.482910321488994</c:v>
                </c:pt>
                <c:pt idx="6">
                  <c:v>37.497622739018084</c:v>
                </c:pt>
                <c:pt idx="7">
                  <c:v>37.087588267246055</c:v>
                </c:pt>
                <c:pt idx="8">
                  <c:v>38.639403973509935</c:v>
                </c:pt>
                <c:pt idx="9">
                  <c:v>38.898906439854194</c:v>
                </c:pt>
                <c:pt idx="10">
                  <c:v>39.283119419642844</c:v>
                </c:pt>
                <c:pt idx="11">
                  <c:v>38.512589285714284</c:v>
                </c:pt>
              </c:numCache>
            </c:numRef>
          </c:val>
          <c:smooth val="1"/>
          <c:extLst>
            <c:ext xmlns:c16="http://schemas.microsoft.com/office/drawing/2014/chart" uri="{C3380CC4-5D6E-409C-BE32-E72D297353CC}">
              <c16:uniqueId val="{00000001-F5F6-4496-B275-7466C6284DD3}"/>
            </c:ext>
          </c:extLst>
        </c:ser>
        <c:dLbls>
          <c:showLegendKey val="0"/>
          <c:showVal val="0"/>
          <c:showCatName val="0"/>
          <c:showSerName val="0"/>
          <c:showPercent val="0"/>
          <c:showBubbleSize val="0"/>
        </c:dLbls>
        <c:marker val="1"/>
        <c:smooth val="0"/>
        <c:axId val="981756559"/>
        <c:axId val="981745039"/>
      </c:lineChart>
      <c:catAx>
        <c:axId val="147939334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79393823"/>
        <c:crosses val="autoZero"/>
        <c:auto val="1"/>
        <c:lblAlgn val="ctr"/>
        <c:lblOffset val="100"/>
        <c:noMultiLvlLbl val="0"/>
      </c:catAx>
      <c:valAx>
        <c:axId val="1479393823"/>
        <c:scaling>
          <c:orientation val="minMax"/>
        </c:scaling>
        <c:delete val="0"/>
        <c:axPos val="l"/>
        <c:numFmt formatCode="_(&quot;$&quot;* #,##0.00_);_(&quot;$&quot;* \(#,##0.00\);_(&quot;$&quot;*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rgbClr val="FFFF00"/>
                </a:solidFill>
                <a:latin typeface="+mn-lt"/>
                <a:ea typeface="+mn-ea"/>
                <a:cs typeface="+mn-cs"/>
              </a:defRPr>
            </a:pPr>
            <a:endParaRPr lang="en-US"/>
          </a:p>
        </c:txPr>
        <c:crossAx val="1479393343"/>
        <c:crosses val="autoZero"/>
        <c:crossBetween val="between"/>
      </c:valAx>
      <c:valAx>
        <c:axId val="981745039"/>
        <c:scaling>
          <c:orientation val="minMax"/>
        </c:scaling>
        <c:delete val="0"/>
        <c:axPos val="r"/>
        <c:numFmt formatCode="_(&quot;$&quot;* #,##0.00_);_(&quot;$&quot;* \(#,##0.00\);_(&quot;$&quot;*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2"/>
                </a:solidFill>
                <a:latin typeface="+mn-lt"/>
                <a:ea typeface="+mn-ea"/>
                <a:cs typeface="+mn-cs"/>
              </a:defRPr>
            </a:pPr>
            <a:endParaRPr lang="en-US"/>
          </a:p>
        </c:txPr>
        <c:crossAx val="981756559"/>
        <c:crosses val="max"/>
        <c:crossBetween val="between"/>
      </c:valAx>
      <c:catAx>
        <c:axId val="981756559"/>
        <c:scaling>
          <c:orientation val="minMax"/>
        </c:scaling>
        <c:delete val="1"/>
        <c:axPos val="b"/>
        <c:numFmt formatCode="General" sourceLinked="1"/>
        <c:majorTickMark val="out"/>
        <c:minorTickMark val="none"/>
        <c:tickLblPos val="nextTo"/>
        <c:crossAx val="981745039"/>
        <c:crosses val="autoZero"/>
        <c:auto val="1"/>
        <c:lblAlgn val="ctr"/>
        <c:lblOffset val="100"/>
        <c:noMultiLvlLbl val="0"/>
      </c:catAx>
      <c:spPr>
        <a:noFill/>
        <a:ln>
          <a:solidFill>
            <a:schemeClr val="tx1"/>
          </a:solid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25-Vincent.xlsx]Pivot_Table_AOV!PivotTable4</c:name>
    <c:fmtId val="62"/>
  </c:pivotSource>
  <c:chart>
    <c:title>
      <c:tx>
        <c:rich>
          <a:bodyPr rot="0" spcFirstLastPara="1" vertOverflow="ellipsis" vert="horz" wrap="square" anchor="ctr" anchorCtr="1"/>
          <a:lstStyle/>
          <a:p>
            <a:pPr>
              <a:defRPr lang="en-US" sz="1100" b="1" i="0" u="none" strike="noStrike" kern="1200" spc="0" baseline="0">
                <a:ln>
                  <a:solidFill>
                    <a:schemeClr val="bg1">
                      <a:lumMod val="95000"/>
                    </a:schemeClr>
                  </a:solidFill>
                </a:ln>
                <a:solidFill>
                  <a:srgbClr val="FFFF00"/>
                </a:solidFill>
                <a:latin typeface="+mn-lt"/>
                <a:ea typeface="+mn-ea"/>
                <a:cs typeface="+mn-cs"/>
              </a:defRPr>
            </a:pPr>
            <a:r>
              <a:rPr lang="en-US" sz="1100" b="0">
                <a:ln>
                  <a:solidFill>
                    <a:srgbClr val="FFFF00"/>
                  </a:solidFill>
                </a:ln>
                <a:solidFill>
                  <a:srgbClr val="FFFF00"/>
                </a:solidFill>
              </a:rPr>
              <a:t>Hourly AOV and Revenue</a:t>
            </a:r>
            <a:r>
              <a:rPr lang="en-US" sz="1100" b="0" baseline="0">
                <a:ln>
                  <a:solidFill>
                    <a:srgbClr val="FFFF00"/>
                  </a:solidFill>
                </a:ln>
                <a:solidFill>
                  <a:srgbClr val="FFFF00"/>
                </a:solidFill>
              </a:rPr>
              <a:t> per Pizza</a:t>
            </a:r>
            <a:endParaRPr lang="en-US" sz="1100" b="0">
              <a:ln>
                <a:solidFill>
                  <a:srgbClr val="FFFF00"/>
                </a:solidFill>
              </a:ln>
              <a:solidFill>
                <a:srgbClr val="FFFF00"/>
              </a:solidFill>
            </a:endParaRPr>
          </a:p>
        </c:rich>
      </c:tx>
      <c:overlay val="0"/>
      <c:spPr>
        <a:noFill/>
        <a:ln>
          <a:noFill/>
        </a:ln>
        <a:effectLst/>
      </c:spPr>
      <c:txPr>
        <a:bodyPr rot="0" spcFirstLastPara="1" vertOverflow="ellipsis" vert="horz" wrap="square" anchor="ctr" anchorCtr="1"/>
        <a:lstStyle/>
        <a:p>
          <a:pPr>
            <a:defRPr lang="en-US" sz="1100" b="1" i="0" u="none" strike="noStrike" kern="1200" spc="0" baseline="0">
              <a:ln>
                <a:solidFill>
                  <a:schemeClr val="bg1">
                    <a:lumMod val="95000"/>
                  </a:schemeClr>
                </a:solidFill>
              </a:ln>
              <a:solidFill>
                <a:srgbClr val="FFFF00"/>
              </a:solidFill>
              <a:latin typeface="+mn-lt"/>
              <a:ea typeface="+mn-ea"/>
              <a:cs typeface="+mn-cs"/>
            </a:defRPr>
          </a:pPr>
          <a:endParaRPr lang="en-US"/>
        </a:p>
      </c:txPr>
    </c:title>
    <c:autoTitleDeleted val="0"/>
    <c:pivotFmts>
      <c:pivotFmt>
        <c:idx val="0"/>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anchor="ctr" anchorCtr="0"/>
            <a:lstStyle/>
            <a:p>
              <a:pPr algn="ctr">
                <a:defRPr lang="en-US" sz="10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255498A7-502C-4CE5-A552-4712CF838BD4}"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4"/>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0DAF634F-DDD3-46F0-BB38-86E199DF1287}"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5"/>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6"/>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anchor="ctr" anchorCtr="0"/>
            <a:lstStyle/>
            <a:p>
              <a:pPr algn="ctr">
                <a:defRPr lang="en-US" sz="10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0DAF634F-DDD3-46F0-BB38-86E199DF1287}"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8"/>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255498A7-502C-4CE5-A552-4712CF838BD4}"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9"/>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spPr>
            <a:noFill/>
            <a:ln>
              <a:noFill/>
            </a:ln>
            <a:effectLst/>
          </c:spPr>
          <c:txPr>
            <a:bodyPr rot="0" spcFirstLastPara="1" vertOverflow="ellipsis" vert="horz" wrap="square" anchor="ctr" anchorCtr="0"/>
            <a:lstStyle/>
            <a:p>
              <a:pPr algn="ctr">
                <a:defRPr lang="en-US" sz="10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0DAF634F-DDD3-46F0-BB38-86E199DF1287}"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11"/>
        <c:spPr>
          <a:solidFill>
            <a:schemeClr val="accent1"/>
          </a:solidFill>
          <a:ln w="28575" cap="rnd">
            <a:solidFill>
              <a:srgbClr val="FFFF00"/>
            </a:solidFill>
            <a:round/>
          </a:ln>
          <a:effectLst/>
        </c:spPr>
        <c:marker>
          <c:symbol val="circle"/>
          <c:size val="5"/>
          <c:spPr>
            <a:solidFill>
              <a:srgbClr val="C00000">
                <a:alpha val="99000"/>
              </a:srgbClr>
            </a:solidFill>
            <a:ln w="9525">
              <a:solidFill>
                <a:srgbClr val="A3220D"/>
              </a:solidFill>
            </a:ln>
            <a:effectLst/>
          </c:spPr>
        </c:marker>
        <c:dLbl>
          <c:idx val="0"/>
          <c:tx>
            <c:rich>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fld id="{255498A7-502C-4CE5-A552-4712CF838BD4}" type="VALUE">
                  <a:rPr lang="en-US" sz="1000" b="0" i="0" u="none" strike="noStrike" kern="1200" baseline="0">
                    <a:solidFill>
                      <a:schemeClr val="accent2">
                        <a:lumMod val="75000"/>
                      </a:schemeClr>
                    </a:solidFill>
                    <a:latin typeface="+mn-lt"/>
                    <a:ea typeface="+mn-ea"/>
                    <a:cs typeface="+mn-cs"/>
                  </a:rPr>
                  <a:pPr algn="ctr">
                    <a:defRPr lang="en-US" sz="1000" b="0" i="0" u="none" strike="noStrike" kern="1200" baseline="0">
                      <a:solidFill>
                        <a:schemeClr val="accent2">
                          <a:lumMod val="75000"/>
                        </a:schemeClr>
                      </a:solidFill>
                      <a:latin typeface="+mn-lt"/>
                      <a:ea typeface="+mn-ea"/>
                      <a:cs typeface="+mn-cs"/>
                    </a:defRPr>
                  </a:pPr>
                  <a:t>[VALUE]</a:t>
                </a:fld>
                <a:endParaRPr lang="en-ID"/>
              </a:p>
            </c:rich>
          </c:tx>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Lst>
        </c:dLbl>
      </c:pivotFmt>
      <c:pivotFmt>
        <c:idx val="1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000" b="0" i="0" u="none" strike="noStrike" kern="1200" baseline="0">
                  <a:solidFill>
                    <a:schemeClr val="accent2">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000" b="0" i="0" u="none" strike="noStrike" kern="1200" baseline="0">
                  <a:solidFill>
                    <a:schemeClr val="accent2">
                      <a:lumMod val="75000"/>
                    </a:schemeClr>
                  </a:solidFill>
                  <a:latin typeface="+mn-lt"/>
                  <a:ea typeface="+mn-ea"/>
                  <a:cs typeface="+mn-cs"/>
                </a:defRPr>
              </a:pPr>
              <a:endParaRPr lang="en-US"/>
            </a:p>
          </c:txPr>
          <c:dLblPos val="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4"/>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pivotFmt>
      <c:pivotFmt>
        <c:idx val="16"/>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pivotFmt>
      <c:pivotFmt>
        <c:idx val="17"/>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0.16691085918447815"/>
              <c:y val="-9.8410515202293686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layout>
            <c:manualLayout>
              <c:x val="-1.1333322477906806E-16"/>
              <c:y val="-8.6109200802006958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9"/>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layout>
            <c:manualLayout>
              <c:x val="-0.16691085918447812"/>
              <c:y val="-7.9958543601863635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1"/>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2"/>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layout>
            <c:manualLayout>
              <c:x val="-0.16691085918447812"/>
              <c:y val="-7.9958543601863635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4"/>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5"/>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noFill/>
            <a:ln>
              <a:noFill/>
            </a:ln>
            <a:effectLst/>
          </c:spPr>
          <c:txPr>
            <a:bodyPr rot="0" spcFirstLastPara="1" vertOverflow="ellipsis"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layout>
            <c:manualLayout>
              <c:x val="-0.16691085918447812"/>
              <c:y val="-7.9958543601863635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7"/>
        <c:spPr>
          <a:solidFill>
            <a:schemeClr val="accent1"/>
          </a:solidFill>
          <a:ln w="28575" cap="rnd">
            <a:solidFill>
              <a:srgbClr val="FFFF00"/>
            </a:solidFill>
            <a:round/>
          </a:ln>
          <a:effectLst/>
        </c:spPr>
        <c:marker>
          <c:symbol val="circle"/>
          <c:size val="5"/>
          <c:spPr>
            <a:solidFill>
              <a:srgbClr val="A3220D"/>
            </a:solidFill>
            <a:ln w="12700">
              <a:solidFill>
                <a:srgbClr val="C00000"/>
              </a:solidFill>
            </a:ln>
            <a:effectLst/>
          </c:spPr>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rtl="0">
                <a:defRPr lang="en-US" sz="1100" b="0"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8"/>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chemeClr val="accent1"/>
            </a:solidFill>
            <a:round/>
          </a:ln>
          <a:effectLst/>
        </c:spPr>
        <c:marker>
          <c:symbol val="square"/>
          <c:size val="6"/>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solidFill>
            <a:schemeClr val="accent1"/>
          </a:solidFill>
          <a:ln w="28575" cap="rnd">
            <a:solidFill>
              <a:schemeClr val="accent1"/>
            </a:solidFill>
            <a:round/>
          </a:ln>
          <a:effectLst/>
        </c:spPr>
        <c:marker>
          <c:symbol val="square"/>
          <c:size val="6"/>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olidFill>
          <a:ln w="28575" cap="rnd">
            <a:solidFill>
              <a:srgbClr val="FFFF00"/>
            </a:solidFill>
            <a:round/>
          </a:ln>
          <a:effectLst/>
        </c:spPr>
        <c:marker>
          <c:symbol val="circle"/>
          <c:size val="5"/>
          <c:spPr>
            <a:solidFill>
              <a:srgbClr val="C00000"/>
            </a:solidFill>
            <a:ln w="9525">
              <a:solidFill>
                <a:srgbClr val="C00000"/>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solidFill>
            <a:schemeClr val="accent1"/>
          </a:solidFill>
          <a:ln w="28575" cap="rnd">
            <a:solidFill>
              <a:schemeClr val="accent1"/>
            </a:solidFill>
            <a:round/>
          </a:ln>
          <a:effectLst/>
        </c:spPr>
        <c:marker>
          <c:symbol val="square"/>
          <c:size val="6"/>
          <c:spPr>
            <a:solidFill>
              <a:srgbClr val="C0000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1"/>
          <c:order val="1"/>
          <c:tx>
            <c:strRef>
              <c:f>Pivot_Table_AOV!$K$12</c:f>
              <c:strCache>
                <c:ptCount val="1"/>
                <c:pt idx="0">
                  <c:v>Revenue per Pizza</c:v>
                </c:pt>
              </c:strCache>
            </c:strRef>
          </c:tx>
          <c:spPr>
            <a:ln w="28575" cap="rnd">
              <a:solidFill>
                <a:srgbClr val="FFFF00"/>
              </a:solidFill>
              <a:round/>
            </a:ln>
            <a:effectLst/>
          </c:spPr>
          <c:marker>
            <c:symbol val="circle"/>
            <c:size val="5"/>
            <c:spPr>
              <a:solidFill>
                <a:srgbClr val="C00000"/>
              </a:solidFill>
              <a:ln w="9525">
                <a:solidFill>
                  <a:srgbClr val="C00000"/>
                </a:solidFill>
              </a:ln>
              <a:effectLst/>
            </c:spPr>
          </c:marker>
          <c:cat>
            <c:strRef>
              <c:f>Pivot_Table_AOV!$I$13:$I$27</c:f>
              <c:strCache>
                <c:ptCount val="15"/>
                <c:pt idx="0">
                  <c:v>9</c:v>
                </c:pt>
                <c:pt idx="1">
                  <c:v>10</c:v>
                </c:pt>
                <c:pt idx="2">
                  <c:v>11</c:v>
                </c:pt>
                <c:pt idx="3">
                  <c:v>12</c:v>
                </c:pt>
                <c:pt idx="4">
                  <c:v>13</c:v>
                </c:pt>
                <c:pt idx="5">
                  <c:v>14</c:v>
                </c:pt>
                <c:pt idx="6">
                  <c:v>15</c:v>
                </c:pt>
                <c:pt idx="7">
                  <c:v>16</c:v>
                </c:pt>
                <c:pt idx="8">
                  <c:v>17</c:v>
                </c:pt>
                <c:pt idx="9">
                  <c:v>18</c:v>
                </c:pt>
                <c:pt idx="10">
                  <c:v>19</c:v>
                </c:pt>
                <c:pt idx="11">
                  <c:v>20</c:v>
                </c:pt>
                <c:pt idx="12">
                  <c:v>21</c:v>
                </c:pt>
                <c:pt idx="13">
                  <c:v>22</c:v>
                </c:pt>
                <c:pt idx="14">
                  <c:v>23</c:v>
                </c:pt>
              </c:strCache>
            </c:strRef>
          </c:cat>
          <c:val>
            <c:numRef>
              <c:f>Pivot_Table_AOV!$K$13:$K$27</c:f>
              <c:numCache>
                <c:formatCode>_("$"* #,##0.00_);_("$"* \(#,##0.00\);_("$"* "-"??_);_(@_)</c:formatCode>
                <c:ptCount val="15"/>
                <c:pt idx="0">
                  <c:v>20.75</c:v>
                </c:pt>
                <c:pt idx="1">
                  <c:v>16.869444444444444</c:v>
                </c:pt>
                <c:pt idx="2">
                  <c:v>16.472067448680349</c:v>
                </c:pt>
                <c:pt idx="3">
                  <c:v>16.510906139315221</c:v>
                </c:pt>
                <c:pt idx="4">
                  <c:v>16.539170435053791</c:v>
                </c:pt>
                <c:pt idx="5">
                  <c:v>16.385662884029891</c:v>
                </c:pt>
                <c:pt idx="6">
                  <c:v>16.477705223880594</c:v>
                </c:pt>
                <c:pt idx="7">
                  <c:v>16.526397735314923</c:v>
                </c:pt>
                <c:pt idx="8">
                  <c:v>16.549117251966987</c:v>
                </c:pt>
                <c:pt idx="9">
                  <c:v>16.484557873361634</c:v>
                </c:pt>
                <c:pt idx="10">
                  <c:v>16.48408987743985</c:v>
                </c:pt>
                <c:pt idx="11">
                  <c:v>16.472948500282968</c:v>
                </c:pt>
                <c:pt idx="12">
                  <c:v>16.514656188605109</c:v>
                </c:pt>
                <c:pt idx="13">
                  <c:v>16.461147186147187</c:v>
                </c:pt>
                <c:pt idx="14">
                  <c:v>16.490441176470586</c:v>
                </c:pt>
              </c:numCache>
            </c:numRef>
          </c:val>
          <c:smooth val="1"/>
          <c:extLst>
            <c:ext xmlns:c16="http://schemas.microsoft.com/office/drawing/2014/chart" uri="{C3380CC4-5D6E-409C-BE32-E72D297353CC}">
              <c16:uniqueId val="{00000000-C5AB-42CB-8529-AA3B6AB96F7C}"/>
            </c:ext>
          </c:extLst>
        </c:ser>
        <c:dLbls>
          <c:showLegendKey val="0"/>
          <c:showVal val="0"/>
          <c:showCatName val="0"/>
          <c:showSerName val="0"/>
          <c:showPercent val="0"/>
          <c:showBubbleSize val="0"/>
        </c:dLbls>
        <c:marker val="1"/>
        <c:smooth val="0"/>
        <c:axId val="1484510303"/>
        <c:axId val="1484509343"/>
      </c:lineChart>
      <c:lineChart>
        <c:grouping val="standard"/>
        <c:varyColors val="0"/>
        <c:ser>
          <c:idx val="0"/>
          <c:order val="0"/>
          <c:tx>
            <c:strRef>
              <c:f>Pivot_Table_AOV!$J$12</c:f>
              <c:strCache>
                <c:ptCount val="1"/>
                <c:pt idx="0">
                  <c:v>Revenue per Order (AOV)</c:v>
                </c:pt>
              </c:strCache>
            </c:strRef>
          </c:tx>
          <c:spPr>
            <a:ln w="28575" cap="rnd">
              <a:solidFill>
                <a:schemeClr val="accent1"/>
              </a:solidFill>
              <a:round/>
            </a:ln>
            <a:effectLst/>
          </c:spPr>
          <c:marker>
            <c:symbol val="square"/>
            <c:size val="6"/>
            <c:spPr>
              <a:solidFill>
                <a:srgbClr val="C00000"/>
              </a:solidFill>
              <a:ln w="9525">
                <a:solidFill>
                  <a:schemeClr val="accent1"/>
                </a:solidFill>
              </a:ln>
              <a:effectLst/>
            </c:spPr>
          </c:marker>
          <c:cat>
            <c:strRef>
              <c:f>Pivot_Table_AOV!$I$13:$I$27</c:f>
              <c:strCache>
                <c:ptCount val="15"/>
                <c:pt idx="0">
                  <c:v>9</c:v>
                </c:pt>
                <c:pt idx="1">
                  <c:v>10</c:v>
                </c:pt>
                <c:pt idx="2">
                  <c:v>11</c:v>
                </c:pt>
                <c:pt idx="3">
                  <c:v>12</c:v>
                </c:pt>
                <c:pt idx="4">
                  <c:v>13</c:v>
                </c:pt>
                <c:pt idx="5">
                  <c:v>14</c:v>
                </c:pt>
                <c:pt idx="6">
                  <c:v>15</c:v>
                </c:pt>
                <c:pt idx="7">
                  <c:v>16</c:v>
                </c:pt>
                <c:pt idx="8">
                  <c:v>17</c:v>
                </c:pt>
                <c:pt idx="9">
                  <c:v>18</c:v>
                </c:pt>
                <c:pt idx="10">
                  <c:v>19</c:v>
                </c:pt>
                <c:pt idx="11">
                  <c:v>20</c:v>
                </c:pt>
                <c:pt idx="12">
                  <c:v>21</c:v>
                </c:pt>
                <c:pt idx="13">
                  <c:v>22</c:v>
                </c:pt>
                <c:pt idx="14">
                  <c:v>23</c:v>
                </c:pt>
              </c:strCache>
            </c:strRef>
          </c:cat>
          <c:val>
            <c:numRef>
              <c:f>Pivot_Table_AOV!$J$13:$J$27</c:f>
              <c:numCache>
                <c:formatCode>_("$"* #,##0.00_);_("$"* \(#,##0.00\);_("$"* "-"??_);_(@_)</c:formatCode>
                <c:ptCount val="15"/>
                <c:pt idx="0">
                  <c:v>83</c:v>
                </c:pt>
                <c:pt idx="1">
                  <c:v>37.956249999999997</c:v>
                </c:pt>
                <c:pt idx="2">
                  <c:v>36.503493095044675</c:v>
                </c:pt>
                <c:pt idx="3">
                  <c:v>44.395992063492038</c:v>
                </c:pt>
                <c:pt idx="4">
                  <c:v>43.203951120162913</c:v>
                </c:pt>
                <c:pt idx="5">
                  <c:v>40.218342391304347</c:v>
                </c:pt>
                <c:pt idx="6">
                  <c:v>36.098297002724784</c:v>
                </c:pt>
                <c:pt idx="7">
                  <c:v>36.487187499999983</c:v>
                </c:pt>
                <c:pt idx="8">
                  <c:v>36.916716609589031</c:v>
                </c:pt>
                <c:pt idx="9">
                  <c:v>37.222530220925378</c:v>
                </c:pt>
                <c:pt idx="10">
                  <c:v>36.151767048282714</c:v>
                </c:pt>
                <c:pt idx="11">
                  <c:v>35.45395858708892</c:v>
                </c:pt>
                <c:pt idx="12">
                  <c:v>35.083305509181976</c:v>
                </c:pt>
                <c:pt idx="13">
                  <c:v>34.411990950226247</c:v>
                </c:pt>
                <c:pt idx="14">
                  <c:v>40.04821428571428</c:v>
                </c:pt>
              </c:numCache>
            </c:numRef>
          </c:val>
          <c:smooth val="0"/>
          <c:extLst>
            <c:ext xmlns:c16="http://schemas.microsoft.com/office/drawing/2014/chart" uri="{C3380CC4-5D6E-409C-BE32-E72D297353CC}">
              <c16:uniqueId val="{00000001-C5AB-42CB-8529-AA3B6AB96F7C}"/>
            </c:ext>
          </c:extLst>
        </c:ser>
        <c:dLbls>
          <c:showLegendKey val="0"/>
          <c:showVal val="0"/>
          <c:showCatName val="0"/>
          <c:showSerName val="0"/>
          <c:showPercent val="0"/>
          <c:showBubbleSize val="0"/>
        </c:dLbls>
        <c:marker val="1"/>
        <c:smooth val="0"/>
        <c:axId val="340500543"/>
        <c:axId val="1460048879"/>
      </c:lineChart>
      <c:catAx>
        <c:axId val="148451030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lang="en-US" sz="9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484509343"/>
        <c:crosses val="autoZero"/>
        <c:auto val="1"/>
        <c:lblAlgn val="ctr"/>
        <c:lblOffset val="100"/>
        <c:noMultiLvlLbl val="0"/>
      </c:catAx>
      <c:valAx>
        <c:axId val="1484509343"/>
        <c:scaling>
          <c:orientation val="minMax"/>
          <c:min val="0"/>
        </c:scaling>
        <c:delete val="0"/>
        <c:axPos val="l"/>
        <c:numFmt formatCode="_(&quot;$&quot;* #,##0.00_);_(&quot;$&quot;* \(#,##0.00\);_(&quot;$&quot;* 0??_);_(@_)" sourceLinked="0"/>
        <c:majorTickMark val="out"/>
        <c:minorTickMark val="none"/>
        <c:tickLblPos val="nextTo"/>
        <c:spPr>
          <a:noFill/>
          <a:ln>
            <a:noFill/>
          </a:ln>
          <a:effectLst/>
        </c:spPr>
        <c:txPr>
          <a:bodyPr rot="-60000000" spcFirstLastPara="1" vertOverflow="ellipsis" vert="horz" wrap="square" anchor="ctr" anchorCtr="1"/>
          <a:lstStyle/>
          <a:p>
            <a:pPr algn="ctr">
              <a:defRPr lang="en-US" sz="800" b="1" i="0" u="none" strike="noStrike" kern="1200" baseline="0">
                <a:solidFill>
                  <a:srgbClr val="FFFF00"/>
                </a:solidFill>
                <a:latin typeface="+mn-lt"/>
                <a:ea typeface="+mn-ea"/>
                <a:cs typeface="+mn-cs"/>
              </a:defRPr>
            </a:pPr>
            <a:endParaRPr lang="en-US"/>
          </a:p>
        </c:txPr>
        <c:crossAx val="1484510303"/>
        <c:crosses val="autoZero"/>
        <c:crossBetween val="between"/>
      </c:valAx>
      <c:valAx>
        <c:axId val="1460048879"/>
        <c:scaling>
          <c:orientation val="minMax"/>
        </c:scaling>
        <c:delete val="0"/>
        <c:axPos val="r"/>
        <c:numFmt formatCode="_(&quot;$&quot;* #,##0.00_);_(&quot;$&quot;* \(#,##0.00\);_(&quot;$&quot;* 0??_);_(@_)" sourceLinked="0"/>
        <c:majorTickMark val="out"/>
        <c:minorTickMark val="none"/>
        <c:tickLblPos val="nextTo"/>
        <c:spPr>
          <a:noFill/>
          <a:ln>
            <a:noFill/>
          </a:ln>
          <a:effectLst/>
        </c:spPr>
        <c:txPr>
          <a:bodyPr rot="-60000000" spcFirstLastPara="1" vertOverflow="ellipsis" vert="horz" wrap="square" anchor="ctr" anchorCtr="1"/>
          <a:lstStyle/>
          <a:p>
            <a:pPr algn="ctr">
              <a:defRPr lang="en-US" sz="800" b="1" i="0" u="none" strike="noStrike" kern="1200" baseline="0">
                <a:solidFill>
                  <a:schemeClr val="tx2"/>
                </a:solidFill>
                <a:latin typeface="+mn-lt"/>
                <a:ea typeface="+mn-ea"/>
                <a:cs typeface="+mn-cs"/>
              </a:defRPr>
            </a:pPr>
            <a:endParaRPr lang="en-US"/>
          </a:p>
        </c:txPr>
        <c:crossAx val="340500543"/>
        <c:crosses val="max"/>
        <c:crossBetween val="between"/>
      </c:valAx>
      <c:catAx>
        <c:axId val="340500543"/>
        <c:scaling>
          <c:orientation val="minMax"/>
        </c:scaling>
        <c:delete val="1"/>
        <c:axPos val="b"/>
        <c:numFmt formatCode="General" sourceLinked="1"/>
        <c:majorTickMark val="out"/>
        <c:minorTickMark val="none"/>
        <c:tickLblPos val="nextTo"/>
        <c:crossAx val="1460048879"/>
        <c:crosses val="autoZero"/>
        <c:auto val="1"/>
        <c:lblAlgn val="ctr"/>
        <c:lblOffset val="100"/>
        <c:noMultiLvlLbl val="0"/>
      </c:catAx>
      <c:spPr>
        <a:noFill/>
        <a:ln>
          <a:solidFill>
            <a:schemeClr val="tx1"/>
          </a:solidFill>
        </a:ln>
        <a:effectLst/>
      </c:spPr>
    </c:plotArea>
    <c:legend>
      <c:legendPos val="t"/>
      <c:overlay val="0"/>
      <c:spPr>
        <a:noFill/>
        <a:ln>
          <a:noFill/>
        </a:ln>
        <a:effectLst/>
      </c:spPr>
      <c:txPr>
        <a:bodyPr rot="0" spcFirstLastPara="1" vertOverflow="ellipsis" vert="horz" wrap="square" anchor="ctr" anchorCtr="1"/>
        <a:lstStyle/>
        <a:p>
          <a:pPr>
            <a:defRPr lang="en-US" sz="7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25-Vincent.xlsx]Pivot_Table_Revenue!PivotTable4</c:name>
    <c:fmtId val="16"/>
  </c:pivotSource>
  <c:chart>
    <c:title>
      <c:tx>
        <c:rich>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r>
              <a:rPr lang="en-US" sz="1100" b="1" i="0" u="none" strike="noStrike" kern="1200" baseline="0" dirty="0">
                <a:solidFill>
                  <a:srgbClr val="FFFF00"/>
                </a:solidFill>
                <a:latin typeface="+mn-lt"/>
                <a:ea typeface="+mn-ea"/>
                <a:cs typeface="+mn-cs"/>
              </a:rPr>
              <a:t>Top 5 Pizzas by Revenue ($)</a:t>
            </a:r>
          </a:p>
        </c:rich>
      </c:tx>
      <c:overlay val="0"/>
      <c:spPr>
        <a:noFill/>
        <a:ln>
          <a:noFill/>
        </a:ln>
        <a:effectLst/>
      </c:spPr>
      <c:txPr>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Pivot_Table_Revenue!$H$6</c:f>
              <c:strCache>
                <c:ptCount val="1"/>
                <c:pt idx="0">
                  <c:v>Total</c:v>
                </c:pt>
              </c:strCache>
            </c:strRef>
          </c:tx>
          <c:spPr>
            <a:solidFill>
              <a:srgbClr val="FFFF00"/>
            </a:solidFill>
            <a:ln w="22225">
              <a:solidFill>
                <a:srgbClr val="A3220D"/>
              </a:solidFill>
            </a:ln>
            <a:effectLst/>
          </c:spPr>
          <c:invertIfNegative val="0"/>
          <c:dLbls>
            <c:spPr>
              <a:solidFill>
                <a:srgbClr val="C00000"/>
              </a:solidFill>
              <a:ln>
                <a:noFill/>
              </a:ln>
              <a:effectLst/>
            </c:spPr>
            <c:txPr>
              <a:bodyPr rot="0" spcFirstLastPara="1" vertOverflow="ellipsis" vert="horz" wrap="square" anchor="ctr" anchorCtr="0"/>
              <a:lstStyle/>
              <a:p>
                <a:pPr algn="ctr">
                  <a:defRPr lang="en-US" sz="900" b="1" i="0" u="none" strike="noStrike" kern="1200" baseline="0">
                    <a:solidFill>
                      <a:srgbClr val="FFFF00"/>
                    </a:solidFill>
                    <a:highlight>
                      <a:srgbClr val="800000"/>
                    </a:highlight>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Pivot_Table_Revenue!$G$7:$G$11</c:f>
              <c:strCache>
                <c:ptCount val="5"/>
                <c:pt idx="0">
                  <c:v>The Spicy Italian Pizza</c:v>
                </c:pt>
                <c:pt idx="1">
                  <c:v>The Classic Deluxe Pizza</c:v>
                </c:pt>
                <c:pt idx="2">
                  <c:v>The California Chicken Pizza</c:v>
                </c:pt>
                <c:pt idx="3">
                  <c:v>The Barbecue Chicken Pizza</c:v>
                </c:pt>
                <c:pt idx="4">
                  <c:v>The Thai Chicken Pizza</c:v>
                </c:pt>
              </c:strCache>
            </c:strRef>
          </c:cat>
          <c:val>
            <c:numRef>
              <c:f>Pivot_Table_Revenue!$H$7:$H$11</c:f>
              <c:numCache>
                <c:formatCode>_("$"* #,##0.00_);_("$"* \(#,##0.00\);_("$"* "-"??_);_(@_)</c:formatCode>
                <c:ptCount val="5"/>
                <c:pt idx="0">
                  <c:v>34831.25</c:v>
                </c:pt>
                <c:pt idx="1">
                  <c:v>38180.5</c:v>
                </c:pt>
                <c:pt idx="2">
                  <c:v>41409.5</c:v>
                </c:pt>
                <c:pt idx="3">
                  <c:v>42768</c:v>
                </c:pt>
                <c:pt idx="4">
                  <c:v>43434.25</c:v>
                </c:pt>
              </c:numCache>
            </c:numRef>
          </c:val>
          <c:extLst>
            <c:ext xmlns:c16="http://schemas.microsoft.com/office/drawing/2014/chart" uri="{C3380CC4-5D6E-409C-BE32-E72D297353CC}">
              <c16:uniqueId val="{00000000-5F4B-4206-8379-8D393C82501F}"/>
            </c:ext>
          </c:extLst>
        </c:ser>
        <c:dLbls>
          <c:showLegendKey val="0"/>
          <c:showVal val="0"/>
          <c:showCatName val="0"/>
          <c:showSerName val="0"/>
          <c:showPercent val="0"/>
          <c:showBubbleSize val="0"/>
        </c:dLbls>
        <c:gapWidth val="50"/>
        <c:axId val="110220063"/>
        <c:axId val="110218623"/>
      </c:barChart>
      <c:catAx>
        <c:axId val="110220063"/>
        <c:scaling>
          <c:orientation val="minMax"/>
        </c:scaling>
        <c:delete val="0"/>
        <c:axPos val="l"/>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lgn="ctr">
              <a:defRPr lang="en-US" sz="8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10218623"/>
        <c:crosses val="autoZero"/>
        <c:auto val="1"/>
        <c:lblAlgn val="ctr"/>
        <c:lblOffset val="100"/>
        <c:noMultiLvlLbl val="0"/>
      </c:catAx>
      <c:valAx>
        <c:axId val="110218623"/>
        <c:scaling>
          <c:orientation val="minMax"/>
        </c:scaling>
        <c:delete val="1"/>
        <c:axPos val="b"/>
        <c:numFmt formatCode="_(&quot;$&quot;* #,##0.00_);_(&quot;$&quot;* \(#,##0.00\);_(&quot;$&quot;* &quot;-&quot;??_);_(@_)" sourceLinked="1"/>
        <c:majorTickMark val="none"/>
        <c:minorTickMark val="none"/>
        <c:tickLblPos val="nextTo"/>
        <c:crossAx val="11022006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lgn="ctr">
        <a:defRPr lang="en-US" sz="900" b="1" i="0" u="none" strike="noStrike" kern="1200" baseline="0">
          <a:solidFill>
            <a:srgbClr val="FFFF00"/>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25-Vincent.xlsx]Pivot_Table_Orders!PivotTable4</c:name>
    <c:fmtId val="17"/>
  </c:pivotSource>
  <c:chart>
    <c:title>
      <c:tx>
        <c:rich>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r>
              <a:rPr lang="en-US" sz="1100" b="1" i="0" u="none" strike="noStrike" kern="1200" baseline="0">
                <a:solidFill>
                  <a:srgbClr val="FFFF00"/>
                </a:solidFill>
                <a:latin typeface="+mn-lt"/>
                <a:ea typeface="+mn-ea"/>
                <a:cs typeface="+mn-cs"/>
              </a:rPr>
              <a:t>Top 5 Pizzas by Orders</a:t>
            </a:r>
          </a:p>
        </c:rich>
      </c:tx>
      <c:overlay val="0"/>
      <c:spPr>
        <a:noFill/>
        <a:ln>
          <a:noFill/>
        </a:ln>
        <a:effectLst/>
      </c:spPr>
      <c:txPr>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Pivot_Table_Orders!$H$6</c:f>
              <c:strCache>
                <c:ptCount val="1"/>
                <c:pt idx="0">
                  <c:v>Total</c:v>
                </c:pt>
              </c:strCache>
            </c:strRef>
          </c:tx>
          <c:spPr>
            <a:solidFill>
              <a:srgbClr val="FFFF00"/>
            </a:solidFill>
            <a:ln w="22225">
              <a:solidFill>
                <a:srgbClr val="C00000"/>
              </a:solidFill>
            </a:ln>
            <a:effectLst/>
          </c:spPr>
          <c:invertIfNegative val="0"/>
          <c:dLbls>
            <c:spPr>
              <a:solidFill>
                <a:srgbClr val="C00000"/>
              </a:solidFill>
              <a:ln>
                <a:noFill/>
              </a:ln>
              <a:effectLst/>
            </c:spPr>
            <c:txPr>
              <a:bodyPr rot="0" spcFirstLastPara="1" vertOverflow="ellipsis" vert="horz" wrap="square" lIns="38100" tIns="19050" rIns="38100" bIns="19050" anchor="ctr" anchorCtr="1">
                <a:spAutoFit/>
              </a:bodyPr>
              <a:lstStyle/>
              <a:p>
                <a:pPr>
                  <a:defRPr lang="en-US" sz="90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Pivot_Table_Orders!$G$7:$G$11</c:f>
              <c:strCache>
                <c:ptCount val="5"/>
                <c:pt idx="0">
                  <c:v>The Thai Chicken Pizza</c:v>
                </c:pt>
                <c:pt idx="1">
                  <c:v>The Barbecue Chicken Pizza</c:v>
                </c:pt>
                <c:pt idx="2">
                  <c:v>The Pepperoni Pizza</c:v>
                </c:pt>
                <c:pt idx="3">
                  <c:v>The Hawaiian Pizza</c:v>
                </c:pt>
                <c:pt idx="4">
                  <c:v>The Classic Deluxe Pizza</c:v>
                </c:pt>
              </c:strCache>
            </c:strRef>
          </c:cat>
          <c:val>
            <c:numRef>
              <c:f>Pivot_Table_Orders!$H$7:$H$11</c:f>
              <c:numCache>
                <c:formatCode>_(* #,##0_);_(* \(#,##0\);_(* "-"??_);_(@_)</c:formatCode>
                <c:ptCount val="5"/>
                <c:pt idx="0">
                  <c:v>2225</c:v>
                </c:pt>
                <c:pt idx="1">
                  <c:v>2273</c:v>
                </c:pt>
                <c:pt idx="2">
                  <c:v>2278</c:v>
                </c:pt>
                <c:pt idx="3">
                  <c:v>2280</c:v>
                </c:pt>
                <c:pt idx="4">
                  <c:v>2329</c:v>
                </c:pt>
              </c:numCache>
            </c:numRef>
          </c:val>
          <c:extLst>
            <c:ext xmlns:c16="http://schemas.microsoft.com/office/drawing/2014/chart" uri="{C3380CC4-5D6E-409C-BE32-E72D297353CC}">
              <c16:uniqueId val="{00000000-4181-4028-8C70-B0D76007C9FB}"/>
            </c:ext>
          </c:extLst>
        </c:ser>
        <c:dLbls>
          <c:showLegendKey val="0"/>
          <c:showVal val="0"/>
          <c:showCatName val="0"/>
          <c:showSerName val="0"/>
          <c:showPercent val="0"/>
          <c:showBubbleSize val="0"/>
        </c:dLbls>
        <c:gapWidth val="50"/>
        <c:axId val="110220063"/>
        <c:axId val="110218623"/>
      </c:barChart>
      <c:catAx>
        <c:axId val="110220063"/>
        <c:scaling>
          <c:orientation val="minMax"/>
        </c:scaling>
        <c:delete val="0"/>
        <c:axPos val="l"/>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lgn="ctr">
              <a:defRPr lang="en-US" sz="8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10218623"/>
        <c:crosses val="autoZero"/>
        <c:auto val="1"/>
        <c:lblAlgn val="ctr"/>
        <c:lblOffset val="100"/>
        <c:noMultiLvlLbl val="0"/>
      </c:catAx>
      <c:valAx>
        <c:axId val="110218623"/>
        <c:scaling>
          <c:orientation val="minMax"/>
        </c:scaling>
        <c:delete val="1"/>
        <c:axPos val="b"/>
        <c:numFmt formatCode="_(* #,##0_);_(* \(#,##0\);_(* &quot;-&quot;??_);_(@_)" sourceLinked="1"/>
        <c:majorTickMark val="none"/>
        <c:minorTickMark val="none"/>
        <c:tickLblPos val="nextTo"/>
        <c:crossAx val="11022006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lgn="ctr">
        <a:defRPr lang="en-US" sz="900" b="1" i="0" u="none" strike="noStrike" kern="1200" baseline="0">
          <a:solidFill>
            <a:srgbClr val="FFFF00"/>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25-Vincent.xlsx]Pivot_Table_Quantities!PivotTable4</c:name>
    <c:fmtId val="28"/>
  </c:pivotSource>
  <c:chart>
    <c:title>
      <c:tx>
        <c:rich>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r>
              <a:rPr lang="en-US" sz="1100" b="1" i="0" u="none" strike="noStrike" kern="1200" baseline="0">
                <a:solidFill>
                  <a:srgbClr val="FFFF00"/>
                </a:solidFill>
                <a:latin typeface="+mn-lt"/>
                <a:ea typeface="+mn-ea"/>
                <a:cs typeface="+mn-cs"/>
              </a:rPr>
              <a:t>Top 5 Pizzas by Quantities</a:t>
            </a:r>
          </a:p>
        </c:rich>
      </c:tx>
      <c:overlay val="0"/>
      <c:spPr>
        <a:noFill/>
        <a:ln>
          <a:noFill/>
        </a:ln>
        <a:effectLst/>
      </c:spPr>
      <c:txPr>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Pivot_Table_Quantities!$H$6</c:f>
              <c:strCache>
                <c:ptCount val="1"/>
                <c:pt idx="0">
                  <c:v>Total</c:v>
                </c:pt>
              </c:strCache>
            </c:strRef>
          </c:tx>
          <c:spPr>
            <a:solidFill>
              <a:srgbClr val="FFFF00"/>
            </a:solidFill>
            <a:ln w="22225">
              <a:solidFill>
                <a:srgbClr val="C00000"/>
              </a:solidFill>
            </a:ln>
            <a:effectLst/>
          </c:spPr>
          <c:invertIfNegative val="0"/>
          <c:dLbls>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90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Pivot_Table_Quantities!$G$7:$G$11</c:f>
              <c:strCache>
                <c:ptCount val="5"/>
                <c:pt idx="0">
                  <c:v>The Thai Chicken Pizza</c:v>
                </c:pt>
                <c:pt idx="1">
                  <c:v>The Pepperoni Pizza</c:v>
                </c:pt>
                <c:pt idx="2">
                  <c:v>The Hawaiian Pizza</c:v>
                </c:pt>
                <c:pt idx="3">
                  <c:v>The Barbecue Chicken Pizza</c:v>
                </c:pt>
                <c:pt idx="4">
                  <c:v>The Classic Deluxe Pizza</c:v>
                </c:pt>
              </c:strCache>
            </c:strRef>
          </c:cat>
          <c:val>
            <c:numRef>
              <c:f>Pivot_Table_Quantities!$H$7:$H$11</c:f>
              <c:numCache>
                <c:formatCode>_(* #,##0_);_(* \(#,##0\);_(* "-"??_);_(@_)</c:formatCode>
                <c:ptCount val="5"/>
                <c:pt idx="0">
                  <c:v>2371</c:v>
                </c:pt>
                <c:pt idx="1">
                  <c:v>2418</c:v>
                </c:pt>
                <c:pt idx="2">
                  <c:v>2422</c:v>
                </c:pt>
                <c:pt idx="3">
                  <c:v>2432</c:v>
                </c:pt>
                <c:pt idx="4">
                  <c:v>2453</c:v>
                </c:pt>
              </c:numCache>
            </c:numRef>
          </c:val>
          <c:extLst>
            <c:ext xmlns:c16="http://schemas.microsoft.com/office/drawing/2014/chart" uri="{C3380CC4-5D6E-409C-BE32-E72D297353CC}">
              <c16:uniqueId val="{00000000-6AB3-42CD-B37A-3685D8482082}"/>
            </c:ext>
          </c:extLst>
        </c:ser>
        <c:dLbls>
          <c:showLegendKey val="0"/>
          <c:showVal val="0"/>
          <c:showCatName val="0"/>
          <c:showSerName val="0"/>
          <c:showPercent val="0"/>
          <c:showBubbleSize val="0"/>
        </c:dLbls>
        <c:gapWidth val="50"/>
        <c:axId val="110220063"/>
        <c:axId val="110218623"/>
      </c:barChart>
      <c:catAx>
        <c:axId val="110220063"/>
        <c:scaling>
          <c:orientation val="minMax"/>
        </c:scaling>
        <c:delete val="0"/>
        <c:axPos val="l"/>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lgn="ctr">
              <a:defRPr lang="en-US" sz="8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10218623"/>
        <c:crosses val="autoZero"/>
        <c:auto val="1"/>
        <c:lblAlgn val="ctr"/>
        <c:lblOffset val="100"/>
        <c:noMultiLvlLbl val="0"/>
      </c:catAx>
      <c:valAx>
        <c:axId val="110218623"/>
        <c:scaling>
          <c:orientation val="minMax"/>
        </c:scaling>
        <c:delete val="1"/>
        <c:axPos val="b"/>
        <c:numFmt formatCode="_(* #,##0_);_(* \(#,##0\);_(* &quot;-&quot;??_);_(@_)" sourceLinked="1"/>
        <c:majorTickMark val="none"/>
        <c:minorTickMark val="none"/>
        <c:tickLblPos val="nextTo"/>
        <c:crossAx val="11022006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lgn="ctr">
        <a:defRPr lang="en-US" sz="900" b="1" i="0" u="none" strike="noStrike" kern="1200" baseline="0">
          <a:solidFill>
            <a:srgbClr val="FFFF00"/>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25-Vincent.xlsx]Pivot_Table_AOV!PivotTable5</c:name>
    <c:fmtId val="65"/>
  </c:pivotSource>
  <c:chart>
    <c:title>
      <c:tx>
        <c:rich>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r>
              <a:rPr lang="en-US" sz="1100" b="1" i="0" u="none" strike="noStrike" kern="1200" baseline="0">
                <a:solidFill>
                  <a:srgbClr val="FFFF00"/>
                </a:solidFill>
                <a:latin typeface="+mn-lt"/>
                <a:ea typeface="+mn-ea"/>
                <a:cs typeface="+mn-cs"/>
              </a:rPr>
              <a:t>Top 5 Pizzas by Revenue per Pizza</a:t>
            </a:r>
          </a:p>
        </c:rich>
      </c:tx>
      <c:overlay val="0"/>
      <c:spPr>
        <a:noFill/>
        <a:ln>
          <a:noFill/>
        </a:ln>
        <a:effectLst/>
      </c:spPr>
      <c:txPr>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0"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100" b="0"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0">
              <a:spAutoFit/>
            </a:bodyPr>
            <a:lstStyle/>
            <a:p>
              <a:pPr algn="ct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1" i="0" u="none" strike="noStrike" kern="1200" baseline="0">
                  <a:solidFill>
                    <a:srgbClr val="FFFF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2"/>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Pivot_Table_AOV!$F$6</c:f>
              <c:strCache>
                <c:ptCount val="1"/>
                <c:pt idx="0">
                  <c:v>Total</c:v>
                </c:pt>
              </c:strCache>
            </c:strRef>
          </c:tx>
          <c:spPr>
            <a:solidFill>
              <a:srgbClr val="FFFF00"/>
            </a:solidFill>
            <a:ln w="22225">
              <a:solidFill>
                <a:srgbClr val="C00000"/>
              </a:solidFill>
            </a:ln>
            <a:effectLst/>
          </c:spPr>
          <c:invertIfNegative val="0"/>
          <c:dLbls>
            <c:spPr>
              <a:solidFill>
                <a:srgbClr val="C00000"/>
              </a:solidFill>
              <a:ln>
                <a:noFill/>
              </a:ln>
              <a:effectLst/>
            </c:spPr>
            <c:txPr>
              <a:bodyPr rot="0" spcFirstLastPara="1" vertOverflow="ellipsis" vert="horz" wrap="square" lIns="38100" tIns="19050" rIns="38100" bIns="19050" anchor="ctr" anchorCtr="1">
                <a:spAutoFit/>
              </a:bodyPr>
              <a:lstStyle/>
              <a:p>
                <a:pPr>
                  <a:defRPr lang="en-US" sz="90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Pivot_Table_AOV!$E$7:$E$12</c:f>
              <c:strCache>
                <c:ptCount val="5"/>
                <c:pt idx="0">
                  <c:v>The Southwest Chicken Pizza</c:v>
                </c:pt>
                <c:pt idx="1">
                  <c:v>The Thai Chicken Pizza</c:v>
                </c:pt>
                <c:pt idx="2">
                  <c:v>The Five Cheese Pizza</c:v>
                </c:pt>
                <c:pt idx="3">
                  <c:v>The Greek Pizza</c:v>
                </c:pt>
                <c:pt idx="4">
                  <c:v>The Brie Carre Pizza</c:v>
                </c:pt>
              </c:strCache>
            </c:strRef>
          </c:cat>
          <c:val>
            <c:numRef>
              <c:f>Pivot_Table_AOV!$F$7:$F$12</c:f>
              <c:numCache>
                <c:formatCode>_("$"* #,##0.00_);_("$"* \(#,##0.00\);_("$"* "-"??_);_(@_)</c:formatCode>
                <c:ptCount val="5"/>
                <c:pt idx="0">
                  <c:v>18.104199269692227</c:v>
                </c:pt>
                <c:pt idx="1">
                  <c:v>18.31895824546605</c:v>
                </c:pt>
                <c:pt idx="2">
                  <c:v>18.5</c:v>
                </c:pt>
                <c:pt idx="3">
                  <c:v>20.038098591549311</c:v>
                </c:pt>
                <c:pt idx="4">
                  <c:v>23.649999999999984</c:v>
                </c:pt>
              </c:numCache>
            </c:numRef>
          </c:val>
          <c:extLst>
            <c:ext xmlns:c16="http://schemas.microsoft.com/office/drawing/2014/chart" uri="{C3380CC4-5D6E-409C-BE32-E72D297353CC}">
              <c16:uniqueId val="{00000000-1953-4F1A-A56C-38A59A1427B7}"/>
            </c:ext>
          </c:extLst>
        </c:ser>
        <c:dLbls>
          <c:dLblPos val="ctr"/>
          <c:showLegendKey val="0"/>
          <c:showVal val="1"/>
          <c:showCatName val="0"/>
          <c:showSerName val="0"/>
          <c:showPercent val="0"/>
          <c:showBubbleSize val="0"/>
        </c:dLbls>
        <c:gapWidth val="50"/>
        <c:axId val="110220063"/>
        <c:axId val="110218623"/>
      </c:barChart>
      <c:catAx>
        <c:axId val="110220063"/>
        <c:scaling>
          <c:orientation val="minMax"/>
        </c:scaling>
        <c:delete val="0"/>
        <c:axPos val="l"/>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lgn="ctr">
              <a:defRPr lang="en-US" sz="8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110218623"/>
        <c:crosses val="autoZero"/>
        <c:auto val="1"/>
        <c:lblAlgn val="ctr"/>
        <c:lblOffset val="100"/>
        <c:noMultiLvlLbl val="0"/>
      </c:catAx>
      <c:valAx>
        <c:axId val="110218623"/>
        <c:scaling>
          <c:orientation val="minMax"/>
        </c:scaling>
        <c:delete val="1"/>
        <c:axPos val="b"/>
        <c:numFmt formatCode="_(&quot;$&quot;* #,##0.00_);_(&quot;$&quot;* \(#,##0.00\);_(&quot;$&quot;* &quot;-&quot;??_);_(@_)" sourceLinked="1"/>
        <c:majorTickMark val="none"/>
        <c:minorTickMark val="none"/>
        <c:tickLblPos val="nextTo"/>
        <c:crossAx val="110220063"/>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lgn="ctr">
        <a:defRPr lang="en-US" sz="900" b="1" i="0" u="none" strike="noStrike" kern="1200" baseline="0">
          <a:solidFill>
            <a:srgbClr val="FFFF00"/>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25-Vincent.xlsx]Pivot_Table_Revenue!PivotTable5</c:name>
    <c:fmtId val="17"/>
  </c:pivotSource>
  <c:chart>
    <c:title>
      <c:tx>
        <c:rich>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r>
              <a:rPr lang="en-US" sz="1100" b="1" i="0" u="none" strike="noStrike" kern="1200" baseline="0" dirty="0">
                <a:solidFill>
                  <a:srgbClr val="FFFF00"/>
                </a:solidFill>
                <a:latin typeface="+mn-lt"/>
                <a:ea typeface="+mn-ea"/>
                <a:cs typeface="+mn-cs"/>
              </a:rPr>
              <a:t>Bottom 5 Pizzas by Revenue ($)</a:t>
            </a:r>
          </a:p>
        </c:rich>
      </c:tx>
      <c:overlay val="0"/>
      <c:spPr>
        <a:noFill/>
        <a:ln>
          <a:noFill/>
        </a:ln>
        <a:effectLst/>
      </c:spPr>
      <c:txPr>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1"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1"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1"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Pivot_Table_Revenue!$K$6</c:f>
              <c:strCache>
                <c:ptCount val="1"/>
                <c:pt idx="0">
                  <c:v>Total</c:v>
                </c:pt>
              </c:strCache>
            </c:strRef>
          </c:tx>
          <c:spPr>
            <a:solidFill>
              <a:srgbClr val="FFFF00"/>
            </a:solidFill>
            <a:ln w="22225">
              <a:solidFill>
                <a:srgbClr val="A3220D"/>
              </a:solidFill>
            </a:ln>
            <a:effectLst/>
          </c:spPr>
          <c:invertIfNegative val="0"/>
          <c:dLbls>
            <c:spPr>
              <a:solidFill>
                <a:srgbClr val="C00000"/>
              </a:solidFill>
              <a:ln>
                <a:noFill/>
              </a:ln>
              <a:effectLst/>
            </c:spPr>
            <c:txPr>
              <a:bodyPr rot="0" spcFirstLastPara="1" vertOverflow="ellipsis" vert="horz" wrap="square" anchor="ctr" anchorCtr="0"/>
              <a:lstStyle/>
              <a:p>
                <a:pPr algn="ctr">
                  <a:defRPr lang="en-US" sz="90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Pivot_Table_Revenue!$J$7:$J$11</c:f>
              <c:strCache>
                <c:ptCount val="5"/>
                <c:pt idx="0">
                  <c:v>The Spinach Pesto Pizza</c:v>
                </c:pt>
                <c:pt idx="1">
                  <c:v>The Mediterranean Pizza</c:v>
                </c:pt>
                <c:pt idx="2">
                  <c:v>The Spinach Supreme Pizza</c:v>
                </c:pt>
                <c:pt idx="3">
                  <c:v>The Green Garden Pizza</c:v>
                </c:pt>
                <c:pt idx="4">
                  <c:v>The Brie Carre Pizza</c:v>
                </c:pt>
              </c:strCache>
            </c:strRef>
          </c:cat>
          <c:val>
            <c:numRef>
              <c:f>Pivot_Table_Revenue!$K$7:$K$11</c:f>
              <c:numCache>
                <c:formatCode>_("$"* #,##0.00_);_("$"* \(#,##0.00\);_("$"* "-"??_);_(@_)</c:formatCode>
                <c:ptCount val="5"/>
                <c:pt idx="0">
                  <c:v>15596</c:v>
                </c:pt>
                <c:pt idx="1">
                  <c:v>15360.5</c:v>
                </c:pt>
                <c:pt idx="2">
                  <c:v>15277.75</c:v>
                </c:pt>
                <c:pt idx="3">
                  <c:v>13955.75</c:v>
                </c:pt>
                <c:pt idx="4">
                  <c:v>11588.499999999993</c:v>
                </c:pt>
              </c:numCache>
            </c:numRef>
          </c:val>
          <c:extLst>
            <c:ext xmlns:c16="http://schemas.microsoft.com/office/drawing/2014/chart" uri="{C3380CC4-5D6E-409C-BE32-E72D297353CC}">
              <c16:uniqueId val="{00000000-34DD-467D-9E7E-071C77739FFB}"/>
            </c:ext>
          </c:extLst>
        </c:ser>
        <c:dLbls>
          <c:dLblPos val="outEnd"/>
          <c:showLegendKey val="0"/>
          <c:showVal val="1"/>
          <c:showCatName val="0"/>
          <c:showSerName val="0"/>
          <c:showPercent val="0"/>
          <c:showBubbleSize val="0"/>
        </c:dLbls>
        <c:gapWidth val="50"/>
        <c:axId val="330539199"/>
        <c:axId val="330539679"/>
      </c:barChart>
      <c:catAx>
        <c:axId val="330539199"/>
        <c:scaling>
          <c:orientation val="minMax"/>
        </c:scaling>
        <c:delete val="0"/>
        <c:axPos val="l"/>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lang="en-US" sz="8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330539679"/>
        <c:crosses val="autoZero"/>
        <c:auto val="1"/>
        <c:lblAlgn val="ctr"/>
        <c:lblOffset val="100"/>
        <c:noMultiLvlLbl val="0"/>
      </c:catAx>
      <c:valAx>
        <c:axId val="330539679"/>
        <c:scaling>
          <c:orientation val="minMax"/>
        </c:scaling>
        <c:delete val="1"/>
        <c:axPos val="b"/>
        <c:numFmt formatCode="_(&quot;$&quot;* #,##0.00_);_(&quot;$&quot;* \(#,##0.00\);_(&quot;$&quot;* &quot;-&quot;??_);_(@_)" sourceLinked="1"/>
        <c:majorTickMark val="none"/>
        <c:minorTickMark val="none"/>
        <c:tickLblPos val="nextTo"/>
        <c:crossAx val="330539199"/>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lgn="ctr">
        <a:defRPr lang="en-US" sz="900" b="1" i="0" u="none" strike="noStrike" kern="1200" baseline="0">
          <a:solidFill>
            <a:srgbClr val="FFFF00"/>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25-Vincent.xlsx]Pivot_Table_Orders!PivotTable5</c:name>
    <c:fmtId val="18"/>
  </c:pivotSource>
  <c:chart>
    <c:title>
      <c:tx>
        <c:rich>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r>
              <a:rPr lang="en-US" sz="1100" b="1" i="0" u="none" strike="noStrike" kern="1200" baseline="0">
                <a:solidFill>
                  <a:srgbClr val="FFFF00"/>
                </a:solidFill>
                <a:latin typeface="+mn-lt"/>
                <a:ea typeface="+mn-ea"/>
                <a:cs typeface="+mn-cs"/>
              </a:rPr>
              <a:t>Bottom 5 Pizzas by Orders</a:t>
            </a:r>
          </a:p>
        </c:rich>
      </c:tx>
      <c:overlay val="0"/>
      <c:spPr>
        <a:noFill/>
        <a:ln>
          <a:noFill/>
        </a:ln>
        <a:effectLst/>
      </c:spPr>
      <c:txPr>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1"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1"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1"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FFF00"/>
          </a:solidFill>
          <a:ln w="22225">
            <a:solidFill>
              <a:srgbClr val="A3220D"/>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10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FFFF00"/>
          </a:solidFill>
          <a:ln w="22225">
            <a:solidFill>
              <a:srgbClr val="A3220D"/>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10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FFFF00"/>
          </a:solidFill>
          <a:ln w="22225">
            <a:solidFill>
              <a:srgbClr val="A3220D"/>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10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Pivot_Table_Orders!$K$6</c:f>
              <c:strCache>
                <c:ptCount val="1"/>
                <c:pt idx="0">
                  <c:v>Total</c:v>
                </c:pt>
              </c:strCache>
            </c:strRef>
          </c:tx>
          <c:spPr>
            <a:solidFill>
              <a:srgbClr val="FFFF00"/>
            </a:solidFill>
            <a:ln w="22225">
              <a:solidFill>
                <a:srgbClr val="A3220D"/>
              </a:solidFill>
            </a:ln>
            <a:effectLst/>
          </c:spPr>
          <c:invertIfNegative val="0"/>
          <c:dLbls>
            <c:spPr>
              <a:solidFill>
                <a:srgbClr val="C00000"/>
              </a:solidFill>
              <a:ln>
                <a:noFill/>
              </a:ln>
              <a:effectLst/>
            </c:spPr>
            <c:txPr>
              <a:bodyPr rot="0" spcFirstLastPara="1" vertOverflow="ellipsis" vert="horz" wrap="square" lIns="38100" tIns="19050" rIns="38100" bIns="19050" anchor="ctr" anchorCtr="1">
                <a:spAutoFit/>
              </a:bodyPr>
              <a:lstStyle/>
              <a:p>
                <a:pPr>
                  <a:defRPr lang="en-US" sz="90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Pivot_Table_Orders!$J$7:$J$11</c:f>
              <c:strCache>
                <c:ptCount val="5"/>
                <c:pt idx="0">
                  <c:v>The Chicken Pesto Pizza</c:v>
                </c:pt>
                <c:pt idx="1">
                  <c:v>The Spinach Supreme Pizza</c:v>
                </c:pt>
                <c:pt idx="2">
                  <c:v>The Calabrese Pizza</c:v>
                </c:pt>
                <c:pt idx="3">
                  <c:v>The Mediterranean Pizza</c:v>
                </c:pt>
                <c:pt idx="4">
                  <c:v>The Brie Carre Pizza</c:v>
                </c:pt>
              </c:strCache>
            </c:strRef>
          </c:cat>
          <c:val>
            <c:numRef>
              <c:f>Pivot_Table_Orders!$K$7:$K$11</c:f>
              <c:numCache>
                <c:formatCode>_(* #,##0_);_(* \(#,##0\);_(* "-"??_);_(@_)</c:formatCode>
                <c:ptCount val="5"/>
                <c:pt idx="0">
                  <c:v>938</c:v>
                </c:pt>
                <c:pt idx="1">
                  <c:v>918</c:v>
                </c:pt>
                <c:pt idx="2">
                  <c:v>918</c:v>
                </c:pt>
                <c:pt idx="3">
                  <c:v>912</c:v>
                </c:pt>
                <c:pt idx="4">
                  <c:v>480</c:v>
                </c:pt>
              </c:numCache>
            </c:numRef>
          </c:val>
          <c:extLst>
            <c:ext xmlns:c16="http://schemas.microsoft.com/office/drawing/2014/chart" uri="{C3380CC4-5D6E-409C-BE32-E72D297353CC}">
              <c16:uniqueId val="{00000000-4B43-402F-9A51-790AEBC89C02}"/>
            </c:ext>
          </c:extLst>
        </c:ser>
        <c:dLbls>
          <c:dLblPos val="outEnd"/>
          <c:showLegendKey val="0"/>
          <c:showVal val="1"/>
          <c:showCatName val="0"/>
          <c:showSerName val="0"/>
          <c:showPercent val="0"/>
          <c:showBubbleSize val="0"/>
        </c:dLbls>
        <c:gapWidth val="50"/>
        <c:axId val="330539199"/>
        <c:axId val="330539679"/>
      </c:barChart>
      <c:catAx>
        <c:axId val="330539199"/>
        <c:scaling>
          <c:orientation val="minMax"/>
        </c:scaling>
        <c:delete val="0"/>
        <c:axPos val="l"/>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lang="en-US" sz="8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330539679"/>
        <c:crosses val="autoZero"/>
        <c:auto val="1"/>
        <c:lblAlgn val="ctr"/>
        <c:lblOffset val="100"/>
        <c:noMultiLvlLbl val="0"/>
      </c:catAx>
      <c:valAx>
        <c:axId val="330539679"/>
        <c:scaling>
          <c:orientation val="minMax"/>
        </c:scaling>
        <c:delete val="1"/>
        <c:axPos val="b"/>
        <c:numFmt formatCode="_(* #,##0_);_(* \(#,##0\);_(* &quot;-&quot;??_);_(@_)" sourceLinked="1"/>
        <c:majorTickMark val="none"/>
        <c:minorTickMark val="none"/>
        <c:tickLblPos val="nextTo"/>
        <c:crossAx val="330539199"/>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lgn="ctr">
        <a:defRPr lang="en-US" sz="900" b="1" i="0" u="none" strike="noStrike" kern="1200" baseline="0">
          <a:solidFill>
            <a:srgbClr val="FFFF00"/>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25-Vincent.xlsx]Pivot_Table_Quantities!PivotTable5</c:name>
    <c:fmtId val="29"/>
  </c:pivotSource>
  <c:chart>
    <c:title>
      <c:tx>
        <c:rich>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r>
              <a:rPr lang="en-US" sz="1100" b="1" i="0" u="none" strike="noStrike" kern="1200" baseline="0">
                <a:solidFill>
                  <a:srgbClr val="FFFF00"/>
                </a:solidFill>
                <a:latin typeface="+mn-lt"/>
                <a:ea typeface="+mn-ea"/>
                <a:cs typeface="+mn-cs"/>
              </a:rPr>
              <a:t>Bottom 5 Pizzas by Quantities</a:t>
            </a:r>
          </a:p>
        </c:rich>
      </c:tx>
      <c:overlay val="0"/>
      <c:spPr>
        <a:noFill/>
        <a:ln>
          <a:noFill/>
        </a:ln>
        <a:effectLst/>
      </c:spPr>
      <c:txPr>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1"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1"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1"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FFF00"/>
          </a:solidFill>
          <a:ln w="22225">
            <a:solidFill>
              <a:srgbClr val="A3220D"/>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10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Pivot_Table_Quantities!$K$6</c:f>
              <c:strCache>
                <c:ptCount val="1"/>
                <c:pt idx="0">
                  <c:v>Total</c:v>
                </c:pt>
              </c:strCache>
            </c:strRef>
          </c:tx>
          <c:spPr>
            <a:solidFill>
              <a:srgbClr val="FFFF00"/>
            </a:solidFill>
            <a:ln w="22225">
              <a:solidFill>
                <a:srgbClr val="C00000"/>
              </a:solidFill>
            </a:ln>
            <a:effectLst/>
          </c:spPr>
          <c:invertIfNegative val="0"/>
          <c:dLbls>
            <c:spPr>
              <a:solidFill>
                <a:srgbClr val="C00000"/>
              </a:solidFill>
              <a:ln>
                <a:noFill/>
              </a:ln>
              <a:effectLst/>
            </c:spPr>
            <c:txPr>
              <a:bodyPr rot="0" spcFirstLastPara="1" vertOverflow="ellipsis" vert="horz" wrap="square" lIns="38100" tIns="19050" rIns="38100" bIns="19050" anchor="ctr" anchorCtr="1">
                <a:spAutoFit/>
              </a:bodyPr>
              <a:lstStyle/>
              <a:p>
                <a:pPr>
                  <a:defRPr lang="en-US" sz="90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Pivot_Table_Quantities!$J$7:$J$11</c:f>
              <c:strCache>
                <c:ptCount val="5"/>
                <c:pt idx="0">
                  <c:v>The Chicken Pesto Pizza</c:v>
                </c:pt>
                <c:pt idx="1">
                  <c:v>The Spinach Supreme Pizza</c:v>
                </c:pt>
                <c:pt idx="2">
                  <c:v>The Calabrese Pizza</c:v>
                </c:pt>
                <c:pt idx="3">
                  <c:v>The Mediterranean Pizza</c:v>
                </c:pt>
                <c:pt idx="4">
                  <c:v>The Brie Carre Pizza</c:v>
                </c:pt>
              </c:strCache>
            </c:strRef>
          </c:cat>
          <c:val>
            <c:numRef>
              <c:f>Pivot_Table_Quantities!$K$7:$K$11</c:f>
              <c:numCache>
                <c:formatCode>_(* #,##0_);_(* \(#,##0\);_(* "-"??_);_(@_)</c:formatCode>
                <c:ptCount val="5"/>
                <c:pt idx="0">
                  <c:v>973</c:v>
                </c:pt>
                <c:pt idx="1">
                  <c:v>950</c:v>
                </c:pt>
                <c:pt idx="2">
                  <c:v>937</c:v>
                </c:pt>
                <c:pt idx="3">
                  <c:v>934</c:v>
                </c:pt>
                <c:pt idx="4">
                  <c:v>490</c:v>
                </c:pt>
              </c:numCache>
            </c:numRef>
          </c:val>
          <c:extLst>
            <c:ext xmlns:c16="http://schemas.microsoft.com/office/drawing/2014/chart" uri="{C3380CC4-5D6E-409C-BE32-E72D297353CC}">
              <c16:uniqueId val="{00000000-9DFA-428E-8441-B3A8E098E16D}"/>
            </c:ext>
          </c:extLst>
        </c:ser>
        <c:dLbls>
          <c:dLblPos val="outEnd"/>
          <c:showLegendKey val="0"/>
          <c:showVal val="1"/>
          <c:showCatName val="0"/>
          <c:showSerName val="0"/>
          <c:showPercent val="0"/>
          <c:showBubbleSize val="0"/>
        </c:dLbls>
        <c:gapWidth val="50"/>
        <c:axId val="330539199"/>
        <c:axId val="330539679"/>
      </c:barChart>
      <c:catAx>
        <c:axId val="330539199"/>
        <c:scaling>
          <c:orientation val="minMax"/>
        </c:scaling>
        <c:delete val="0"/>
        <c:axPos val="l"/>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lang="en-US" sz="8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330539679"/>
        <c:crosses val="autoZero"/>
        <c:auto val="1"/>
        <c:lblAlgn val="ctr"/>
        <c:lblOffset val="100"/>
        <c:noMultiLvlLbl val="0"/>
      </c:catAx>
      <c:valAx>
        <c:axId val="330539679"/>
        <c:scaling>
          <c:orientation val="minMax"/>
        </c:scaling>
        <c:delete val="1"/>
        <c:axPos val="b"/>
        <c:numFmt formatCode="_(* #,##0_);_(* \(#,##0\);_(* &quot;-&quot;??_);_(@_)" sourceLinked="1"/>
        <c:majorTickMark val="none"/>
        <c:minorTickMark val="none"/>
        <c:tickLblPos val="nextTo"/>
        <c:crossAx val="330539199"/>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lgn="ctr">
        <a:defRPr lang="en-US" sz="900" b="1" i="0" u="none" strike="noStrike" kern="1200" baseline="0">
          <a:solidFill>
            <a:srgbClr val="FFFF00"/>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[Project-EXC 25-Vincent.xlsx]Pivot_Table_AOV!PivotTable10</c:name>
    <c:fmtId val="86"/>
  </c:pivotSource>
  <c:chart>
    <c:title>
      <c:tx>
        <c:rich>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r>
              <a:rPr lang="en-US" sz="1100" b="1" i="0" u="none" strike="noStrike" kern="1200" baseline="0">
                <a:solidFill>
                  <a:srgbClr val="FFFF00"/>
                </a:solidFill>
                <a:latin typeface="+mn-lt"/>
                <a:ea typeface="+mn-ea"/>
                <a:cs typeface="+mn-cs"/>
              </a:rPr>
              <a:t>Bottom 5 Pizzas by Revenue per Pizza</a:t>
            </a:r>
          </a:p>
        </c:rich>
      </c:tx>
      <c:overlay val="0"/>
      <c:spPr>
        <a:noFill/>
        <a:ln>
          <a:noFill/>
        </a:ln>
        <a:effectLst/>
      </c:spPr>
      <c:txPr>
        <a:bodyPr rot="0" spcFirstLastPara="1" vertOverflow="ellipsis" vert="horz" wrap="square" anchor="ctr" anchorCtr="1"/>
        <a:lstStyle/>
        <a:p>
          <a:pPr algn="ctr">
            <a:defRPr lang="en-US" sz="1100" b="1" i="0" u="none" strike="noStrike" kern="1200" spc="0" baseline="0">
              <a:solidFill>
                <a:srgbClr val="FFFF00"/>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1"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1"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FFF00"/>
          </a:solidFill>
          <a:ln w="22225">
            <a:solidFill>
              <a:srgbClr val="A3220D"/>
            </a:solidFill>
          </a:ln>
          <a:effectLst/>
        </c:spPr>
        <c:marker>
          <c:symbol val="none"/>
        </c:marker>
        <c:dLbl>
          <c:idx val="0"/>
          <c:spPr>
            <a:solidFill>
              <a:sysClr val="window" lastClr="FFFFFF"/>
            </a:solidFill>
            <a:ln>
              <a:noFill/>
            </a:ln>
            <a:effectLst/>
          </c:spPr>
          <c:txPr>
            <a:bodyPr rot="0" spcFirstLastPara="1" vertOverflow="ellipsis" vert="horz" wrap="square" anchor="ctr" anchorCtr="0"/>
            <a:lstStyle/>
            <a:p>
              <a:pPr algn="ctr">
                <a:defRPr lang="en-US" sz="1050" b="1" i="0" u="none" strike="noStrike" kern="1200" baseline="0">
                  <a:solidFill>
                    <a:schemeClr val="accent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FFF00"/>
          </a:solidFill>
          <a:ln w="22225">
            <a:solidFill>
              <a:srgbClr val="A3220D"/>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10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0"/>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1"/>
        <c:spPr>
          <a:solidFill>
            <a:srgbClr val="FFFF00"/>
          </a:solidFill>
          <a:ln w="22225">
            <a:solidFill>
              <a:srgbClr val="C00000"/>
            </a:solidFill>
          </a:ln>
          <a:effectLst/>
        </c:spPr>
        <c:marker>
          <c:symbol val="none"/>
        </c:marker>
        <c:dLbl>
          <c:idx val="0"/>
          <c:spPr>
            <a:solidFill>
              <a:srgbClr val="C00000"/>
            </a:solidFill>
            <a:ln>
              <a:noFill/>
            </a:ln>
            <a:effectLst/>
          </c:spPr>
          <c:txPr>
            <a:bodyPr rot="0" spcFirstLastPara="1" vertOverflow="ellipsis" vert="horz" wrap="square" lIns="38100" tIns="19050" rIns="38100" bIns="19050" anchor="ctr" anchorCtr="1">
              <a:spAutoFit/>
            </a:bodyPr>
            <a:lstStyle/>
            <a:p>
              <a:pPr>
                <a:defRPr lang="en-US" sz="105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Pivot_Table_AOV!$F$15</c:f>
              <c:strCache>
                <c:ptCount val="1"/>
                <c:pt idx="0">
                  <c:v>Total</c:v>
                </c:pt>
              </c:strCache>
            </c:strRef>
          </c:tx>
          <c:spPr>
            <a:solidFill>
              <a:srgbClr val="FFFF00"/>
            </a:solidFill>
            <a:ln w="22225">
              <a:solidFill>
                <a:srgbClr val="C00000"/>
              </a:solidFill>
            </a:ln>
            <a:effectLst/>
          </c:spPr>
          <c:invertIfNegative val="0"/>
          <c:dLbls>
            <c:spPr>
              <a:solidFill>
                <a:srgbClr val="C00000"/>
              </a:solidFill>
              <a:ln>
                <a:noFill/>
              </a:ln>
              <a:effectLst/>
            </c:spPr>
            <c:txPr>
              <a:bodyPr rot="0" spcFirstLastPara="1" vertOverflow="ellipsis" vert="horz" wrap="square" lIns="38100" tIns="19050" rIns="38100" bIns="19050" anchor="ctr" anchorCtr="1">
                <a:spAutoFit/>
              </a:bodyPr>
              <a:lstStyle/>
              <a:p>
                <a:pPr>
                  <a:defRPr lang="en-US" sz="900" b="1" i="0" u="none" strike="noStrike" kern="1200" baseline="0">
                    <a:solidFill>
                      <a:srgbClr val="FFFF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Pivot_Table_AOV!$E$16:$E$21</c:f>
              <c:strCache>
                <c:ptCount val="5"/>
                <c:pt idx="0">
                  <c:v>The Green Garden Pizza</c:v>
                </c:pt>
                <c:pt idx="1">
                  <c:v>The Pepperoni, Mushroom, and Peppers Pizza</c:v>
                </c:pt>
                <c:pt idx="2">
                  <c:v>The Hawaiian Pizza</c:v>
                </c:pt>
                <c:pt idx="3">
                  <c:v>The Pepperoni Pizza</c:v>
                </c:pt>
                <c:pt idx="4">
                  <c:v>The Big Meat Pizza</c:v>
                </c:pt>
              </c:strCache>
            </c:strRef>
          </c:cat>
          <c:val>
            <c:numRef>
              <c:f>Pivot_Table_AOV!$F$16:$F$21</c:f>
              <c:numCache>
                <c:formatCode>_("$"* #,##0.00_);_("$"* \(#,##0.00\);_("$"* "-"??_);_(@_)</c:formatCode>
                <c:ptCount val="5"/>
                <c:pt idx="0">
                  <c:v>13.997743229689068</c:v>
                </c:pt>
                <c:pt idx="1">
                  <c:v>13.859087564385577</c:v>
                </c:pt>
                <c:pt idx="2">
                  <c:v>13.325041288191578</c:v>
                </c:pt>
                <c:pt idx="3">
                  <c:v>12.473842018196857</c:v>
                </c:pt>
                <c:pt idx="4">
                  <c:v>12</c:v>
                </c:pt>
              </c:numCache>
            </c:numRef>
          </c:val>
          <c:extLst>
            <c:ext xmlns:c16="http://schemas.microsoft.com/office/drawing/2014/chart" uri="{C3380CC4-5D6E-409C-BE32-E72D297353CC}">
              <c16:uniqueId val="{00000000-AAAE-4932-B714-DD97A3C9F101}"/>
            </c:ext>
          </c:extLst>
        </c:ser>
        <c:dLbls>
          <c:dLblPos val="outEnd"/>
          <c:showLegendKey val="0"/>
          <c:showVal val="1"/>
          <c:showCatName val="0"/>
          <c:showSerName val="0"/>
          <c:showPercent val="0"/>
          <c:showBubbleSize val="0"/>
        </c:dLbls>
        <c:gapWidth val="50"/>
        <c:axId val="330539199"/>
        <c:axId val="330539679"/>
      </c:barChart>
      <c:catAx>
        <c:axId val="330539199"/>
        <c:scaling>
          <c:orientation val="minMax"/>
        </c:scaling>
        <c:delete val="0"/>
        <c:axPos val="l"/>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lang="en-US" sz="800" b="0" i="0" u="none" strike="noStrike" kern="1200" cap="none" spc="0" baseline="0">
                <a:ln w="0"/>
                <a:solidFill>
                  <a:schemeClr val="tx1"/>
                </a:solidFill>
                <a:effectLst>
                  <a:outerShdw blurRad="38100" dist="19050" dir="2700000" algn="tl" rotWithShape="0">
                    <a:schemeClr val="dk1">
                      <a:alpha val="40000"/>
                    </a:schemeClr>
                  </a:outerShdw>
                </a:effectLst>
                <a:latin typeface="+mn-lt"/>
                <a:ea typeface="+mn-ea"/>
                <a:cs typeface="+mn-cs"/>
              </a:defRPr>
            </a:pPr>
            <a:endParaRPr lang="en-US"/>
          </a:p>
        </c:txPr>
        <c:crossAx val="330539679"/>
        <c:crosses val="autoZero"/>
        <c:auto val="1"/>
        <c:lblAlgn val="ctr"/>
        <c:lblOffset val="100"/>
        <c:noMultiLvlLbl val="0"/>
      </c:catAx>
      <c:valAx>
        <c:axId val="330539679"/>
        <c:scaling>
          <c:orientation val="minMax"/>
        </c:scaling>
        <c:delete val="1"/>
        <c:axPos val="b"/>
        <c:numFmt formatCode="_(&quot;$&quot;* #,##0.00_);_(&quot;$&quot;* \(#,##0.00\);_(&quot;$&quot;* &quot;-&quot;??_);_(@_)" sourceLinked="1"/>
        <c:majorTickMark val="none"/>
        <c:minorTickMark val="none"/>
        <c:tickLblPos val="nextTo"/>
        <c:crossAx val="330539199"/>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60000"/>
        <a:lumOff val="40000"/>
      </a:schemeClr>
    </a:solidFill>
    <a:ln w="9525" cap="flat" cmpd="sng" algn="ctr">
      <a:solidFill>
        <a:schemeClr val="tx1"/>
      </a:solidFill>
      <a:round/>
    </a:ln>
    <a:effectLst/>
  </c:spPr>
  <c:txPr>
    <a:bodyPr/>
    <a:lstStyle/>
    <a:p>
      <a:pPr algn="ctr">
        <a:defRPr lang="en-US" sz="900" b="1" i="0" u="none" strike="noStrike" kern="1200" baseline="0">
          <a:solidFill>
            <a:srgbClr val="FFFF00"/>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 name="Google Shape;4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 name="Google Shape;4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01665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42240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747913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876517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276113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191845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848989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737051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551683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597301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01661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eeb0876f63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g3eeb0876f63_0_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7"/>
          <p:cNvSpPr txBox="1">
            <a:spLocks noGrp="1"/>
          </p:cNvSpPr>
          <p:nvPr>
            <p:ph type="ctrTitle"/>
          </p:nvPr>
        </p:nvSpPr>
        <p:spPr>
          <a:xfrm>
            <a:off x="215700" y="859800"/>
            <a:ext cx="4020300" cy="24042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000"/>
              <a:buNone/>
              <a:defRPr sz="4000">
                <a:solidFill>
                  <a:schemeClr val="lt1"/>
                </a:solidFill>
              </a:defRPr>
            </a:lvl1pPr>
            <a:lvl2pPr lvl="1" algn="ctr">
              <a:lnSpc>
                <a:spcPct val="100000"/>
              </a:lnSpc>
              <a:spcBef>
                <a:spcPts val="0"/>
              </a:spcBef>
              <a:spcAft>
                <a:spcPts val="0"/>
              </a:spcAft>
              <a:buSzPts val="4100"/>
              <a:buNone/>
              <a:defRPr sz="4100"/>
            </a:lvl2pPr>
            <a:lvl3pPr lvl="2" algn="ctr">
              <a:lnSpc>
                <a:spcPct val="100000"/>
              </a:lnSpc>
              <a:spcBef>
                <a:spcPts val="0"/>
              </a:spcBef>
              <a:spcAft>
                <a:spcPts val="0"/>
              </a:spcAft>
              <a:buSzPts val="4100"/>
              <a:buNone/>
              <a:defRPr sz="4100"/>
            </a:lvl3pPr>
            <a:lvl4pPr lvl="3" algn="ctr">
              <a:lnSpc>
                <a:spcPct val="100000"/>
              </a:lnSpc>
              <a:spcBef>
                <a:spcPts val="0"/>
              </a:spcBef>
              <a:spcAft>
                <a:spcPts val="0"/>
              </a:spcAft>
              <a:buSzPts val="4100"/>
              <a:buNone/>
              <a:defRPr sz="4100"/>
            </a:lvl4pPr>
            <a:lvl5pPr lvl="4" algn="ctr">
              <a:lnSpc>
                <a:spcPct val="100000"/>
              </a:lnSpc>
              <a:spcBef>
                <a:spcPts val="0"/>
              </a:spcBef>
              <a:spcAft>
                <a:spcPts val="0"/>
              </a:spcAft>
              <a:buSzPts val="4100"/>
              <a:buNone/>
              <a:defRPr sz="4100"/>
            </a:lvl5pPr>
            <a:lvl6pPr lvl="5" algn="ctr">
              <a:lnSpc>
                <a:spcPct val="100000"/>
              </a:lnSpc>
              <a:spcBef>
                <a:spcPts val="0"/>
              </a:spcBef>
              <a:spcAft>
                <a:spcPts val="0"/>
              </a:spcAft>
              <a:buSzPts val="4100"/>
              <a:buNone/>
              <a:defRPr sz="4100"/>
            </a:lvl6pPr>
            <a:lvl7pPr lvl="6" algn="ctr">
              <a:lnSpc>
                <a:spcPct val="100000"/>
              </a:lnSpc>
              <a:spcBef>
                <a:spcPts val="0"/>
              </a:spcBef>
              <a:spcAft>
                <a:spcPts val="0"/>
              </a:spcAft>
              <a:buSzPts val="4100"/>
              <a:buNone/>
              <a:defRPr sz="4100"/>
            </a:lvl7pPr>
            <a:lvl8pPr lvl="7" algn="ctr">
              <a:lnSpc>
                <a:spcPct val="100000"/>
              </a:lnSpc>
              <a:spcBef>
                <a:spcPts val="0"/>
              </a:spcBef>
              <a:spcAft>
                <a:spcPts val="0"/>
              </a:spcAft>
              <a:buSzPts val="4100"/>
              <a:buNone/>
              <a:defRPr sz="4100"/>
            </a:lvl8pPr>
            <a:lvl9pPr lvl="8" algn="ctr">
              <a:lnSpc>
                <a:spcPct val="100000"/>
              </a:lnSpc>
              <a:spcBef>
                <a:spcPts val="0"/>
              </a:spcBef>
              <a:spcAft>
                <a:spcPts val="0"/>
              </a:spcAft>
              <a:buSzPts val="4100"/>
              <a:buNone/>
              <a:defRPr sz="4100"/>
            </a:lvl9pPr>
          </a:lstStyle>
          <a:p>
            <a:endParaRPr/>
          </a:p>
        </p:txBody>
      </p:sp>
      <p:sp>
        <p:nvSpPr>
          <p:cNvPr id="11" name="Google Shape;11;p7"/>
          <p:cNvSpPr txBox="1">
            <a:spLocks noGrp="1"/>
          </p:cNvSpPr>
          <p:nvPr>
            <p:ph type="subTitle" idx="1"/>
          </p:nvPr>
        </p:nvSpPr>
        <p:spPr>
          <a:xfrm>
            <a:off x="215700" y="4107600"/>
            <a:ext cx="4248300" cy="590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1900"/>
              <a:buNone/>
              <a:defRPr sz="1900"/>
            </a:lvl1pPr>
            <a:lvl2pPr lvl="1" algn="l">
              <a:lnSpc>
                <a:spcPct val="100000"/>
              </a:lnSpc>
              <a:spcBef>
                <a:spcPts val="0"/>
              </a:spcBef>
              <a:spcAft>
                <a:spcPts val="0"/>
              </a:spcAft>
              <a:buSzPts val="1900"/>
              <a:buNone/>
              <a:defRPr sz="1900"/>
            </a:lvl2pPr>
            <a:lvl3pPr lvl="2" algn="l">
              <a:lnSpc>
                <a:spcPct val="100000"/>
              </a:lnSpc>
              <a:spcBef>
                <a:spcPts val="0"/>
              </a:spcBef>
              <a:spcAft>
                <a:spcPts val="0"/>
              </a:spcAft>
              <a:buSzPts val="1900"/>
              <a:buNone/>
              <a:defRPr sz="1900"/>
            </a:lvl3pPr>
            <a:lvl4pPr lvl="3" algn="l">
              <a:lnSpc>
                <a:spcPct val="100000"/>
              </a:lnSpc>
              <a:spcBef>
                <a:spcPts val="0"/>
              </a:spcBef>
              <a:spcAft>
                <a:spcPts val="0"/>
              </a:spcAft>
              <a:buSzPts val="1900"/>
              <a:buNone/>
              <a:defRPr sz="1900"/>
            </a:lvl4pPr>
            <a:lvl5pPr lvl="4" algn="l">
              <a:lnSpc>
                <a:spcPct val="100000"/>
              </a:lnSpc>
              <a:spcBef>
                <a:spcPts val="0"/>
              </a:spcBef>
              <a:spcAft>
                <a:spcPts val="0"/>
              </a:spcAft>
              <a:buSzPts val="1900"/>
              <a:buNone/>
              <a:defRPr sz="1900"/>
            </a:lvl5pPr>
            <a:lvl6pPr lvl="5" algn="l">
              <a:lnSpc>
                <a:spcPct val="100000"/>
              </a:lnSpc>
              <a:spcBef>
                <a:spcPts val="0"/>
              </a:spcBef>
              <a:spcAft>
                <a:spcPts val="0"/>
              </a:spcAft>
              <a:buSzPts val="1900"/>
              <a:buNone/>
              <a:defRPr sz="1900"/>
            </a:lvl6pPr>
            <a:lvl7pPr lvl="6" algn="l">
              <a:lnSpc>
                <a:spcPct val="100000"/>
              </a:lnSpc>
              <a:spcBef>
                <a:spcPts val="0"/>
              </a:spcBef>
              <a:spcAft>
                <a:spcPts val="0"/>
              </a:spcAft>
              <a:buSzPts val="1900"/>
              <a:buNone/>
              <a:defRPr sz="1900"/>
            </a:lvl7pPr>
            <a:lvl8pPr lvl="7" algn="l">
              <a:lnSpc>
                <a:spcPct val="100000"/>
              </a:lnSpc>
              <a:spcBef>
                <a:spcPts val="0"/>
              </a:spcBef>
              <a:spcAft>
                <a:spcPts val="0"/>
              </a:spcAft>
              <a:buSzPts val="1900"/>
              <a:buNone/>
              <a:defRPr sz="1900"/>
            </a:lvl8pPr>
            <a:lvl9pPr lvl="8" algn="l">
              <a:lnSpc>
                <a:spcPct val="100000"/>
              </a:lnSpc>
              <a:spcBef>
                <a:spcPts val="0"/>
              </a:spcBef>
              <a:spcAft>
                <a:spcPts val="0"/>
              </a:spcAft>
              <a:buSzPts val="1900"/>
              <a:buNone/>
              <a:defRPr sz="1900"/>
            </a:lvl9pPr>
          </a:lstStyle>
          <a:p>
            <a:endParaRPr/>
          </a:p>
        </p:txBody>
      </p:sp>
      <p:sp>
        <p:nvSpPr>
          <p:cNvPr id="12" name="Google Shape;12;p7"/>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8"/>
          <p:cNvSpPr txBox="1">
            <a:spLocks noGrp="1"/>
          </p:cNvSpPr>
          <p:nvPr>
            <p:ph type="title"/>
          </p:nvPr>
        </p:nvSpPr>
        <p:spPr>
          <a:xfrm>
            <a:off x="1080000" y="1958850"/>
            <a:ext cx="69840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3200"/>
              <a:buNone/>
              <a:defRPr sz="3200">
                <a:solidFill>
                  <a:schemeClr val="lt1"/>
                </a:solidFill>
              </a:defRPr>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a:endParaRPr/>
          </a:p>
        </p:txBody>
      </p:sp>
      <p:sp>
        <p:nvSpPr>
          <p:cNvPr id="15" name="Google Shape;15;p8"/>
          <p:cNvSpPr txBox="1">
            <a:spLocks noGrp="1"/>
          </p:cNvSpPr>
          <p:nvPr>
            <p:ph type="sldNum" idx="12"/>
          </p:nvPr>
        </p:nvSpPr>
        <p:spPr>
          <a:xfrm>
            <a:off x="8472458" y="48156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9"/>
          <p:cNvSpPr txBox="1">
            <a:spLocks noGrp="1"/>
          </p:cNvSpPr>
          <p:nvPr>
            <p:ph type="title"/>
          </p:nvPr>
        </p:nvSpPr>
        <p:spPr>
          <a:xfrm>
            <a:off x="311700" y="672450"/>
            <a:ext cx="54843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9"/>
          <p:cNvSpPr txBox="1">
            <a:spLocks noGrp="1"/>
          </p:cNvSpPr>
          <p:nvPr>
            <p:ph type="body" idx="1"/>
          </p:nvPr>
        </p:nvSpPr>
        <p:spPr>
          <a:xfrm>
            <a:off x="311700" y="1355375"/>
            <a:ext cx="8520600" cy="30468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Font typeface="Poppins"/>
              <a:buChar char="●"/>
              <a:defRPr>
                <a:latin typeface="Poppins"/>
                <a:ea typeface="Poppins"/>
                <a:cs typeface="Poppins"/>
                <a:sym typeface="Poppins"/>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9"/>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blipFill>
          <a:blip r:embed="rId2">
            <a:alphaModFix/>
          </a:blip>
          <a:stretch>
            <a:fillRect/>
          </a:stretch>
        </a:blipFill>
        <a:effectLst/>
      </p:bgPr>
    </p:bg>
    <p:spTree>
      <p:nvGrpSpPr>
        <p:cNvPr id="1" name="Shape 20"/>
        <p:cNvGrpSpPr/>
        <p:nvPr/>
      </p:nvGrpSpPr>
      <p:grpSpPr>
        <a:xfrm>
          <a:off x="0" y="0"/>
          <a:ext cx="0" cy="0"/>
          <a:chOff x="0" y="0"/>
          <a:chExt cx="0" cy="0"/>
        </a:xfrm>
      </p:grpSpPr>
      <p:sp>
        <p:nvSpPr>
          <p:cNvPr id="21" name="Google Shape;21;p10"/>
          <p:cNvSpPr txBox="1">
            <a:spLocks noGrp="1"/>
          </p:cNvSpPr>
          <p:nvPr>
            <p:ph type="title"/>
          </p:nvPr>
        </p:nvSpPr>
        <p:spPr>
          <a:xfrm>
            <a:off x="265500" y="1425175"/>
            <a:ext cx="2638500" cy="14823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300"/>
              <a:buNone/>
              <a:defRPr sz="3300">
                <a:solidFill>
                  <a:schemeClr val="lt1"/>
                </a:solidFill>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22" name="Google Shape;22;p10"/>
          <p:cNvSpPr txBox="1">
            <a:spLocks noGrp="1"/>
          </p:cNvSpPr>
          <p:nvPr>
            <p:ph type="subTitle" idx="1"/>
          </p:nvPr>
        </p:nvSpPr>
        <p:spPr>
          <a:xfrm>
            <a:off x="265500" y="3144000"/>
            <a:ext cx="2386500" cy="768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1pPr>
            <a:lvl2pPr lvl="1"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2pPr>
            <a:lvl3pPr lvl="2"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3pPr>
            <a:lvl4pPr lvl="3"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4pPr>
            <a:lvl5pPr lvl="4"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5pPr>
            <a:lvl6pPr lvl="5"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6pPr>
            <a:lvl7pPr lvl="6"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7pPr>
            <a:lvl8pPr lvl="7"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8pPr>
            <a:lvl9pPr lvl="8"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9pPr>
          </a:lstStyle>
          <a:p>
            <a:endParaRPr/>
          </a:p>
        </p:txBody>
      </p:sp>
      <p:sp>
        <p:nvSpPr>
          <p:cNvPr id="23" name="Google Shape;23;p10"/>
          <p:cNvSpPr txBox="1">
            <a:spLocks noGrp="1"/>
          </p:cNvSpPr>
          <p:nvPr>
            <p:ph type="body" idx="2"/>
          </p:nvPr>
        </p:nvSpPr>
        <p:spPr>
          <a:xfrm>
            <a:off x="3972000" y="724075"/>
            <a:ext cx="48045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4" name="Google Shape;24;p10"/>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5"/>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12"/>
          <p:cNvSpPr txBox="1">
            <a:spLocks noGrp="1"/>
          </p:cNvSpPr>
          <p:nvPr>
            <p:ph type="title"/>
          </p:nvPr>
        </p:nvSpPr>
        <p:spPr>
          <a:xfrm>
            <a:off x="311700" y="579775"/>
            <a:ext cx="54843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8" name="Google Shape;28;p12"/>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9" name="Google Shape;29;p12"/>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0" name="Google Shape;30;p12"/>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3"/>
          <p:cNvSpPr txBox="1">
            <a:spLocks noGrp="1"/>
          </p:cNvSpPr>
          <p:nvPr>
            <p:ph type="title"/>
          </p:nvPr>
        </p:nvSpPr>
        <p:spPr>
          <a:xfrm>
            <a:off x="1829850" y="2065025"/>
            <a:ext cx="54843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33" name="Google Shape;33;p13"/>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14"/>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14"/>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blipFill>
          <a:blip r:embed="rId2">
            <a:alphaModFix/>
          </a:blip>
          <a:stretch>
            <a:fillRect/>
          </a:stretch>
        </a:blipFill>
        <a:effectLst/>
      </p:bgPr>
    </p:bg>
    <p:spTree>
      <p:nvGrpSpPr>
        <p:cNvPr id="1" name="Shape 37"/>
        <p:cNvGrpSpPr/>
        <p:nvPr/>
      </p:nvGrpSpPr>
      <p:grpSpPr>
        <a:xfrm>
          <a:off x="0" y="0"/>
          <a:ext cx="0" cy="0"/>
          <a:chOff x="0" y="0"/>
          <a:chExt cx="0" cy="0"/>
        </a:xfrm>
      </p:grpSpPr>
      <p:sp>
        <p:nvSpPr>
          <p:cNvPr id="38" name="Google Shape;38;p15"/>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39" name="Google Shape;39;p15"/>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1">
            <a:alphaModFix/>
          </a:blip>
          <a:stretch>
            <a:fillRect/>
          </a:stretch>
        </a:blip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311700" y="579775"/>
            <a:ext cx="54843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rgbClr val="52AA5E"/>
              </a:buClr>
              <a:buSzPts val="2800"/>
              <a:buFont typeface="Poppins"/>
              <a:buNone/>
              <a:defRPr sz="2800" b="1" i="0" u="none" strike="noStrike" cap="none">
                <a:solidFill>
                  <a:srgbClr val="52AA5E"/>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6"/>
          <p:cNvSpPr txBox="1">
            <a:spLocks noGrp="1"/>
          </p:cNvSpPr>
          <p:nvPr>
            <p:ph type="body" idx="1"/>
          </p:nvPr>
        </p:nvSpPr>
        <p:spPr>
          <a:xfrm>
            <a:off x="311700" y="1355375"/>
            <a:ext cx="8520600" cy="30468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accent2"/>
              </a:buClr>
              <a:buSzPts val="1800"/>
              <a:buFont typeface="Poppins SemiBold"/>
              <a:buChar char="●"/>
              <a:defRPr sz="1800" b="0" i="0" u="none" strike="noStrike" cap="none">
                <a:solidFill>
                  <a:schemeClr val="accent2"/>
                </a:solidFill>
                <a:latin typeface="Poppins SemiBold"/>
                <a:ea typeface="Poppins SemiBold"/>
                <a:cs typeface="Poppins SemiBold"/>
                <a:sym typeface="Poppins SemiBold"/>
              </a:defRPr>
            </a:lvl1pPr>
            <a:lvl2pPr marL="914400" marR="0" lvl="1"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2pPr>
            <a:lvl3pPr marL="1371600" marR="0" lvl="2"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3pPr>
            <a:lvl4pPr marL="1828800" marR="0" lvl="3"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4pPr>
            <a:lvl5pPr marL="2286000" marR="0" lvl="4"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5pPr>
            <a:lvl6pPr marL="2743200" marR="0" lvl="5"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6pPr>
            <a:lvl7pPr marL="3200400" marR="0" lvl="6"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7pPr>
            <a:lvl8pPr marL="3657600" marR="0" lvl="7"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8pPr>
            <a:lvl9pPr marL="4114800" marR="0" lvl="8"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9pPr>
          </a:lstStyle>
          <a:p>
            <a:endParaRPr/>
          </a:p>
        </p:txBody>
      </p:sp>
      <p:sp>
        <p:nvSpPr>
          <p:cNvPr id="8" name="Google Shape;8;p6"/>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mavenanalytics.io/data-playground/"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mavenanalytics.io/data-playground/pizza-place-sales"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 Id="rId9" Type="http://schemas.openxmlformats.org/officeDocument/2006/relationships/chart" Target="../charts/char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chart" Target="../charts/chart13.xml"/><Relationship Id="rId13" Type="http://schemas.openxmlformats.org/officeDocument/2006/relationships/chart" Target="../charts/chart18.xml"/><Relationship Id="rId3" Type="http://schemas.openxmlformats.org/officeDocument/2006/relationships/chart" Target="../charts/chart8.xml"/><Relationship Id="rId7" Type="http://schemas.openxmlformats.org/officeDocument/2006/relationships/chart" Target="../charts/chart12.xml"/><Relationship Id="rId12" Type="http://schemas.openxmlformats.org/officeDocument/2006/relationships/chart" Target="../charts/chart17.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chart" Target="../charts/chart11.xml"/><Relationship Id="rId11" Type="http://schemas.openxmlformats.org/officeDocument/2006/relationships/chart" Target="../charts/chart16.xml"/><Relationship Id="rId5" Type="http://schemas.openxmlformats.org/officeDocument/2006/relationships/chart" Target="../charts/chart10.xml"/><Relationship Id="rId10" Type="http://schemas.openxmlformats.org/officeDocument/2006/relationships/chart" Target="../charts/chart15.xml"/><Relationship Id="rId4" Type="http://schemas.openxmlformats.org/officeDocument/2006/relationships/chart" Target="../charts/chart9.xml"/><Relationship Id="rId9" Type="http://schemas.openxmlformats.org/officeDocument/2006/relationships/chart" Target="../charts/char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chart" Target="../charts/chart24.xml"/><Relationship Id="rId13" Type="http://schemas.openxmlformats.org/officeDocument/2006/relationships/chart" Target="../charts/chart29.xml"/><Relationship Id="rId3" Type="http://schemas.openxmlformats.org/officeDocument/2006/relationships/chart" Target="../charts/chart19.xml"/><Relationship Id="rId7" Type="http://schemas.openxmlformats.org/officeDocument/2006/relationships/chart" Target="../charts/chart23.xml"/><Relationship Id="rId12" Type="http://schemas.openxmlformats.org/officeDocument/2006/relationships/chart" Target="../charts/chart28.xm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chart" Target="../charts/chart22.xml"/><Relationship Id="rId11" Type="http://schemas.openxmlformats.org/officeDocument/2006/relationships/chart" Target="../charts/chart27.xml"/><Relationship Id="rId5" Type="http://schemas.openxmlformats.org/officeDocument/2006/relationships/chart" Target="../charts/chart21.xml"/><Relationship Id="rId10" Type="http://schemas.openxmlformats.org/officeDocument/2006/relationships/chart" Target="../charts/chart26.xml"/><Relationship Id="rId4" Type="http://schemas.openxmlformats.org/officeDocument/2006/relationships/chart" Target="../charts/chart20.xml"/><Relationship Id="rId9" Type="http://schemas.openxmlformats.org/officeDocument/2006/relationships/chart" Target="../charts/chart25.xml"/><Relationship Id="rId14" Type="http://schemas.openxmlformats.org/officeDocument/2006/relationships/chart" Target="../charts/chart3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chart" Target="../charts/chart36.xml"/><Relationship Id="rId13" Type="http://schemas.openxmlformats.org/officeDocument/2006/relationships/chart" Target="../charts/chart41.xml"/><Relationship Id="rId3" Type="http://schemas.openxmlformats.org/officeDocument/2006/relationships/chart" Target="../charts/chart31.xml"/><Relationship Id="rId7" Type="http://schemas.openxmlformats.org/officeDocument/2006/relationships/chart" Target="../charts/chart35.xml"/><Relationship Id="rId12" Type="http://schemas.openxmlformats.org/officeDocument/2006/relationships/chart" Target="../charts/chart40.xm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chart" Target="../charts/chart34.xml"/><Relationship Id="rId11" Type="http://schemas.openxmlformats.org/officeDocument/2006/relationships/chart" Target="../charts/chart39.xml"/><Relationship Id="rId5" Type="http://schemas.openxmlformats.org/officeDocument/2006/relationships/chart" Target="../charts/chart33.xml"/><Relationship Id="rId10" Type="http://schemas.openxmlformats.org/officeDocument/2006/relationships/chart" Target="../charts/chart38.xml"/><Relationship Id="rId4" Type="http://schemas.openxmlformats.org/officeDocument/2006/relationships/chart" Target="../charts/chart32.xml"/><Relationship Id="rId9" Type="http://schemas.openxmlformats.org/officeDocument/2006/relationships/chart" Target="../charts/chart37.xml"/><Relationship Id="rId14" Type="http://schemas.openxmlformats.org/officeDocument/2006/relationships/chart" Target="../charts/chart4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chart" Target="../charts/chart48.xml"/><Relationship Id="rId13" Type="http://schemas.openxmlformats.org/officeDocument/2006/relationships/chart" Target="../charts/chart53.xml"/><Relationship Id="rId18" Type="http://schemas.openxmlformats.org/officeDocument/2006/relationships/chart" Target="../charts/chart58.xml"/><Relationship Id="rId3" Type="http://schemas.openxmlformats.org/officeDocument/2006/relationships/chart" Target="../charts/chart43.xml"/><Relationship Id="rId7" Type="http://schemas.openxmlformats.org/officeDocument/2006/relationships/chart" Target="../charts/chart47.xml"/><Relationship Id="rId12" Type="http://schemas.openxmlformats.org/officeDocument/2006/relationships/chart" Target="../charts/chart52.xml"/><Relationship Id="rId17" Type="http://schemas.openxmlformats.org/officeDocument/2006/relationships/chart" Target="../charts/chart57.xml"/><Relationship Id="rId2" Type="http://schemas.openxmlformats.org/officeDocument/2006/relationships/notesSlide" Target="../notesSlides/notesSlide14.xml"/><Relationship Id="rId16" Type="http://schemas.openxmlformats.org/officeDocument/2006/relationships/chart" Target="../charts/chart56.xml"/><Relationship Id="rId1" Type="http://schemas.openxmlformats.org/officeDocument/2006/relationships/slideLayout" Target="../slideLayouts/slideLayout3.xml"/><Relationship Id="rId6" Type="http://schemas.openxmlformats.org/officeDocument/2006/relationships/chart" Target="../charts/chart46.xml"/><Relationship Id="rId11" Type="http://schemas.openxmlformats.org/officeDocument/2006/relationships/chart" Target="../charts/chart51.xml"/><Relationship Id="rId5" Type="http://schemas.openxmlformats.org/officeDocument/2006/relationships/chart" Target="../charts/chart45.xml"/><Relationship Id="rId15" Type="http://schemas.openxmlformats.org/officeDocument/2006/relationships/chart" Target="../charts/chart55.xml"/><Relationship Id="rId10" Type="http://schemas.openxmlformats.org/officeDocument/2006/relationships/chart" Target="../charts/chart50.xml"/><Relationship Id="rId4" Type="http://schemas.openxmlformats.org/officeDocument/2006/relationships/chart" Target="../charts/chart44.xml"/><Relationship Id="rId9" Type="http://schemas.openxmlformats.org/officeDocument/2006/relationships/chart" Target="../charts/chart49.xml"/><Relationship Id="rId14" Type="http://schemas.openxmlformats.org/officeDocument/2006/relationships/chart" Target="../charts/chart5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
          <p:cNvSpPr txBox="1"/>
          <p:nvPr/>
        </p:nvSpPr>
        <p:spPr>
          <a:xfrm>
            <a:off x="215700" y="459744"/>
            <a:ext cx="4020300" cy="2404200"/>
          </a:xfrm>
          <a:prstGeom prst="rect">
            <a:avLst/>
          </a:prstGeom>
          <a:noFill/>
          <a:ln>
            <a:noFill/>
          </a:ln>
        </p:spPr>
        <p:txBody>
          <a:bodyPr spcFirstLastPara="1" wrap="square" lIns="91425" tIns="91425" rIns="91425" bIns="91425" anchor="ctr" anchorCtr="0">
            <a:normAutofit/>
          </a:bodyPr>
          <a:lstStyle/>
          <a:p>
            <a:pPr marL="0" lvl="0" indent="0" algn="l" rtl="0">
              <a:spcBef>
                <a:spcPts val="0"/>
              </a:spcBef>
              <a:spcAft>
                <a:spcPts val="0"/>
              </a:spcAft>
              <a:buNone/>
            </a:pPr>
            <a:r>
              <a:rPr lang="en" sz="3200" b="1" dirty="0">
                <a:solidFill>
                  <a:srgbClr val="FFFFFF"/>
                </a:solidFill>
                <a:latin typeface="Poppins"/>
                <a:ea typeface="Poppins"/>
                <a:cs typeface="Poppins"/>
                <a:sym typeface="Poppins"/>
              </a:rPr>
              <a:t>Pizza Sales Performance Analysis - 2017</a:t>
            </a:r>
            <a:endParaRPr sz="3200" b="1" dirty="0">
              <a:solidFill>
                <a:srgbClr val="FFFFFF"/>
              </a:solidFill>
              <a:latin typeface="Poppins"/>
              <a:ea typeface="Poppins"/>
              <a:cs typeface="Poppins"/>
              <a:sym typeface="Poppins"/>
            </a:endParaRPr>
          </a:p>
        </p:txBody>
      </p:sp>
      <p:sp>
        <p:nvSpPr>
          <p:cNvPr id="45" name="Google Shape;45;p1"/>
          <p:cNvSpPr txBox="1"/>
          <p:nvPr/>
        </p:nvSpPr>
        <p:spPr>
          <a:xfrm>
            <a:off x="215700" y="4443675"/>
            <a:ext cx="4248300" cy="590700"/>
          </a:xfrm>
          <a:prstGeom prst="rect">
            <a:avLst/>
          </a:prstGeom>
          <a:noFill/>
          <a:ln>
            <a:noFill/>
          </a:ln>
        </p:spPr>
        <p:txBody>
          <a:bodyPr spcFirstLastPara="1" wrap="square" lIns="91425" tIns="91425" rIns="91425" bIns="91425" anchor="ctr" anchorCtr="0">
            <a:normAutofit/>
          </a:bodyPr>
          <a:lstStyle/>
          <a:p>
            <a:pPr marL="0" lvl="0" indent="0" algn="l" rtl="0">
              <a:spcBef>
                <a:spcPts val="0"/>
              </a:spcBef>
              <a:spcAft>
                <a:spcPts val="0"/>
              </a:spcAft>
              <a:buNone/>
            </a:pPr>
            <a:r>
              <a:rPr lang="en" sz="1900" dirty="0">
                <a:solidFill>
                  <a:srgbClr val="212121"/>
                </a:solidFill>
                <a:latin typeface="Poppins SemiBold"/>
                <a:ea typeface="Poppins SemiBold"/>
                <a:cs typeface="Poppins SemiBold"/>
                <a:sym typeface="Poppins SemiBold"/>
              </a:rPr>
              <a:t>Vincent Colin Tionando</a:t>
            </a:r>
            <a:endParaRPr sz="1900" dirty="0">
              <a:solidFill>
                <a:srgbClr val="212121"/>
              </a:solidFill>
              <a:latin typeface="Poppins SemiBold"/>
              <a:ea typeface="Poppins SemiBold"/>
              <a:cs typeface="Poppins SemiBold"/>
              <a:sym typeface="Poppins SemiBold"/>
            </a:endParaRPr>
          </a:p>
        </p:txBody>
      </p:sp>
      <p:sp>
        <p:nvSpPr>
          <p:cNvPr id="46" name="Google Shape;46;p1"/>
          <p:cNvSpPr txBox="1"/>
          <p:nvPr/>
        </p:nvSpPr>
        <p:spPr>
          <a:xfrm>
            <a:off x="215700" y="3852975"/>
            <a:ext cx="4248300" cy="590700"/>
          </a:xfrm>
          <a:prstGeom prst="rect">
            <a:avLst/>
          </a:prstGeom>
          <a:noFill/>
          <a:ln>
            <a:noFill/>
          </a:ln>
        </p:spPr>
        <p:txBody>
          <a:bodyPr spcFirstLastPara="1" wrap="square" lIns="91425" tIns="91425" rIns="91425" bIns="91425" anchor="ctr" anchorCtr="0">
            <a:normAutofit fontScale="92500"/>
          </a:bodyPr>
          <a:lstStyle/>
          <a:p>
            <a:pPr marL="0" lvl="0" indent="0" algn="l" rtl="0">
              <a:spcBef>
                <a:spcPts val="0"/>
              </a:spcBef>
              <a:spcAft>
                <a:spcPts val="0"/>
              </a:spcAft>
              <a:buNone/>
            </a:pPr>
            <a:r>
              <a:rPr lang="en" sz="1900">
                <a:solidFill>
                  <a:srgbClr val="212121"/>
                </a:solidFill>
                <a:latin typeface="Poppins SemiBold"/>
                <a:ea typeface="Poppins SemiBold"/>
                <a:cs typeface="Poppins SemiBold"/>
                <a:sym typeface="Poppins SemiBold"/>
              </a:rPr>
              <a:t>Bootcamp Data Analyst with Excel</a:t>
            </a:r>
            <a:endParaRPr sz="1900">
              <a:solidFill>
                <a:srgbClr val="212121"/>
              </a:solidFill>
              <a:latin typeface="Poppins SemiBold"/>
              <a:ea typeface="Poppins SemiBold"/>
              <a:cs typeface="Poppins SemiBold"/>
              <a:sym typeface="Poppins SemiBold"/>
            </a:endParaRPr>
          </a:p>
        </p:txBody>
      </p:sp>
      <p:sp>
        <p:nvSpPr>
          <p:cNvPr id="2" name="Google Shape;44;p1">
            <a:extLst>
              <a:ext uri="{FF2B5EF4-FFF2-40B4-BE49-F238E27FC236}">
                <a16:creationId xmlns:a16="http://schemas.microsoft.com/office/drawing/2014/main" id="{9AB1A3A0-AD75-FD9A-D469-8B63ED1709DE}"/>
              </a:ext>
            </a:extLst>
          </p:cNvPr>
          <p:cNvSpPr txBox="1"/>
          <p:nvPr/>
        </p:nvSpPr>
        <p:spPr>
          <a:xfrm>
            <a:off x="215700" y="2465615"/>
            <a:ext cx="4020300" cy="1145306"/>
          </a:xfrm>
          <a:prstGeom prst="rect">
            <a:avLst/>
          </a:prstGeom>
          <a:noFill/>
          <a:ln>
            <a:noFill/>
          </a:ln>
        </p:spPr>
        <p:txBody>
          <a:bodyPr spcFirstLastPara="1" wrap="square" lIns="91425" tIns="91425" rIns="91425" bIns="91425" anchor="ctr" anchorCtr="0">
            <a:normAutofit/>
          </a:bodyPr>
          <a:lstStyle/>
          <a:p>
            <a:pPr marL="0" lvl="0" indent="0" algn="l" rtl="0">
              <a:spcBef>
                <a:spcPts val="0"/>
              </a:spcBef>
              <a:spcAft>
                <a:spcPts val="0"/>
              </a:spcAft>
              <a:buNone/>
            </a:pPr>
            <a:r>
              <a:rPr lang="en-US" b="1" dirty="0">
                <a:solidFill>
                  <a:schemeClr val="bg1"/>
                </a:solidFill>
              </a:rPr>
              <a:t>Understanding what drives pizza sales performance through Revenue, Orders, Quantity, and AOV</a:t>
            </a:r>
            <a:endParaRPr lang="en-ID" b="1" dirty="0">
              <a:solidFill>
                <a:schemeClr val="bg1"/>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2"/>
          <p:cNvSpPr txBox="1">
            <a:spLocks noGrp="1"/>
          </p:cNvSpPr>
          <p:nvPr>
            <p:ph type="title"/>
          </p:nvPr>
        </p:nvSpPr>
        <p:spPr>
          <a:xfrm>
            <a:off x="1145314" y="244350"/>
            <a:ext cx="6984000" cy="841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200"/>
              <a:buNone/>
            </a:pPr>
            <a:r>
              <a:rPr lang="en-US" dirty="0"/>
              <a:t>Executive Project Summary</a:t>
            </a:r>
            <a:endParaRPr lang="en-ID" dirty="0"/>
          </a:p>
        </p:txBody>
      </p:sp>
      <p:sp>
        <p:nvSpPr>
          <p:cNvPr id="2" name="TextBox 1">
            <a:extLst>
              <a:ext uri="{FF2B5EF4-FFF2-40B4-BE49-F238E27FC236}">
                <a16:creationId xmlns:a16="http://schemas.microsoft.com/office/drawing/2014/main" id="{1A66E887-5A28-C74B-2332-3B04B80BCA34}"/>
              </a:ext>
            </a:extLst>
          </p:cNvPr>
          <p:cNvSpPr txBox="1"/>
          <p:nvPr/>
        </p:nvSpPr>
        <p:spPr>
          <a:xfrm>
            <a:off x="146958" y="1036864"/>
            <a:ext cx="2784021" cy="423642"/>
          </a:xfrm>
          <a:prstGeom prst="rect">
            <a:avLst/>
          </a:prstGeom>
          <a:noFill/>
        </p:spPr>
        <p:txBody>
          <a:bodyPr wrap="square" rtlCol="0">
            <a:spAutoFit/>
          </a:bodyPr>
          <a:lstStyle/>
          <a:p>
            <a:pPr algn="ctr"/>
            <a:r>
              <a:rPr lang="en-US" sz="2153" b="1" u="sng" dirty="0">
                <a:solidFill>
                  <a:schemeClr val="lt1"/>
                </a:solidFill>
                <a:latin typeface="Poppins"/>
                <a:cs typeface="Poppins"/>
                <a:sym typeface="Poppins"/>
              </a:rPr>
              <a:t>Dataset Summary</a:t>
            </a:r>
            <a:endParaRPr lang="en-ID" sz="2153" b="1" u="sng" dirty="0">
              <a:solidFill>
                <a:schemeClr val="lt1"/>
              </a:solidFill>
              <a:latin typeface="Poppins"/>
              <a:cs typeface="Poppins"/>
              <a:sym typeface="Poppins"/>
            </a:endParaRPr>
          </a:p>
        </p:txBody>
      </p:sp>
      <p:sp>
        <p:nvSpPr>
          <p:cNvPr id="4" name="TextBox 3">
            <a:extLst>
              <a:ext uri="{FF2B5EF4-FFF2-40B4-BE49-F238E27FC236}">
                <a16:creationId xmlns:a16="http://schemas.microsoft.com/office/drawing/2014/main" id="{3ADACB6D-7C24-5A9C-5C24-F2C75ADF283B}"/>
              </a:ext>
            </a:extLst>
          </p:cNvPr>
          <p:cNvSpPr txBox="1"/>
          <p:nvPr/>
        </p:nvSpPr>
        <p:spPr>
          <a:xfrm>
            <a:off x="3052082" y="1036864"/>
            <a:ext cx="2854778" cy="423642"/>
          </a:xfrm>
          <a:prstGeom prst="rect">
            <a:avLst/>
          </a:prstGeom>
          <a:noFill/>
        </p:spPr>
        <p:txBody>
          <a:bodyPr wrap="square" rtlCol="0">
            <a:spAutoFit/>
          </a:bodyPr>
          <a:lstStyle/>
          <a:p>
            <a:pPr algn="ctr"/>
            <a:r>
              <a:rPr lang="en-US" sz="2153" b="1" u="sng" dirty="0">
                <a:solidFill>
                  <a:schemeClr val="lt1"/>
                </a:solidFill>
                <a:latin typeface="Poppins"/>
                <a:cs typeface="Poppins"/>
                <a:sym typeface="Poppins"/>
              </a:rPr>
              <a:t>Business</a:t>
            </a:r>
            <a:r>
              <a:rPr lang="en-US" sz="1800" b="1" u="sng" dirty="0">
                <a:solidFill>
                  <a:schemeClr val="lt1"/>
                </a:solidFill>
                <a:latin typeface="Poppins"/>
                <a:cs typeface="Poppins"/>
                <a:sym typeface="Poppins"/>
              </a:rPr>
              <a:t> </a:t>
            </a:r>
            <a:r>
              <a:rPr lang="en-US" sz="2153" b="1" u="sng" dirty="0">
                <a:solidFill>
                  <a:schemeClr val="lt1"/>
                </a:solidFill>
                <a:latin typeface="Poppins"/>
                <a:cs typeface="Poppins"/>
                <a:sym typeface="Poppins"/>
              </a:rPr>
              <a:t>Problem</a:t>
            </a:r>
            <a:endParaRPr lang="en-ID" sz="2153" b="1" u="sng" dirty="0">
              <a:solidFill>
                <a:schemeClr val="lt1"/>
              </a:solidFill>
              <a:latin typeface="Poppins"/>
              <a:cs typeface="Poppins"/>
              <a:sym typeface="Poppins"/>
            </a:endParaRPr>
          </a:p>
        </p:txBody>
      </p:sp>
      <p:sp>
        <p:nvSpPr>
          <p:cNvPr id="5" name="TextBox 4">
            <a:extLst>
              <a:ext uri="{FF2B5EF4-FFF2-40B4-BE49-F238E27FC236}">
                <a16:creationId xmlns:a16="http://schemas.microsoft.com/office/drawing/2014/main" id="{01F3273D-4367-C6E5-3DE7-7EC644DC1C1D}"/>
              </a:ext>
            </a:extLst>
          </p:cNvPr>
          <p:cNvSpPr txBox="1"/>
          <p:nvPr/>
        </p:nvSpPr>
        <p:spPr>
          <a:xfrm>
            <a:off x="6027963" y="1036864"/>
            <a:ext cx="3058887" cy="423193"/>
          </a:xfrm>
          <a:prstGeom prst="rect">
            <a:avLst/>
          </a:prstGeom>
          <a:noFill/>
        </p:spPr>
        <p:txBody>
          <a:bodyPr wrap="square" rtlCol="0">
            <a:spAutoFit/>
          </a:bodyPr>
          <a:lstStyle/>
          <a:p>
            <a:pPr algn="ctr"/>
            <a:r>
              <a:rPr lang="en-US" sz="2150" b="1" u="sng" dirty="0">
                <a:solidFill>
                  <a:schemeClr val="lt1"/>
                </a:solidFill>
                <a:latin typeface="Poppins"/>
                <a:cs typeface="Poppins"/>
                <a:sym typeface="Poppins"/>
              </a:rPr>
              <a:t>Business Objectives</a:t>
            </a:r>
            <a:endParaRPr lang="en-ID" sz="2150" b="1" u="sng" dirty="0">
              <a:solidFill>
                <a:schemeClr val="lt1"/>
              </a:solidFill>
              <a:latin typeface="Poppins"/>
              <a:cs typeface="Poppins"/>
              <a:sym typeface="Poppins"/>
            </a:endParaRPr>
          </a:p>
        </p:txBody>
      </p:sp>
      <p:sp>
        <p:nvSpPr>
          <p:cNvPr id="6" name="TextBox 5">
            <a:extLst>
              <a:ext uri="{FF2B5EF4-FFF2-40B4-BE49-F238E27FC236}">
                <a16:creationId xmlns:a16="http://schemas.microsoft.com/office/drawing/2014/main" id="{3076FD0E-4B3E-3A5B-50B6-9ED05BA30691}"/>
              </a:ext>
            </a:extLst>
          </p:cNvPr>
          <p:cNvSpPr txBox="1"/>
          <p:nvPr/>
        </p:nvSpPr>
        <p:spPr>
          <a:xfrm>
            <a:off x="306161" y="1469863"/>
            <a:ext cx="2465614" cy="2693045"/>
          </a:xfrm>
          <a:prstGeom prst="rect">
            <a:avLst/>
          </a:prstGeom>
          <a:noFill/>
        </p:spPr>
        <p:txBody>
          <a:bodyPr wrap="square" rtlCol="0">
            <a:spAutoFit/>
          </a:bodyPr>
          <a:lstStyle/>
          <a:p>
            <a:pPr algn="just"/>
            <a:r>
              <a:rPr lang="en-US" sz="1300" dirty="0">
                <a:solidFill>
                  <a:schemeClr val="lt1"/>
                </a:solidFill>
                <a:latin typeface="Poppins SemiBold"/>
                <a:cs typeface="Poppins SemiBold"/>
              </a:rPr>
              <a:t>A year's worth of sales from a fictitious pizza place, including the date and time of each order and the pizzas served, with additional details on the type, size, quantity, price, and ingredients.</a:t>
            </a:r>
          </a:p>
          <a:p>
            <a:pPr algn="just"/>
            <a:endParaRPr lang="en-ID" sz="1300" dirty="0">
              <a:solidFill>
                <a:schemeClr val="lt1"/>
              </a:solidFill>
              <a:latin typeface="Poppins SemiBold"/>
              <a:cs typeface="Poppins SemiBold"/>
              <a:sym typeface="Poppins"/>
            </a:endParaRPr>
          </a:p>
          <a:p>
            <a:pPr algn="just"/>
            <a:r>
              <a:rPr lang="en-ID" sz="1300" dirty="0">
                <a:solidFill>
                  <a:schemeClr val="lt1"/>
                </a:solidFill>
                <a:latin typeface="Poppins SemiBold"/>
                <a:cs typeface="Poppins SemiBold"/>
                <a:sym typeface="Poppins"/>
              </a:rPr>
              <a:t>Source:</a:t>
            </a:r>
          </a:p>
          <a:p>
            <a:pPr algn="just"/>
            <a:r>
              <a:rPr lang="en-ID" sz="1300" u="sng" dirty="0">
                <a:solidFill>
                  <a:schemeClr val="lt1"/>
                </a:solidFill>
                <a:latin typeface="Poppins SemiBold"/>
                <a:cs typeface="Poppins SemiBold"/>
                <a:sym typeface="Poppins"/>
                <a:hlinkClick r:id="rId3">
                  <a:extLst>
                    <a:ext uri="{A12FA001-AC4F-418D-AE19-62706E023703}">
                      <ahyp:hlinkClr xmlns:ahyp="http://schemas.microsoft.com/office/drawing/2018/hyperlinkcolor" val="tx"/>
                    </a:ext>
                  </a:extLst>
                </a:hlinkClick>
              </a:rPr>
              <a:t>https://mavenanalytics.io/data-playground/</a:t>
            </a:r>
            <a:r>
              <a:rPr lang="en-ID" sz="1300" u="sng" dirty="0">
                <a:solidFill>
                  <a:schemeClr val="lt1"/>
                </a:solidFill>
                <a:latin typeface="Poppins SemiBold"/>
                <a:cs typeface="Poppins SemiBold"/>
                <a:sym typeface="Poppins"/>
                <a:hlinkClick r:id="rId4">
                  <a:extLst>
                    <a:ext uri="{A12FA001-AC4F-418D-AE19-62706E023703}">
                      <ahyp:hlinkClr xmlns:ahyp="http://schemas.microsoft.com/office/drawing/2018/hyperlinkcolor" val="tx"/>
                    </a:ext>
                  </a:extLst>
                </a:hlinkClick>
              </a:rPr>
              <a:t>pizza-place-sales</a:t>
            </a:r>
            <a:endParaRPr lang="en-ID" sz="1300" u="sng" dirty="0">
              <a:solidFill>
                <a:schemeClr val="lt1"/>
              </a:solidFill>
              <a:latin typeface="Poppins SemiBold"/>
              <a:cs typeface="Poppins SemiBold"/>
              <a:sym typeface="Poppins"/>
            </a:endParaRPr>
          </a:p>
        </p:txBody>
      </p:sp>
      <p:sp>
        <p:nvSpPr>
          <p:cNvPr id="7" name="TextBox 6">
            <a:extLst>
              <a:ext uri="{FF2B5EF4-FFF2-40B4-BE49-F238E27FC236}">
                <a16:creationId xmlns:a16="http://schemas.microsoft.com/office/drawing/2014/main" id="{40525ED1-7C18-1E15-3CBA-35AF856CF982}"/>
              </a:ext>
            </a:extLst>
          </p:cNvPr>
          <p:cNvSpPr txBox="1"/>
          <p:nvPr/>
        </p:nvSpPr>
        <p:spPr>
          <a:xfrm>
            <a:off x="3225573" y="1469863"/>
            <a:ext cx="2465614" cy="2893100"/>
          </a:xfrm>
          <a:prstGeom prst="rect">
            <a:avLst/>
          </a:prstGeom>
          <a:noFill/>
        </p:spPr>
        <p:txBody>
          <a:bodyPr wrap="square" rtlCol="0">
            <a:spAutoFit/>
          </a:bodyPr>
          <a:lstStyle/>
          <a:p>
            <a:pPr marL="0" lvl="0" indent="0">
              <a:buFont typeface="Arial"/>
              <a:buNone/>
            </a:pPr>
            <a:r>
              <a:rPr lang="en-US" sz="1300" b="1" dirty="0">
                <a:solidFill>
                  <a:schemeClr val="bg1"/>
                </a:solidFill>
              </a:rPr>
              <a:t>The lack of structured sales performance analysis makes it difficult to identify sales trends, customer ordering patterns, and opportunities to improve pizza sales performance. </a:t>
            </a:r>
          </a:p>
          <a:p>
            <a:pPr marL="0" lvl="0" indent="0">
              <a:buFont typeface="Arial"/>
              <a:buNone/>
            </a:pPr>
            <a:endParaRPr lang="en-US" sz="1300" b="1" dirty="0">
              <a:solidFill>
                <a:schemeClr val="bg1"/>
              </a:solidFill>
            </a:endParaRPr>
          </a:p>
          <a:p>
            <a:pPr marL="0" lvl="0" indent="0">
              <a:buFont typeface="Arial"/>
              <a:buNone/>
            </a:pPr>
            <a:r>
              <a:rPr lang="en-US" sz="1300" b="1" dirty="0">
                <a:solidFill>
                  <a:schemeClr val="bg1"/>
                </a:solidFill>
              </a:rPr>
              <a:t>The business also needs to evaluate which pizza products should be retained, improved, or potentially removed based on their sales performance.</a:t>
            </a:r>
            <a:endParaRPr lang="en-ID" sz="1300" b="1" dirty="0">
              <a:solidFill>
                <a:schemeClr val="bg1"/>
              </a:solidFill>
              <a:latin typeface="Poppins SemiBold"/>
              <a:cs typeface="Poppins SemiBold"/>
              <a:sym typeface="Poppins"/>
            </a:endParaRPr>
          </a:p>
        </p:txBody>
      </p:sp>
      <p:sp>
        <p:nvSpPr>
          <p:cNvPr id="8" name="TextBox 7">
            <a:extLst>
              <a:ext uri="{FF2B5EF4-FFF2-40B4-BE49-F238E27FC236}">
                <a16:creationId xmlns:a16="http://schemas.microsoft.com/office/drawing/2014/main" id="{480D1007-3E47-F96C-85B8-031443A3C894}"/>
              </a:ext>
            </a:extLst>
          </p:cNvPr>
          <p:cNvSpPr txBox="1"/>
          <p:nvPr/>
        </p:nvSpPr>
        <p:spPr>
          <a:xfrm>
            <a:off x="6144983" y="1469863"/>
            <a:ext cx="2860223" cy="3056093"/>
          </a:xfrm>
          <a:prstGeom prst="rect">
            <a:avLst/>
          </a:prstGeom>
          <a:noFill/>
        </p:spPr>
        <p:txBody>
          <a:bodyPr wrap="square" rtlCol="0">
            <a:spAutoFit/>
          </a:bodyPr>
          <a:lstStyle/>
          <a:p>
            <a:pPr marL="171450" marR="0" lvl="0" indent="-1714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1300" b="0" i="0" u="none" strike="noStrike" cap="none" normalizeH="0" baseline="0" dirty="0">
                <a:ln>
                  <a:noFill/>
                </a:ln>
                <a:solidFill>
                  <a:schemeClr val="bg1"/>
                </a:solidFill>
                <a:effectLst/>
                <a:latin typeface="Arial" panose="020B0604020202020204" pitchFamily="34" charset="0"/>
              </a:rPr>
              <a:t>Analyze </a:t>
            </a:r>
            <a:r>
              <a:rPr kumimoji="0" lang="en-US" altLang="en-US" sz="1300" b="1" i="0" u="none" strike="noStrike" cap="none" normalizeH="0" baseline="0" dirty="0">
                <a:ln>
                  <a:noFill/>
                </a:ln>
                <a:solidFill>
                  <a:schemeClr val="bg1"/>
                </a:solidFill>
                <a:effectLst/>
                <a:latin typeface="Arial" panose="020B0604020202020204" pitchFamily="34" charset="0"/>
              </a:rPr>
              <a:t>Revenue, Orders, Quantity, and AOV</a:t>
            </a:r>
            <a:r>
              <a:rPr kumimoji="0" lang="en-US" altLang="en-US" sz="1300" b="0" i="0" u="none" strike="noStrike" cap="none" normalizeH="0" baseline="0" dirty="0">
                <a:ln>
                  <a:noFill/>
                </a:ln>
                <a:solidFill>
                  <a:schemeClr val="bg1"/>
                </a:solidFill>
                <a:effectLst/>
                <a:latin typeface="Arial" panose="020B0604020202020204" pitchFamily="34" charset="0"/>
              </a:rPr>
              <a:t> performance.</a:t>
            </a:r>
          </a:p>
          <a:p>
            <a:pPr marL="171450" marR="0" lvl="0" indent="-1714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1300" b="0" i="0" u="none" strike="noStrike" cap="none" normalizeH="0" baseline="0" dirty="0">
                <a:ln>
                  <a:noFill/>
                </a:ln>
                <a:solidFill>
                  <a:schemeClr val="bg1"/>
                </a:solidFill>
                <a:effectLst/>
                <a:latin typeface="Arial" panose="020B0604020202020204" pitchFamily="34" charset="0"/>
              </a:rPr>
              <a:t>Identify </a:t>
            </a:r>
            <a:r>
              <a:rPr kumimoji="0" lang="en-US" altLang="en-US" sz="1300" b="1" i="0" u="none" strike="noStrike" cap="none" normalizeH="0" baseline="0" dirty="0">
                <a:ln>
                  <a:noFill/>
                </a:ln>
                <a:solidFill>
                  <a:schemeClr val="bg1"/>
                </a:solidFill>
                <a:effectLst/>
                <a:latin typeface="Arial" panose="020B0604020202020204" pitchFamily="34" charset="0"/>
              </a:rPr>
              <a:t>sales trends and ordering patterns</a:t>
            </a:r>
            <a:r>
              <a:rPr kumimoji="0" lang="en-US" altLang="en-US" sz="1300" b="0" i="0" u="none" strike="noStrike" cap="none" normalizeH="0" baseline="0" dirty="0">
                <a:ln>
                  <a:noFill/>
                </a:ln>
                <a:solidFill>
                  <a:schemeClr val="bg1"/>
                </a:solidFill>
                <a:effectLst/>
                <a:latin typeface="Arial" panose="020B0604020202020204" pitchFamily="34" charset="0"/>
              </a:rPr>
              <a:t>. </a:t>
            </a:r>
          </a:p>
          <a:p>
            <a:pPr marL="171450" marR="0" lvl="0" indent="-1714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1300" b="0" i="0" u="none" strike="noStrike" cap="none" normalizeH="0" baseline="0" dirty="0">
                <a:ln>
                  <a:noFill/>
                </a:ln>
                <a:solidFill>
                  <a:schemeClr val="bg1"/>
                </a:solidFill>
                <a:effectLst/>
                <a:latin typeface="Arial" panose="020B0604020202020204" pitchFamily="34" charset="0"/>
              </a:rPr>
              <a:t>Evaluate the performance of individual pizza products. </a:t>
            </a:r>
          </a:p>
          <a:p>
            <a:pPr marL="171450" marR="0" lvl="0" indent="-1714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1300" b="0" i="0" u="none" strike="noStrike" cap="none" normalizeH="0" baseline="0" dirty="0">
                <a:ln>
                  <a:noFill/>
                </a:ln>
                <a:solidFill>
                  <a:schemeClr val="bg1"/>
                </a:solidFill>
                <a:effectLst/>
                <a:latin typeface="Arial" panose="020B0604020202020204" pitchFamily="34" charset="0"/>
              </a:rPr>
              <a:t>Identify </a:t>
            </a:r>
            <a:r>
              <a:rPr kumimoji="0" lang="en-US" altLang="en-US" sz="1300" b="1" i="0" u="none" strike="noStrike" cap="none" normalizeH="0" baseline="0" dirty="0">
                <a:ln>
                  <a:noFill/>
                </a:ln>
                <a:solidFill>
                  <a:schemeClr val="bg1"/>
                </a:solidFill>
                <a:effectLst/>
                <a:latin typeface="Arial" panose="020B0604020202020204" pitchFamily="34" charset="0"/>
              </a:rPr>
              <a:t>high-performing and underperforming products</a:t>
            </a:r>
            <a:r>
              <a:rPr kumimoji="0" lang="en-US" altLang="en-US" sz="1300" b="0" i="0" u="none" strike="noStrike" cap="none" normalizeH="0" baseline="0" dirty="0">
                <a:ln>
                  <a:noFill/>
                </a:ln>
                <a:solidFill>
                  <a:schemeClr val="bg1"/>
                </a:solidFill>
                <a:effectLst/>
                <a:latin typeface="Arial" panose="020B0604020202020204" pitchFamily="34" charset="0"/>
              </a:rPr>
              <a:t>. </a:t>
            </a:r>
          </a:p>
          <a:p>
            <a:pPr marL="171450" marR="0" lvl="0" indent="-1714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1300" b="0" i="0" u="none" strike="noStrike" cap="none" normalizeH="0" baseline="0" dirty="0">
                <a:ln>
                  <a:noFill/>
                </a:ln>
                <a:solidFill>
                  <a:schemeClr val="bg1"/>
                </a:solidFill>
                <a:effectLst/>
                <a:latin typeface="Arial" panose="020B0604020202020204" pitchFamily="34" charset="0"/>
              </a:rPr>
              <a:t>Provide recommendations for </a:t>
            </a:r>
            <a:r>
              <a:rPr kumimoji="0" lang="en-US" altLang="en-US" sz="1300" b="1" i="0" u="none" strike="noStrike" cap="none" normalizeH="0" baseline="0" dirty="0">
                <a:ln>
                  <a:noFill/>
                </a:ln>
                <a:solidFill>
                  <a:schemeClr val="bg1"/>
                </a:solidFill>
                <a:effectLst/>
                <a:latin typeface="Arial" panose="020B0604020202020204" pitchFamily="34" charset="0"/>
              </a:rPr>
              <a:t>menu portfolio optimization</a:t>
            </a:r>
            <a:r>
              <a:rPr kumimoji="0" lang="en-US" altLang="en-US" sz="1300" b="0" i="0" u="none" strike="noStrike" cap="none" normalizeH="0" baseline="0" dirty="0">
                <a:ln>
                  <a:noFill/>
                </a:ln>
                <a:solidFill>
                  <a:schemeClr val="bg1"/>
                </a:solidFill>
                <a:effectLst/>
                <a:latin typeface="Arial" panose="020B0604020202020204" pitchFamily="34" charset="0"/>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9" name="Title 8">
            <a:extLst>
              <a:ext uri="{FF2B5EF4-FFF2-40B4-BE49-F238E27FC236}">
                <a16:creationId xmlns:a16="http://schemas.microsoft.com/office/drawing/2014/main" id="{401904E5-D0A8-B597-EEC2-0958B134A232}"/>
              </a:ext>
            </a:extLst>
          </p:cNvPr>
          <p:cNvSpPr>
            <a:spLocks noGrp="1"/>
          </p:cNvSpPr>
          <p:nvPr>
            <p:ph type="title"/>
          </p:nvPr>
        </p:nvSpPr>
        <p:spPr>
          <a:xfrm>
            <a:off x="311700" y="374429"/>
            <a:ext cx="7409900" cy="572700"/>
          </a:xfrm>
        </p:spPr>
        <p:txBody>
          <a:bodyPr>
            <a:normAutofit fontScale="90000"/>
          </a:bodyPr>
          <a:lstStyle/>
          <a:p>
            <a:r>
              <a:rPr lang="en-US" dirty="0"/>
              <a:t>Intro to Data and its Model Relationship</a:t>
            </a:r>
            <a:endParaRPr lang="en-ID" dirty="0"/>
          </a:p>
        </p:txBody>
      </p:sp>
      <p:sp>
        <p:nvSpPr>
          <p:cNvPr id="19" name="Text Placeholder 18">
            <a:extLst>
              <a:ext uri="{FF2B5EF4-FFF2-40B4-BE49-F238E27FC236}">
                <a16:creationId xmlns:a16="http://schemas.microsoft.com/office/drawing/2014/main" id="{6D772BE2-F3A7-F649-D58A-E8FA3379A009}"/>
              </a:ext>
            </a:extLst>
          </p:cNvPr>
          <p:cNvSpPr>
            <a:spLocks noGrp="1"/>
          </p:cNvSpPr>
          <p:nvPr>
            <p:ph type="body" idx="1"/>
          </p:nvPr>
        </p:nvSpPr>
        <p:spPr>
          <a:xfrm>
            <a:off x="311699" y="881244"/>
            <a:ext cx="3941953" cy="3629796"/>
          </a:xfrm>
        </p:spPr>
        <p:txBody>
          <a:bodyPr/>
          <a:lstStyle/>
          <a:p>
            <a:r>
              <a:rPr lang="en-US" b="1" dirty="0"/>
              <a:t>pizzas</a:t>
            </a:r>
          </a:p>
          <a:p>
            <a:pPr marL="596900" lvl="1" indent="0">
              <a:buNone/>
            </a:pPr>
            <a:r>
              <a:rPr lang="en-US" dirty="0"/>
              <a:t>Pizza details data </a:t>
            </a:r>
            <a:r>
              <a:rPr lang="en-US" b="1" dirty="0"/>
              <a:t>(</a:t>
            </a:r>
            <a:r>
              <a:rPr lang="en-US" b="1" dirty="0" err="1"/>
              <a:t>pizza_id</a:t>
            </a:r>
            <a:r>
              <a:rPr lang="en-US" b="1" dirty="0"/>
              <a:t>, </a:t>
            </a:r>
            <a:r>
              <a:rPr lang="en-US" b="1" dirty="0" err="1"/>
              <a:t>pizza_type_id</a:t>
            </a:r>
            <a:r>
              <a:rPr lang="en-US" b="1" dirty="0"/>
              <a:t>, name, size, category, ingredients, price)</a:t>
            </a:r>
            <a:endParaRPr lang="en-US" dirty="0"/>
          </a:p>
          <a:p>
            <a:pPr marL="596900" lvl="1" indent="0">
              <a:buNone/>
            </a:pPr>
            <a:endParaRPr lang="en-US" b="1" dirty="0"/>
          </a:p>
          <a:p>
            <a:r>
              <a:rPr lang="en-US" b="1" dirty="0" err="1"/>
              <a:t>order_details</a:t>
            </a:r>
            <a:endParaRPr lang="en-US" b="1" dirty="0"/>
          </a:p>
          <a:p>
            <a:pPr marL="596900" lvl="1" indent="0">
              <a:buNone/>
            </a:pPr>
            <a:r>
              <a:rPr lang="en-US" dirty="0"/>
              <a:t>Line-item details per order </a:t>
            </a:r>
            <a:r>
              <a:rPr lang="en-US" b="1" dirty="0"/>
              <a:t>(</a:t>
            </a:r>
            <a:r>
              <a:rPr lang="en-US" b="1" dirty="0" err="1"/>
              <a:t>order_details_id</a:t>
            </a:r>
            <a:r>
              <a:rPr lang="en-US" b="1" dirty="0"/>
              <a:t>, </a:t>
            </a:r>
            <a:r>
              <a:rPr lang="en-US" b="1" dirty="0" err="1"/>
              <a:t>order_id</a:t>
            </a:r>
            <a:r>
              <a:rPr lang="en-US" b="1" dirty="0"/>
              <a:t>, </a:t>
            </a:r>
            <a:r>
              <a:rPr lang="en-US" b="1" dirty="0" err="1"/>
              <a:t>pizza_id</a:t>
            </a:r>
            <a:r>
              <a:rPr lang="en-US" b="1" dirty="0"/>
              <a:t>, quantity)</a:t>
            </a:r>
          </a:p>
          <a:p>
            <a:pPr marL="596900" lvl="1" indent="0">
              <a:buNone/>
            </a:pPr>
            <a:endParaRPr lang="en-US" b="1" dirty="0"/>
          </a:p>
          <a:p>
            <a:r>
              <a:rPr lang="en-US" b="1" dirty="0"/>
              <a:t>orders</a:t>
            </a:r>
          </a:p>
          <a:p>
            <a:pPr marL="596900" lvl="1" indent="0">
              <a:buNone/>
            </a:pPr>
            <a:r>
              <a:rPr lang="en-ID" dirty="0"/>
              <a:t>Order-level data </a:t>
            </a:r>
            <a:r>
              <a:rPr lang="en-ID" b="1" dirty="0"/>
              <a:t>(</a:t>
            </a:r>
            <a:r>
              <a:rPr lang="en-ID" b="1" dirty="0" err="1"/>
              <a:t>order_id</a:t>
            </a:r>
            <a:r>
              <a:rPr lang="en-ID" b="1" dirty="0"/>
              <a:t>, date, time</a:t>
            </a:r>
            <a:r>
              <a:rPr lang="en-ID" b="1" dirty="0">
                <a:solidFill>
                  <a:srgbClr val="FF0000"/>
                </a:solidFill>
              </a:rPr>
              <a:t>, Day Name</a:t>
            </a:r>
            <a:r>
              <a:rPr lang="en-ID" b="1" dirty="0"/>
              <a:t>)</a:t>
            </a:r>
            <a:endParaRPr lang="en-ID" dirty="0"/>
          </a:p>
        </p:txBody>
      </p:sp>
      <p:pic>
        <p:nvPicPr>
          <p:cNvPr id="33" name="Picture 32">
            <a:extLst>
              <a:ext uri="{FF2B5EF4-FFF2-40B4-BE49-F238E27FC236}">
                <a16:creationId xmlns:a16="http://schemas.microsoft.com/office/drawing/2014/main" id="{8806229F-2704-A660-560A-E07CCF7BFA18}"/>
              </a:ext>
            </a:extLst>
          </p:cNvPr>
          <p:cNvPicPr>
            <a:picLocks noChangeAspect="1"/>
          </p:cNvPicPr>
          <p:nvPr/>
        </p:nvPicPr>
        <p:blipFill>
          <a:blip r:embed="rId3"/>
          <a:stretch>
            <a:fillRect/>
          </a:stretch>
        </p:blipFill>
        <p:spPr>
          <a:xfrm>
            <a:off x="4382347" y="947129"/>
            <a:ext cx="4372132" cy="3123644"/>
          </a:xfrm>
          <a:prstGeom prst="rect">
            <a:avLst/>
          </a:prstGeom>
        </p:spPr>
      </p:pic>
    </p:spTree>
    <p:extLst>
      <p:ext uri="{BB962C8B-B14F-4D97-AF65-F5344CB8AC3E}">
        <p14:creationId xmlns:p14="http://schemas.microsoft.com/office/powerpoint/2010/main" val="2135741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3"/>
          <p:cNvSpPr txBox="1">
            <a:spLocks noGrp="1"/>
          </p:cNvSpPr>
          <p:nvPr>
            <p:ph type="title"/>
          </p:nvPr>
        </p:nvSpPr>
        <p:spPr>
          <a:xfrm>
            <a:off x="311700" y="492834"/>
            <a:ext cx="54843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KPI Metrics</a:t>
            </a:r>
            <a:endParaRPr dirty="0"/>
          </a:p>
        </p:txBody>
      </p:sp>
      <p:sp>
        <p:nvSpPr>
          <p:cNvPr id="64" name="Google Shape;64;p3"/>
          <p:cNvSpPr txBox="1">
            <a:spLocks noGrp="1"/>
          </p:cNvSpPr>
          <p:nvPr>
            <p:ph type="body" idx="1"/>
          </p:nvPr>
        </p:nvSpPr>
        <p:spPr>
          <a:xfrm>
            <a:off x="311700" y="1971839"/>
            <a:ext cx="2449800" cy="572700"/>
          </a:xfrm>
          <a:prstGeom prst="rect">
            <a:avLst/>
          </a:prstGeom>
          <a:noFill/>
          <a:ln>
            <a:noFill/>
          </a:ln>
        </p:spPr>
        <p:txBody>
          <a:bodyPr spcFirstLastPara="1" wrap="square" lIns="91425" tIns="91425" rIns="91425" bIns="91425" anchor="t" anchorCtr="0">
            <a:normAutofit fontScale="92500" lnSpcReduction="10000"/>
          </a:bodyPr>
          <a:lstStyle/>
          <a:p>
            <a:pPr marL="0" lvl="0" indent="0" algn="ctr" rtl="0">
              <a:lnSpc>
                <a:spcPct val="115000"/>
              </a:lnSpc>
              <a:spcBef>
                <a:spcPts val="0"/>
              </a:spcBef>
              <a:spcAft>
                <a:spcPts val="1200"/>
              </a:spcAft>
              <a:buSzPts val="1800"/>
              <a:buNone/>
            </a:pPr>
            <a:r>
              <a:rPr lang="en" sz="1500" dirty="0"/>
              <a:t>TOTAL REVENUE</a:t>
            </a:r>
            <a:endParaRPr sz="1500" dirty="0"/>
          </a:p>
        </p:txBody>
      </p:sp>
      <p:sp>
        <p:nvSpPr>
          <p:cNvPr id="65" name="Google Shape;65;p3"/>
          <p:cNvSpPr txBox="1">
            <a:spLocks noGrp="1"/>
          </p:cNvSpPr>
          <p:nvPr>
            <p:ph type="title"/>
          </p:nvPr>
        </p:nvSpPr>
        <p:spPr>
          <a:xfrm>
            <a:off x="356492" y="1380240"/>
            <a:ext cx="2449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4120" dirty="0"/>
              <a:t>$817.9K</a:t>
            </a:r>
            <a:endParaRPr sz="4120" dirty="0"/>
          </a:p>
        </p:txBody>
      </p:sp>
      <p:sp>
        <p:nvSpPr>
          <p:cNvPr id="66" name="Google Shape;66;p3"/>
          <p:cNvSpPr txBox="1">
            <a:spLocks noGrp="1"/>
          </p:cNvSpPr>
          <p:nvPr>
            <p:ph type="body" idx="1"/>
          </p:nvPr>
        </p:nvSpPr>
        <p:spPr>
          <a:xfrm>
            <a:off x="3144435" y="1971839"/>
            <a:ext cx="2449800" cy="572700"/>
          </a:xfrm>
          <a:prstGeom prst="rect">
            <a:avLst/>
          </a:prstGeom>
          <a:noFill/>
          <a:ln>
            <a:noFill/>
          </a:ln>
        </p:spPr>
        <p:txBody>
          <a:bodyPr spcFirstLastPara="1" wrap="square" lIns="91425" tIns="91425" rIns="91425" bIns="91425" anchor="t" anchorCtr="0">
            <a:normAutofit fontScale="92500" lnSpcReduction="10000"/>
          </a:bodyPr>
          <a:lstStyle/>
          <a:p>
            <a:pPr marL="0" lvl="0" indent="0" algn="ctr" rtl="0">
              <a:lnSpc>
                <a:spcPct val="115000"/>
              </a:lnSpc>
              <a:spcBef>
                <a:spcPts val="0"/>
              </a:spcBef>
              <a:spcAft>
                <a:spcPts val="1200"/>
              </a:spcAft>
              <a:buSzPts val="1800"/>
              <a:buNone/>
            </a:pPr>
            <a:r>
              <a:rPr lang="en" sz="1500" dirty="0"/>
              <a:t>TOTAL ORDERS</a:t>
            </a:r>
            <a:endParaRPr sz="1500" dirty="0"/>
          </a:p>
        </p:txBody>
      </p:sp>
      <p:sp>
        <p:nvSpPr>
          <p:cNvPr id="67" name="Google Shape;67;p3"/>
          <p:cNvSpPr txBox="1">
            <a:spLocks noGrp="1"/>
          </p:cNvSpPr>
          <p:nvPr>
            <p:ph type="title"/>
          </p:nvPr>
        </p:nvSpPr>
        <p:spPr>
          <a:xfrm>
            <a:off x="3166831" y="1380240"/>
            <a:ext cx="2449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4120" dirty="0"/>
              <a:t>21.4K</a:t>
            </a:r>
            <a:endParaRPr sz="4120" dirty="0"/>
          </a:p>
        </p:txBody>
      </p:sp>
      <p:sp>
        <p:nvSpPr>
          <p:cNvPr id="68" name="Google Shape;68;p3"/>
          <p:cNvSpPr txBox="1">
            <a:spLocks noGrp="1"/>
          </p:cNvSpPr>
          <p:nvPr>
            <p:ph type="body" idx="1"/>
          </p:nvPr>
        </p:nvSpPr>
        <p:spPr>
          <a:xfrm>
            <a:off x="5977170" y="1971839"/>
            <a:ext cx="2449800" cy="572700"/>
          </a:xfrm>
          <a:prstGeom prst="rect">
            <a:avLst/>
          </a:prstGeom>
          <a:noFill/>
          <a:ln>
            <a:noFill/>
          </a:ln>
        </p:spPr>
        <p:txBody>
          <a:bodyPr spcFirstLastPara="1" wrap="square" lIns="91425" tIns="91425" rIns="91425" bIns="91425" anchor="t" anchorCtr="0">
            <a:normAutofit fontScale="92500" lnSpcReduction="10000"/>
          </a:bodyPr>
          <a:lstStyle/>
          <a:p>
            <a:pPr marL="0" lvl="0" indent="0" algn="ctr" rtl="0">
              <a:lnSpc>
                <a:spcPct val="115000"/>
              </a:lnSpc>
              <a:spcBef>
                <a:spcPts val="0"/>
              </a:spcBef>
              <a:spcAft>
                <a:spcPts val="1200"/>
              </a:spcAft>
              <a:buSzPts val="1800"/>
              <a:buNone/>
            </a:pPr>
            <a:r>
              <a:rPr lang="en" sz="1500" dirty="0"/>
              <a:t>TOTAL PIZZA SOLD</a:t>
            </a:r>
            <a:endParaRPr sz="1500" dirty="0"/>
          </a:p>
        </p:txBody>
      </p:sp>
      <p:sp>
        <p:nvSpPr>
          <p:cNvPr id="69" name="Google Shape;69;p3"/>
          <p:cNvSpPr txBox="1">
            <a:spLocks noGrp="1"/>
          </p:cNvSpPr>
          <p:nvPr>
            <p:ph type="title"/>
          </p:nvPr>
        </p:nvSpPr>
        <p:spPr>
          <a:xfrm>
            <a:off x="5977170" y="1380240"/>
            <a:ext cx="2449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4120" dirty="0"/>
              <a:t>49.6K</a:t>
            </a:r>
            <a:endParaRPr sz="4120" dirty="0"/>
          </a:p>
        </p:txBody>
      </p:sp>
      <p:sp>
        <p:nvSpPr>
          <p:cNvPr id="70" name="Google Shape;70;p3"/>
          <p:cNvSpPr txBox="1">
            <a:spLocks noGrp="1"/>
          </p:cNvSpPr>
          <p:nvPr>
            <p:ph type="body" idx="1"/>
          </p:nvPr>
        </p:nvSpPr>
        <p:spPr>
          <a:xfrm>
            <a:off x="356492" y="3450844"/>
            <a:ext cx="2449800" cy="572700"/>
          </a:xfrm>
          <a:prstGeom prst="rect">
            <a:avLst/>
          </a:prstGeom>
          <a:noFill/>
          <a:ln>
            <a:noFill/>
          </a:ln>
        </p:spPr>
        <p:txBody>
          <a:bodyPr spcFirstLastPara="1" wrap="square" lIns="91425" tIns="91425" rIns="91425" bIns="91425" anchor="t" anchorCtr="0">
            <a:normAutofit fontScale="85000" lnSpcReduction="10000"/>
          </a:bodyPr>
          <a:lstStyle/>
          <a:p>
            <a:pPr marL="0" lvl="0" indent="0" algn="ctr" rtl="0">
              <a:lnSpc>
                <a:spcPct val="115000"/>
              </a:lnSpc>
              <a:spcBef>
                <a:spcPts val="0"/>
              </a:spcBef>
              <a:spcAft>
                <a:spcPts val="1200"/>
              </a:spcAft>
              <a:buSzPts val="1800"/>
              <a:buNone/>
            </a:pPr>
            <a:r>
              <a:rPr lang="en" sz="1500" dirty="0"/>
              <a:t>REVENUE PER ORDER (AOV)</a:t>
            </a:r>
            <a:endParaRPr sz="1500" dirty="0"/>
          </a:p>
        </p:txBody>
      </p:sp>
      <p:sp>
        <p:nvSpPr>
          <p:cNvPr id="71" name="Google Shape;71;p3"/>
          <p:cNvSpPr txBox="1">
            <a:spLocks noGrp="1"/>
          </p:cNvSpPr>
          <p:nvPr>
            <p:ph type="title"/>
          </p:nvPr>
        </p:nvSpPr>
        <p:spPr>
          <a:xfrm>
            <a:off x="356492" y="2819525"/>
            <a:ext cx="2449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4120" dirty="0"/>
              <a:t>$38.31</a:t>
            </a:r>
            <a:endParaRPr sz="4120" dirty="0"/>
          </a:p>
        </p:txBody>
      </p:sp>
      <p:sp>
        <p:nvSpPr>
          <p:cNvPr id="10" name="Google Shape;71;p3">
            <a:extLst>
              <a:ext uri="{FF2B5EF4-FFF2-40B4-BE49-F238E27FC236}">
                <a16:creationId xmlns:a16="http://schemas.microsoft.com/office/drawing/2014/main" id="{B380B74E-5111-8E16-4004-002DA2C63CCE}"/>
              </a:ext>
            </a:extLst>
          </p:cNvPr>
          <p:cNvSpPr txBox="1">
            <a:spLocks/>
          </p:cNvSpPr>
          <p:nvPr/>
        </p:nvSpPr>
        <p:spPr>
          <a:xfrm>
            <a:off x="3166831" y="2819525"/>
            <a:ext cx="24498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52AA5E"/>
              </a:buClr>
              <a:buSzPts val="2800"/>
              <a:buFont typeface="Poppins"/>
              <a:buNone/>
              <a:defRPr sz="2800" b="1" i="0" u="none" strike="noStrike" cap="none">
                <a:solidFill>
                  <a:srgbClr val="52AA5E"/>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sz="4120" dirty="0"/>
              <a:t>$16.50</a:t>
            </a:r>
          </a:p>
        </p:txBody>
      </p:sp>
      <p:sp>
        <p:nvSpPr>
          <p:cNvPr id="11" name="Google Shape;71;p3">
            <a:extLst>
              <a:ext uri="{FF2B5EF4-FFF2-40B4-BE49-F238E27FC236}">
                <a16:creationId xmlns:a16="http://schemas.microsoft.com/office/drawing/2014/main" id="{20DDEA94-24E3-E0C8-F066-50C16582D6CE}"/>
              </a:ext>
            </a:extLst>
          </p:cNvPr>
          <p:cNvSpPr txBox="1">
            <a:spLocks/>
          </p:cNvSpPr>
          <p:nvPr/>
        </p:nvSpPr>
        <p:spPr>
          <a:xfrm>
            <a:off x="5977170" y="2819525"/>
            <a:ext cx="24498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52AA5E"/>
              </a:buClr>
              <a:buSzPts val="2800"/>
              <a:buFont typeface="Poppins"/>
              <a:buNone/>
              <a:defRPr sz="2800" b="1" i="0" u="none" strike="noStrike" cap="none">
                <a:solidFill>
                  <a:srgbClr val="52AA5E"/>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sz="4120" dirty="0"/>
              <a:t>2</a:t>
            </a:r>
          </a:p>
        </p:txBody>
      </p:sp>
      <p:sp>
        <p:nvSpPr>
          <p:cNvPr id="12" name="Google Shape;70;p3">
            <a:extLst>
              <a:ext uri="{FF2B5EF4-FFF2-40B4-BE49-F238E27FC236}">
                <a16:creationId xmlns:a16="http://schemas.microsoft.com/office/drawing/2014/main" id="{F86DEC90-B9B6-6FB2-FAD8-C7EDE6B42586}"/>
              </a:ext>
            </a:extLst>
          </p:cNvPr>
          <p:cNvSpPr txBox="1">
            <a:spLocks/>
          </p:cNvSpPr>
          <p:nvPr/>
        </p:nvSpPr>
        <p:spPr>
          <a:xfrm>
            <a:off x="3166831" y="3450844"/>
            <a:ext cx="2449800" cy="572700"/>
          </a:xfrm>
          <a:prstGeom prst="rect">
            <a:avLst/>
          </a:prstGeom>
          <a:noFill/>
          <a:ln>
            <a:noFill/>
          </a:ln>
        </p:spPr>
        <p:txBody>
          <a:bodyPr spcFirstLastPara="1" wrap="square" lIns="91425" tIns="91425" rIns="91425" bIns="91425" anchor="t" anchorCtr="0">
            <a:normAutofit fontScale="92500" lnSpcReduction="1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accent2"/>
              </a:buClr>
              <a:buSzPts val="1800"/>
              <a:buFont typeface="Poppins"/>
              <a:buChar char="●"/>
              <a:defRPr sz="1800" b="0" i="0" u="none" strike="noStrike" cap="none">
                <a:solidFill>
                  <a:schemeClr val="accent2"/>
                </a:solidFill>
                <a:latin typeface="Poppins"/>
                <a:ea typeface="Poppins"/>
                <a:cs typeface="Poppins"/>
                <a:sym typeface="Poppins"/>
              </a:defRPr>
            </a:lvl1pPr>
            <a:lvl2pPr marL="914400" marR="0" lvl="1"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2pPr>
            <a:lvl3pPr marL="1371600" marR="0" lvl="2"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3pPr>
            <a:lvl4pPr marL="1828800" marR="0" lvl="3"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4pPr>
            <a:lvl5pPr marL="2286000" marR="0" lvl="4"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5pPr>
            <a:lvl6pPr marL="2743200" marR="0" lvl="5"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6pPr>
            <a:lvl7pPr marL="3200400" marR="0" lvl="6"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7pPr>
            <a:lvl8pPr marL="3657600" marR="0" lvl="7"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8pPr>
            <a:lvl9pPr marL="4114800" marR="0" lvl="8"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9pPr>
          </a:lstStyle>
          <a:p>
            <a:pPr marL="0" indent="0" algn="ctr">
              <a:spcAft>
                <a:spcPts val="1200"/>
              </a:spcAft>
              <a:buFont typeface="Poppins"/>
              <a:buNone/>
            </a:pPr>
            <a:r>
              <a:rPr lang="en-ID" sz="1500" dirty="0"/>
              <a:t>REVENUE PER PIZZA</a:t>
            </a:r>
          </a:p>
        </p:txBody>
      </p:sp>
      <p:sp>
        <p:nvSpPr>
          <p:cNvPr id="13" name="Google Shape;70;p3">
            <a:extLst>
              <a:ext uri="{FF2B5EF4-FFF2-40B4-BE49-F238E27FC236}">
                <a16:creationId xmlns:a16="http://schemas.microsoft.com/office/drawing/2014/main" id="{9FC9569C-48C0-0166-02C5-F1EE5882C33B}"/>
              </a:ext>
            </a:extLst>
          </p:cNvPr>
          <p:cNvSpPr txBox="1">
            <a:spLocks/>
          </p:cNvSpPr>
          <p:nvPr/>
        </p:nvSpPr>
        <p:spPr>
          <a:xfrm>
            <a:off x="5977170" y="3450844"/>
            <a:ext cx="2449800" cy="572700"/>
          </a:xfrm>
          <a:prstGeom prst="rect">
            <a:avLst/>
          </a:prstGeom>
          <a:noFill/>
          <a:ln>
            <a:noFill/>
          </a:ln>
        </p:spPr>
        <p:txBody>
          <a:bodyPr spcFirstLastPara="1" wrap="square" lIns="91425" tIns="91425" rIns="91425" bIns="91425" anchor="t" anchorCtr="0">
            <a:normAutofit fontScale="92500" lnSpcReduction="1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accent2"/>
              </a:buClr>
              <a:buSzPts val="1800"/>
              <a:buFont typeface="Poppins"/>
              <a:buChar char="●"/>
              <a:defRPr sz="1800" b="0" i="0" u="none" strike="noStrike" cap="none">
                <a:solidFill>
                  <a:schemeClr val="accent2"/>
                </a:solidFill>
                <a:latin typeface="Poppins"/>
                <a:ea typeface="Poppins"/>
                <a:cs typeface="Poppins"/>
                <a:sym typeface="Poppins"/>
              </a:defRPr>
            </a:lvl1pPr>
            <a:lvl2pPr marL="914400" marR="0" lvl="1"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2pPr>
            <a:lvl3pPr marL="1371600" marR="0" lvl="2"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3pPr>
            <a:lvl4pPr marL="1828800" marR="0" lvl="3"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4pPr>
            <a:lvl5pPr marL="2286000" marR="0" lvl="4"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5pPr>
            <a:lvl6pPr marL="2743200" marR="0" lvl="5"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6pPr>
            <a:lvl7pPr marL="3200400" marR="0" lvl="6"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7pPr>
            <a:lvl8pPr marL="3657600" marR="0" lvl="7"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8pPr>
            <a:lvl9pPr marL="4114800" marR="0" lvl="8"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9pPr>
          </a:lstStyle>
          <a:p>
            <a:pPr marL="0" indent="0" algn="ctr">
              <a:spcAft>
                <a:spcPts val="1200"/>
              </a:spcAft>
              <a:buFont typeface="Poppins"/>
              <a:buNone/>
            </a:pPr>
            <a:r>
              <a:rPr lang="en-US" sz="1500" dirty="0"/>
              <a:t>PIZZAS PER ORDER</a:t>
            </a:r>
            <a:endParaRPr lang="en-ID"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4"/>
          <p:cNvSpPr txBox="1">
            <a:spLocks noGrp="1"/>
          </p:cNvSpPr>
          <p:nvPr>
            <p:ph type="title"/>
          </p:nvPr>
        </p:nvSpPr>
        <p:spPr>
          <a:xfrm>
            <a:off x="265500" y="1425175"/>
            <a:ext cx="2638500" cy="1482300"/>
          </a:xfrm>
          <a:prstGeom prst="rect">
            <a:avLst/>
          </a:prstGeom>
          <a:noFill/>
          <a:ln>
            <a:noFill/>
          </a:ln>
        </p:spPr>
        <p:txBody>
          <a:bodyPr spcFirstLastPara="1" wrap="square" lIns="91425" tIns="91425" rIns="91425" bIns="91425" anchor="ctr" anchorCtr="0">
            <a:normAutofit/>
          </a:bodyPr>
          <a:lstStyle/>
          <a:p>
            <a:pPr marL="0" lvl="0" indent="0" algn="l" rtl="0">
              <a:lnSpc>
                <a:spcPct val="100000"/>
              </a:lnSpc>
              <a:spcBef>
                <a:spcPts val="0"/>
              </a:spcBef>
              <a:spcAft>
                <a:spcPts val="0"/>
              </a:spcAft>
              <a:buSzPts val="3300"/>
              <a:buNone/>
            </a:pPr>
            <a:r>
              <a:rPr lang="en-US" dirty="0"/>
              <a:t>Key Findings</a:t>
            </a:r>
            <a:endParaRPr dirty="0"/>
          </a:p>
        </p:txBody>
      </p:sp>
      <p:sp>
        <p:nvSpPr>
          <p:cNvPr id="63" name="Google Shape;63;p4"/>
          <p:cNvSpPr txBox="1">
            <a:spLocks noGrp="1"/>
          </p:cNvSpPr>
          <p:nvPr>
            <p:ph type="subTitle" idx="1"/>
          </p:nvPr>
        </p:nvSpPr>
        <p:spPr>
          <a:xfrm>
            <a:off x="265500" y="2682239"/>
            <a:ext cx="2386500" cy="1736935"/>
          </a:xfrm>
          <a:prstGeom prst="rect">
            <a:avLst/>
          </a:prstGeom>
          <a:noFill/>
          <a:ln>
            <a:noFill/>
          </a:ln>
        </p:spPr>
        <p:txBody>
          <a:bodyPr spcFirstLastPara="1" wrap="square" lIns="91425" tIns="91425" rIns="91425" bIns="91425" anchor="t" anchorCtr="0">
            <a:normAutofit fontScale="85000" lnSpcReduction="20000"/>
          </a:bodyPr>
          <a:lstStyle/>
          <a:p>
            <a:pPr marL="0" lvl="0" indent="0" algn="just" rtl="0">
              <a:lnSpc>
                <a:spcPct val="110000"/>
              </a:lnSpc>
              <a:spcBef>
                <a:spcPts val="0"/>
              </a:spcBef>
              <a:spcAft>
                <a:spcPts val="0"/>
              </a:spcAft>
              <a:buSzPts val="1700"/>
              <a:buNone/>
            </a:pPr>
            <a:r>
              <a:rPr lang="en-US" dirty="0"/>
              <a:t>Key insights </a:t>
            </a:r>
            <a:r>
              <a:rPr lang="en-US" sz="1800" dirty="0"/>
              <a:t>drives pizza sales performance through KPI based on</a:t>
            </a:r>
          </a:p>
          <a:p>
            <a:pPr marL="285750" lvl="0" indent="-285750" algn="l" rtl="0">
              <a:lnSpc>
                <a:spcPct val="110000"/>
              </a:lnSpc>
              <a:spcBef>
                <a:spcPts val="0"/>
              </a:spcBef>
              <a:spcAft>
                <a:spcPts val="0"/>
              </a:spcAft>
              <a:buSzPts val="1700"/>
              <a:buFont typeface="Arial" panose="020B0604020202020204" pitchFamily="34" charset="0"/>
              <a:buChar char="•"/>
            </a:pPr>
            <a:r>
              <a:rPr lang="en-US" sz="1800" dirty="0"/>
              <a:t>Revenue</a:t>
            </a:r>
          </a:p>
          <a:p>
            <a:pPr marL="285750" lvl="0" indent="-285750" algn="l" rtl="0">
              <a:lnSpc>
                <a:spcPct val="110000"/>
              </a:lnSpc>
              <a:spcBef>
                <a:spcPts val="0"/>
              </a:spcBef>
              <a:spcAft>
                <a:spcPts val="0"/>
              </a:spcAft>
              <a:buSzPts val="1700"/>
              <a:buFont typeface="Arial" panose="020B0604020202020204" pitchFamily="34" charset="0"/>
              <a:buChar char="•"/>
            </a:pPr>
            <a:r>
              <a:rPr lang="en-US" sz="1800" dirty="0"/>
              <a:t>Orders</a:t>
            </a:r>
          </a:p>
          <a:p>
            <a:pPr marL="285750" lvl="0" indent="-285750" algn="l" rtl="0">
              <a:lnSpc>
                <a:spcPct val="110000"/>
              </a:lnSpc>
              <a:spcBef>
                <a:spcPts val="0"/>
              </a:spcBef>
              <a:spcAft>
                <a:spcPts val="0"/>
              </a:spcAft>
              <a:buSzPts val="1700"/>
              <a:buFont typeface="Arial" panose="020B0604020202020204" pitchFamily="34" charset="0"/>
              <a:buChar char="•"/>
            </a:pPr>
            <a:r>
              <a:rPr lang="en-US" sz="1800" dirty="0"/>
              <a:t>Quantity</a:t>
            </a:r>
          </a:p>
          <a:p>
            <a:pPr marL="285750" lvl="0" indent="-285750" algn="l" rtl="0">
              <a:lnSpc>
                <a:spcPct val="110000"/>
              </a:lnSpc>
              <a:spcBef>
                <a:spcPts val="0"/>
              </a:spcBef>
              <a:spcAft>
                <a:spcPts val="0"/>
              </a:spcAft>
              <a:buSzPts val="1700"/>
              <a:buFont typeface="Arial" panose="020B0604020202020204" pitchFamily="34" charset="0"/>
              <a:buChar char="•"/>
            </a:pPr>
            <a:r>
              <a:rPr lang="en-US" sz="1800" dirty="0"/>
              <a:t>AOV </a:t>
            </a:r>
            <a:endParaRPr sz="1800" dirty="0"/>
          </a:p>
        </p:txBody>
      </p:sp>
      <p:sp>
        <p:nvSpPr>
          <p:cNvPr id="64" name="Google Shape;64;p4"/>
          <p:cNvSpPr txBox="1">
            <a:spLocks noGrp="1"/>
          </p:cNvSpPr>
          <p:nvPr>
            <p:ph type="body" idx="2"/>
          </p:nvPr>
        </p:nvSpPr>
        <p:spPr>
          <a:xfrm>
            <a:off x="3972000" y="724075"/>
            <a:ext cx="4804500" cy="3695100"/>
          </a:xfrm>
          <a:prstGeom prst="rect">
            <a:avLst/>
          </a:prstGeom>
          <a:noFill/>
          <a:ln>
            <a:noFill/>
          </a:ln>
        </p:spPr>
        <p:txBody>
          <a:bodyPr spcFirstLastPara="1" wrap="square" lIns="91425" tIns="91425" rIns="91425" bIns="91425" anchor="ctr" anchorCtr="0">
            <a:normAutofit/>
          </a:bodyPr>
          <a:lstStyle/>
          <a:p>
            <a:pPr marL="342900" lvl="0" algn="l" rtl="0">
              <a:lnSpc>
                <a:spcPct val="115000"/>
              </a:lnSpc>
              <a:spcBef>
                <a:spcPts val="0"/>
              </a:spcBef>
              <a:spcAft>
                <a:spcPts val="1200"/>
              </a:spcAft>
              <a:buSzPts val="1800"/>
              <a:buAutoNum type="arabicPeriod"/>
            </a:pPr>
            <a:r>
              <a:rPr lang="en-US" sz="1200" dirty="0"/>
              <a:t>Revenue was driven by order volume</a:t>
            </a:r>
          </a:p>
          <a:p>
            <a:pPr marL="482600" lvl="1" indent="0">
              <a:spcAft>
                <a:spcPts val="1200"/>
              </a:spcAft>
              <a:buSzPts val="1800"/>
              <a:buNone/>
            </a:pPr>
            <a:r>
              <a:rPr lang="en-US" sz="1100" b="1" dirty="0"/>
              <a:t>21.4K </a:t>
            </a:r>
            <a:r>
              <a:rPr lang="en-US" sz="1100" dirty="0"/>
              <a:t>orders generated approximately </a:t>
            </a:r>
            <a:r>
              <a:rPr lang="en-US" sz="1100" b="1" dirty="0"/>
              <a:t>$817.9K </a:t>
            </a:r>
            <a:r>
              <a:rPr lang="en-US" sz="1100" dirty="0"/>
              <a:t>in annual revenue.</a:t>
            </a:r>
            <a:endParaRPr lang="en-US" sz="1000" dirty="0"/>
          </a:p>
          <a:p>
            <a:pPr marL="342900" lvl="0" algn="l" rtl="0">
              <a:lnSpc>
                <a:spcPct val="115000"/>
              </a:lnSpc>
              <a:spcBef>
                <a:spcPts val="0"/>
              </a:spcBef>
              <a:spcAft>
                <a:spcPts val="1200"/>
              </a:spcAft>
              <a:buSzPts val="1800"/>
              <a:buAutoNum type="arabicPeriod"/>
            </a:pPr>
            <a:r>
              <a:rPr lang="en-US" sz="1200" dirty="0"/>
              <a:t>Customers purchased multiple pizzas per order</a:t>
            </a:r>
          </a:p>
          <a:p>
            <a:pPr marL="482600" lvl="1" indent="0">
              <a:spcAft>
                <a:spcPts val="1200"/>
              </a:spcAft>
              <a:buSzPts val="1800"/>
              <a:buNone/>
            </a:pPr>
            <a:r>
              <a:rPr lang="en-US" sz="1100" b="1" dirty="0"/>
              <a:t>49.6K</a:t>
            </a:r>
            <a:r>
              <a:rPr lang="en-US" sz="1100" dirty="0"/>
              <a:t> pizzas across </a:t>
            </a:r>
            <a:r>
              <a:rPr lang="en-US" sz="1100" b="1" dirty="0"/>
              <a:t>21.4K</a:t>
            </a:r>
            <a:r>
              <a:rPr lang="en-US" sz="1100" dirty="0"/>
              <a:t> orders indicates roughly </a:t>
            </a:r>
            <a:r>
              <a:rPr lang="en-US" sz="1100" b="1" dirty="0"/>
              <a:t>2 pizzas per order</a:t>
            </a:r>
            <a:r>
              <a:rPr lang="en-US" sz="1100" dirty="0"/>
              <a:t>.</a:t>
            </a:r>
            <a:endParaRPr lang="en-US" sz="1000" dirty="0"/>
          </a:p>
          <a:p>
            <a:pPr marL="342900" lvl="0" algn="l" rtl="0">
              <a:lnSpc>
                <a:spcPct val="115000"/>
              </a:lnSpc>
              <a:spcBef>
                <a:spcPts val="0"/>
              </a:spcBef>
              <a:spcAft>
                <a:spcPts val="1200"/>
              </a:spcAft>
              <a:buSzPts val="1800"/>
              <a:buAutoNum type="arabicPeriod"/>
            </a:pPr>
            <a:r>
              <a:rPr lang="en-US" sz="1200" dirty="0"/>
              <a:t>July was the strongest month</a:t>
            </a:r>
          </a:p>
          <a:p>
            <a:pPr marL="482600" lvl="1" indent="0">
              <a:spcAft>
                <a:spcPts val="1200"/>
              </a:spcAft>
              <a:buSzPts val="1800"/>
              <a:buNone/>
            </a:pPr>
            <a:r>
              <a:rPr lang="en-US" sz="1000" dirty="0"/>
              <a:t>July generated the highest monthly revenue and order volume.</a:t>
            </a:r>
            <a:endParaRPr lang="en-US" sz="800" dirty="0"/>
          </a:p>
          <a:p>
            <a:pPr marL="342900" lvl="0" algn="l" rtl="0">
              <a:lnSpc>
                <a:spcPct val="115000"/>
              </a:lnSpc>
              <a:spcBef>
                <a:spcPts val="0"/>
              </a:spcBef>
              <a:spcAft>
                <a:spcPts val="1200"/>
              </a:spcAft>
              <a:buSzPts val="1800"/>
              <a:buAutoNum type="arabicPeriod"/>
            </a:pPr>
            <a:r>
              <a:rPr lang="en-US" sz="1200" dirty="0"/>
              <a:t>Friday and lunch hours were key demand periods</a:t>
            </a:r>
          </a:p>
          <a:p>
            <a:pPr marL="482600" lvl="1" indent="0">
              <a:spcAft>
                <a:spcPts val="1200"/>
              </a:spcAft>
              <a:buSzPts val="1800"/>
              <a:buNone/>
            </a:pPr>
            <a:r>
              <a:rPr lang="en-US" sz="1000" dirty="0"/>
              <a:t>Friday was the strongest day, while the lunch period showed a pronounced sales peak.</a:t>
            </a:r>
            <a:endParaRPr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a:spLocks noGrp="1"/>
          </p:cNvSpPr>
          <p:nvPr>
            <p:ph type="title"/>
          </p:nvPr>
        </p:nvSpPr>
        <p:spPr>
          <a:xfrm>
            <a:off x="1829850" y="51378"/>
            <a:ext cx="5484300" cy="454808"/>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US" dirty="0"/>
              <a:t>Monthly Performances</a:t>
            </a:r>
            <a:endParaRPr dirty="0"/>
          </a:p>
        </p:txBody>
      </p:sp>
      <p:graphicFrame>
        <p:nvGraphicFramePr>
          <p:cNvPr id="2" name="Chart 1">
            <a:extLst>
              <a:ext uri="{FF2B5EF4-FFF2-40B4-BE49-F238E27FC236}">
                <a16:creationId xmlns:a16="http://schemas.microsoft.com/office/drawing/2014/main" id="{95212325-E970-6507-0588-E5F346F20272}"/>
              </a:ext>
            </a:extLst>
          </p:cNvPr>
          <p:cNvGraphicFramePr>
            <a:graphicFrameLocks/>
          </p:cNvGraphicFramePr>
          <p:nvPr>
            <p:extLst>
              <p:ext uri="{D42A27DB-BD31-4B8C-83A1-F6EECF244321}">
                <p14:modId xmlns:p14="http://schemas.microsoft.com/office/powerpoint/2010/main" val="3010334926"/>
              </p:ext>
            </p:extLst>
          </p:nvPr>
        </p:nvGraphicFramePr>
        <p:xfrm>
          <a:off x="613781" y="612322"/>
          <a:ext cx="3706585" cy="189348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7E0694EB-EC6F-92F4-FA83-9C1B968EF863}"/>
              </a:ext>
            </a:extLst>
          </p:cNvPr>
          <p:cNvGraphicFramePr>
            <a:graphicFrameLocks/>
          </p:cNvGraphicFramePr>
          <p:nvPr>
            <p:extLst>
              <p:ext uri="{D42A27DB-BD31-4B8C-83A1-F6EECF244321}">
                <p14:modId xmlns:p14="http://schemas.microsoft.com/office/powerpoint/2010/main" val="2548432742"/>
              </p:ext>
            </p:extLst>
          </p:nvPr>
        </p:nvGraphicFramePr>
        <p:xfrm>
          <a:off x="4563837" y="2677142"/>
          <a:ext cx="3706585" cy="189348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58AB74F7-F910-5690-A413-BDA671F76B1F}"/>
              </a:ext>
            </a:extLst>
          </p:cNvPr>
          <p:cNvGraphicFramePr>
            <a:graphicFrameLocks/>
          </p:cNvGraphicFramePr>
          <p:nvPr>
            <p:extLst>
              <p:ext uri="{D42A27DB-BD31-4B8C-83A1-F6EECF244321}">
                <p14:modId xmlns:p14="http://schemas.microsoft.com/office/powerpoint/2010/main" val="3752926374"/>
              </p:ext>
            </p:extLst>
          </p:nvPr>
        </p:nvGraphicFramePr>
        <p:xfrm>
          <a:off x="612322" y="2677142"/>
          <a:ext cx="3706585" cy="189348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6" name="Chart 5">
            <a:extLst>
              <a:ext uri="{FF2B5EF4-FFF2-40B4-BE49-F238E27FC236}">
                <a16:creationId xmlns:a16="http://schemas.microsoft.com/office/drawing/2014/main" id="{B88CD826-F0C3-6438-E6F5-194654320E29}"/>
              </a:ext>
            </a:extLst>
          </p:cNvPr>
          <p:cNvGraphicFramePr>
            <a:graphicFrameLocks/>
          </p:cNvGraphicFramePr>
          <p:nvPr>
            <p:extLst>
              <p:ext uri="{D42A27DB-BD31-4B8C-83A1-F6EECF244321}">
                <p14:modId xmlns:p14="http://schemas.microsoft.com/office/powerpoint/2010/main" val="3790077638"/>
              </p:ext>
            </p:extLst>
          </p:nvPr>
        </p:nvGraphicFramePr>
        <p:xfrm>
          <a:off x="4563838" y="612322"/>
          <a:ext cx="3706585" cy="1893486"/>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 name="Chart 2">
            <a:extLst>
              <a:ext uri="{FF2B5EF4-FFF2-40B4-BE49-F238E27FC236}">
                <a16:creationId xmlns:a16="http://schemas.microsoft.com/office/drawing/2014/main" id="{68320A76-6119-4190-A134-648A25A157E4}"/>
              </a:ext>
            </a:extLst>
          </p:cNvPr>
          <p:cNvGraphicFramePr>
            <a:graphicFrameLocks/>
          </p:cNvGraphicFramePr>
          <p:nvPr>
            <p:extLst>
              <p:ext uri="{D42A27DB-BD31-4B8C-83A1-F6EECF244321}">
                <p14:modId xmlns:p14="http://schemas.microsoft.com/office/powerpoint/2010/main" val="79691824"/>
              </p:ext>
            </p:extLst>
          </p:nvPr>
        </p:nvGraphicFramePr>
        <p:xfrm>
          <a:off x="4572000" y="612322"/>
          <a:ext cx="3698422" cy="1893486"/>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 name="Chart 6">
            <a:extLst>
              <a:ext uri="{FF2B5EF4-FFF2-40B4-BE49-F238E27FC236}">
                <a16:creationId xmlns:a16="http://schemas.microsoft.com/office/drawing/2014/main" id="{04AF3420-7505-1A5B-48F9-D8AF3C4DC13B}"/>
              </a:ext>
            </a:extLst>
          </p:cNvPr>
          <p:cNvGraphicFramePr>
            <a:graphicFrameLocks/>
          </p:cNvGraphicFramePr>
          <p:nvPr>
            <p:extLst>
              <p:ext uri="{D42A27DB-BD31-4B8C-83A1-F6EECF244321}">
                <p14:modId xmlns:p14="http://schemas.microsoft.com/office/powerpoint/2010/main" val="3729365021"/>
              </p:ext>
            </p:extLst>
          </p:nvPr>
        </p:nvGraphicFramePr>
        <p:xfrm>
          <a:off x="612322" y="2677142"/>
          <a:ext cx="3706585" cy="1893486"/>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8" name="Chart 7">
            <a:extLst>
              <a:ext uri="{FF2B5EF4-FFF2-40B4-BE49-F238E27FC236}">
                <a16:creationId xmlns:a16="http://schemas.microsoft.com/office/drawing/2014/main" id="{CFC4501F-C235-4611-83C5-2584B6474628}"/>
              </a:ext>
            </a:extLst>
          </p:cNvPr>
          <p:cNvGraphicFramePr>
            <a:graphicFrameLocks/>
          </p:cNvGraphicFramePr>
          <p:nvPr>
            <p:extLst>
              <p:ext uri="{D42A27DB-BD31-4B8C-83A1-F6EECF244321}">
                <p14:modId xmlns:p14="http://schemas.microsoft.com/office/powerpoint/2010/main" val="2501575639"/>
              </p:ext>
            </p:extLst>
          </p:nvPr>
        </p:nvGraphicFramePr>
        <p:xfrm>
          <a:off x="4563836" y="2677142"/>
          <a:ext cx="3698422" cy="1893486"/>
        </p:xfrm>
        <a:graphic>
          <a:graphicData uri="http://schemas.openxmlformats.org/drawingml/2006/chart">
            <c:chart xmlns:c="http://schemas.openxmlformats.org/drawingml/2006/chart" xmlns:r="http://schemas.openxmlformats.org/officeDocument/2006/relationships" r:id="rId9"/>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a:spLocks noGrp="1"/>
          </p:cNvSpPr>
          <p:nvPr>
            <p:ph type="title"/>
          </p:nvPr>
        </p:nvSpPr>
        <p:spPr>
          <a:xfrm>
            <a:off x="311700" y="443852"/>
            <a:ext cx="667693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dirty="0"/>
              <a:t>Monthly Performances – Key Insights</a:t>
            </a:r>
            <a:endParaRPr dirty="0"/>
          </a:p>
        </p:txBody>
      </p:sp>
      <p:sp>
        <p:nvSpPr>
          <p:cNvPr id="57" name="Google Shape;57;p3"/>
          <p:cNvSpPr txBox="1">
            <a:spLocks noGrp="1"/>
          </p:cNvSpPr>
          <p:nvPr>
            <p:ph type="body" idx="1"/>
          </p:nvPr>
        </p:nvSpPr>
        <p:spPr>
          <a:xfrm>
            <a:off x="311700" y="1045133"/>
            <a:ext cx="8017913" cy="3376847"/>
          </a:xfrm>
          <a:prstGeom prst="rect">
            <a:avLst/>
          </a:prstGeom>
          <a:noFill/>
          <a:ln>
            <a:noFill/>
          </a:ln>
        </p:spPr>
        <p:txBody>
          <a:bodyPr spcFirstLastPara="1" wrap="square" lIns="91425" tIns="91425" rIns="91425" bIns="91425" anchor="t" anchorCtr="0">
            <a:normAutofit fontScale="92500" lnSpcReduction="10000"/>
          </a:bodyPr>
          <a:lstStyle/>
          <a:p>
            <a:pPr marL="285750" indent="-285750">
              <a:spcAft>
                <a:spcPts val="1200"/>
              </a:spcAft>
              <a:buFont typeface="Wingdings" panose="05000000000000000000" pitchFamily="2" charset="2"/>
              <a:buChar char="§"/>
            </a:pPr>
            <a:r>
              <a:rPr lang="en-US" sz="1400" b="1" dirty="0"/>
              <a:t>July was the best-performing month overall</a:t>
            </a:r>
          </a:p>
          <a:p>
            <a:pPr marL="457200" lvl="1" indent="0">
              <a:spcAft>
                <a:spcPts val="1200"/>
              </a:spcAft>
              <a:buNone/>
            </a:pPr>
            <a:r>
              <a:rPr lang="en-US" sz="1100" dirty="0">
                <a:latin typeface="Poppins" panose="00000500000000000000" pitchFamily="2" charset="0"/>
                <a:cs typeface="Poppins" panose="00000500000000000000" pitchFamily="2" charset="0"/>
              </a:rPr>
              <a:t>July generated the highest monthly revenue </a:t>
            </a:r>
            <a:r>
              <a:rPr lang="en-ID" sz="1100" dirty="0">
                <a:latin typeface="Poppins" panose="00000500000000000000" pitchFamily="2" charset="0"/>
                <a:cs typeface="Poppins" panose="00000500000000000000" pitchFamily="2" charset="0"/>
              </a:rPr>
              <a:t>at </a:t>
            </a:r>
            <a:r>
              <a:rPr lang="en-ID" sz="1100" b="1" dirty="0">
                <a:latin typeface="Poppins" panose="00000500000000000000" pitchFamily="2" charset="0"/>
                <a:cs typeface="Poppins" panose="00000500000000000000" pitchFamily="2" charset="0"/>
              </a:rPr>
              <a:t>$72.6K </a:t>
            </a:r>
            <a:r>
              <a:rPr lang="en-US" sz="1100" dirty="0">
                <a:latin typeface="Poppins" panose="00000500000000000000" pitchFamily="2" charset="0"/>
                <a:cs typeface="Poppins" panose="00000500000000000000" pitchFamily="2" charset="0"/>
              </a:rPr>
              <a:t>and an order volume of </a:t>
            </a:r>
            <a:r>
              <a:rPr lang="en-US" sz="1100" b="1" dirty="0">
                <a:latin typeface="Poppins" panose="00000500000000000000" pitchFamily="2" charset="0"/>
                <a:cs typeface="Poppins" panose="00000500000000000000" pitchFamily="2" charset="0"/>
              </a:rPr>
              <a:t>1.9K, </a:t>
            </a:r>
            <a:r>
              <a:rPr lang="en-US" sz="1100" dirty="0">
                <a:latin typeface="Poppins" panose="00000500000000000000" pitchFamily="2" charset="0"/>
                <a:cs typeface="Poppins" panose="00000500000000000000" pitchFamily="2" charset="0"/>
              </a:rPr>
              <a:t>with </a:t>
            </a:r>
            <a:r>
              <a:rPr lang="en-US" sz="1100" b="1" dirty="0">
                <a:latin typeface="Poppins" panose="00000500000000000000" pitchFamily="2" charset="0"/>
                <a:cs typeface="Poppins" panose="00000500000000000000" pitchFamily="2" charset="0"/>
              </a:rPr>
              <a:t>4.4K</a:t>
            </a:r>
            <a:r>
              <a:rPr lang="en-US" sz="1100" dirty="0">
                <a:latin typeface="Poppins" panose="00000500000000000000" pitchFamily="2" charset="0"/>
                <a:cs typeface="Poppins" panose="00000500000000000000" pitchFamily="2" charset="0"/>
              </a:rPr>
              <a:t> pizzas sold</a:t>
            </a:r>
            <a:r>
              <a:rPr lang="en-US" sz="1000" dirty="0">
                <a:latin typeface="Poppins" panose="00000500000000000000" pitchFamily="2" charset="0"/>
                <a:cs typeface="Poppins" panose="00000500000000000000" pitchFamily="2" charset="0"/>
              </a:rPr>
              <a:t>..</a:t>
            </a:r>
            <a:endParaRPr lang="en-US" sz="1000" b="1" dirty="0">
              <a:latin typeface="Poppins" panose="00000500000000000000" pitchFamily="2" charset="0"/>
              <a:cs typeface="Poppins" panose="00000500000000000000" pitchFamily="2" charset="0"/>
            </a:endParaRPr>
          </a:p>
          <a:p>
            <a:pPr marL="285750" indent="-285750">
              <a:spcAft>
                <a:spcPts val="1200"/>
              </a:spcAft>
              <a:buFont typeface="Wingdings" panose="05000000000000000000" pitchFamily="2" charset="2"/>
              <a:buChar char="§"/>
            </a:pPr>
            <a:r>
              <a:rPr lang="en-US" sz="1400" b="1" dirty="0"/>
              <a:t>October was the lowest-performing month overall</a:t>
            </a:r>
          </a:p>
          <a:p>
            <a:pPr marL="457200" lvl="1" indent="0">
              <a:spcAft>
                <a:spcPts val="1200"/>
              </a:spcAft>
              <a:buNone/>
            </a:pPr>
            <a:r>
              <a:rPr lang="en-US" sz="1100" dirty="0">
                <a:latin typeface="Poppins" panose="00000500000000000000" pitchFamily="2" charset="0"/>
                <a:cs typeface="Poppins" panose="00000500000000000000" pitchFamily="2" charset="0"/>
              </a:rPr>
              <a:t>October generated the lowest monthly revenue </a:t>
            </a:r>
            <a:r>
              <a:rPr lang="en-ID" sz="1100" dirty="0">
                <a:latin typeface="Poppins" panose="00000500000000000000" pitchFamily="2" charset="0"/>
                <a:cs typeface="Poppins" panose="00000500000000000000" pitchFamily="2" charset="0"/>
              </a:rPr>
              <a:t>at </a:t>
            </a:r>
            <a:r>
              <a:rPr lang="en-ID" sz="1100" b="1" dirty="0">
                <a:latin typeface="Poppins" panose="00000500000000000000" pitchFamily="2" charset="0"/>
                <a:cs typeface="Poppins" panose="00000500000000000000" pitchFamily="2" charset="0"/>
              </a:rPr>
              <a:t>$64K </a:t>
            </a:r>
            <a:r>
              <a:rPr lang="en-US" sz="1100" dirty="0">
                <a:latin typeface="Poppins" panose="00000500000000000000" pitchFamily="2" charset="0"/>
                <a:cs typeface="Poppins" panose="00000500000000000000" pitchFamily="2" charset="0"/>
              </a:rPr>
              <a:t>and an order volume of </a:t>
            </a:r>
            <a:r>
              <a:rPr lang="en-US" sz="1100" b="1" dirty="0">
                <a:latin typeface="Poppins" panose="00000500000000000000" pitchFamily="2" charset="0"/>
                <a:cs typeface="Poppins" panose="00000500000000000000" pitchFamily="2" charset="0"/>
              </a:rPr>
              <a:t>1.6K, </a:t>
            </a:r>
            <a:r>
              <a:rPr lang="en-US" sz="1100" dirty="0">
                <a:latin typeface="Poppins" panose="00000500000000000000" pitchFamily="2" charset="0"/>
                <a:cs typeface="Poppins" panose="00000500000000000000" pitchFamily="2" charset="0"/>
              </a:rPr>
              <a:t>with </a:t>
            </a:r>
            <a:r>
              <a:rPr lang="en-US" sz="1100" b="1" dirty="0">
                <a:latin typeface="Poppins" panose="00000500000000000000" pitchFamily="2" charset="0"/>
                <a:cs typeface="Poppins" panose="00000500000000000000" pitchFamily="2" charset="0"/>
              </a:rPr>
              <a:t>3.9K</a:t>
            </a:r>
            <a:r>
              <a:rPr lang="en-US" sz="1100" dirty="0">
                <a:latin typeface="Poppins" panose="00000500000000000000" pitchFamily="2" charset="0"/>
                <a:cs typeface="Poppins" panose="00000500000000000000" pitchFamily="2" charset="0"/>
              </a:rPr>
              <a:t> pizzas sold. Despite this, October achieved a fairly high AOV of </a:t>
            </a:r>
            <a:r>
              <a:rPr lang="en-ID" sz="1100" b="1" dirty="0"/>
              <a:t>$38.9</a:t>
            </a:r>
            <a:r>
              <a:rPr lang="en-ID" sz="1100" dirty="0"/>
              <a:t>.</a:t>
            </a:r>
            <a:endParaRPr lang="en-US" sz="1100" b="1" dirty="0"/>
          </a:p>
          <a:p>
            <a:pPr marL="285750" indent="-285750">
              <a:spcAft>
                <a:spcPts val="1200"/>
              </a:spcAft>
              <a:buFont typeface="Wingdings" panose="05000000000000000000" pitchFamily="2" charset="2"/>
              <a:buChar char="§"/>
            </a:pPr>
            <a:r>
              <a:rPr lang="en-US" sz="1400" b="1" dirty="0"/>
              <a:t>The months in the 4</a:t>
            </a:r>
            <a:r>
              <a:rPr lang="en-US" sz="1400" b="1" baseline="30000" dirty="0"/>
              <a:t>th</a:t>
            </a:r>
            <a:r>
              <a:rPr lang="en-US" sz="1400" b="1" dirty="0"/>
              <a:t> Quarter had the highest AOV</a:t>
            </a:r>
          </a:p>
          <a:p>
            <a:pPr marL="457200" lvl="1" indent="0">
              <a:spcAft>
                <a:spcPts val="1200"/>
              </a:spcAft>
              <a:buNone/>
            </a:pPr>
            <a:r>
              <a:rPr lang="en-US" sz="1100" dirty="0">
                <a:latin typeface="Poppins" panose="00000500000000000000" pitchFamily="2" charset="0"/>
                <a:cs typeface="Poppins" panose="00000500000000000000" pitchFamily="2" charset="0"/>
              </a:rPr>
              <a:t>From October to December, average order revenue peaks at</a:t>
            </a:r>
            <a:r>
              <a:rPr lang="en-US" sz="1100" b="1" dirty="0">
                <a:latin typeface="Poppins" panose="00000500000000000000" pitchFamily="2" charset="0"/>
                <a:cs typeface="Poppins" panose="00000500000000000000" pitchFamily="2" charset="0"/>
              </a:rPr>
              <a:t> $38</a:t>
            </a:r>
            <a:r>
              <a:rPr lang="en-US" sz="1100" dirty="0">
                <a:latin typeface="Poppins" panose="00000500000000000000" pitchFamily="2" charset="0"/>
                <a:cs typeface="Poppins" panose="00000500000000000000" pitchFamily="2" charset="0"/>
              </a:rPr>
              <a:t>, driven by holiday sales like Black Friday, Christmas, and New Year’s Eve, when customers are more willing to spend on premium items like pizza</a:t>
            </a:r>
            <a:r>
              <a:rPr lang="en-US" sz="1100" dirty="0"/>
              <a:t>.</a:t>
            </a:r>
          </a:p>
          <a:p>
            <a:pPr marL="285750" indent="-285750">
              <a:spcAft>
                <a:spcPts val="1200"/>
              </a:spcAft>
              <a:buFont typeface="Wingdings" panose="05000000000000000000" pitchFamily="2" charset="2"/>
              <a:buChar char="§"/>
            </a:pPr>
            <a:r>
              <a:rPr lang="en-US" sz="1400" b="1" dirty="0"/>
              <a:t>June was the month with the highest Revenue per Pizza</a:t>
            </a:r>
          </a:p>
          <a:p>
            <a:pPr marL="457200" lvl="1" indent="0">
              <a:spcAft>
                <a:spcPts val="1200"/>
              </a:spcAft>
              <a:buNone/>
            </a:pPr>
            <a:r>
              <a:rPr lang="en-US" sz="1100" dirty="0">
                <a:latin typeface="Poppins" panose="00000500000000000000" pitchFamily="2" charset="0"/>
                <a:cs typeface="Poppins" panose="00000500000000000000" pitchFamily="2" charset="0"/>
              </a:rPr>
              <a:t>June generated the highest monthly revenue per pizza at </a:t>
            </a:r>
            <a:r>
              <a:rPr lang="en-US" sz="1100" b="1" dirty="0">
                <a:latin typeface="Poppins" panose="00000500000000000000" pitchFamily="2" charset="0"/>
                <a:cs typeface="Poppins" panose="00000500000000000000" pitchFamily="2" charset="0"/>
              </a:rPr>
              <a:t>$16.61 </a:t>
            </a:r>
            <a:r>
              <a:rPr lang="en-US" sz="1100" dirty="0">
                <a:latin typeface="Poppins" panose="00000500000000000000" pitchFamily="2" charset="0"/>
                <a:cs typeface="Poppins" panose="00000500000000000000" pitchFamily="2" charset="0"/>
              </a:rPr>
              <a:t>where the generated revenue at </a:t>
            </a:r>
            <a:r>
              <a:rPr lang="en-US" sz="1100" b="1" dirty="0">
                <a:latin typeface="Poppins" panose="00000500000000000000" pitchFamily="2" charset="0"/>
                <a:cs typeface="Poppins" panose="00000500000000000000" pitchFamily="2" charset="0"/>
              </a:rPr>
              <a:t>$68.2K </a:t>
            </a:r>
            <a:r>
              <a:rPr lang="en-US" sz="1100" dirty="0">
                <a:latin typeface="Poppins" panose="00000500000000000000" pitchFamily="2" charset="0"/>
                <a:cs typeface="Poppins" panose="00000500000000000000" pitchFamily="2" charset="0"/>
              </a:rPr>
              <a:t>and </a:t>
            </a:r>
            <a:r>
              <a:rPr lang="en-US" sz="1100" dirty="0" err="1">
                <a:latin typeface="Poppins" panose="00000500000000000000" pitchFamily="2" charset="0"/>
                <a:cs typeface="Poppins" panose="00000500000000000000" pitchFamily="2" charset="0"/>
              </a:rPr>
              <a:t>and</a:t>
            </a:r>
            <a:r>
              <a:rPr lang="en-US" sz="1100" dirty="0">
                <a:latin typeface="Poppins" panose="00000500000000000000" pitchFamily="2" charset="0"/>
                <a:cs typeface="Poppins" panose="00000500000000000000" pitchFamily="2" charset="0"/>
              </a:rPr>
              <a:t> order volume of </a:t>
            </a:r>
            <a:r>
              <a:rPr lang="en-US" sz="1100" b="1" dirty="0">
                <a:latin typeface="Poppins" panose="00000500000000000000" pitchFamily="2" charset="0"/>
                <a:cs typeface="Poppins" panose="00000500000000000000" pitchFamily="2" charset="0"/>
              </a:rPr>
              <a:t>1.8K, </a:t>
            </a:r>
            <a:r>
              <a:rPr lang="en-US" sz="1100" dirty="0">
                <a:latin typeface="Poppins" panose="00000500000000000000" pitchFamily="2" charset="0"/>
                <a:cs typeface="Poppins" panose="00000500000000000000" pitchFamily="2" charset="0"/>
              </a:rPr>
              <a:t>with </a:t>
            </a:r>
            <a:r>
              <a:rPr lang="en-US" sz="1100" b="1" dirty="0">
                <a:latin typeface="Poppins" panose="00000500000000000000" pitchFamily="2" charset="0"/>
                <a:cs typeface="Poppins" panose="00000500000000000000" pitchFamily="2" charset="0"/>
              </a:rPr>
              <a:t>4.1K </a:t>
            </a:r>
            <a:r>
              <a:rPr lang="en-US" sz="1100" dirty="0">
                <a:latin typeface="Poppins" panose="00000500000000000000" pitchFamily="2" charset="0"/>
                <a:cs typeface="Poppins" panose="00000500000000000000" pitchFamily="2" charset="0"/>
              </a:rPr>
              <a:t>pizzas sold. It even lower than July as the best-performing month.</a:t>
            </a:r>
            <a:endParaRPr lang="en-US" sz="1100" b="1" dirty="0"/>
          </a:p>
          <a:p>
            <a:pPr marL="285750" indent="-285750">
              <a:spcAft>
                <a:spcPts val="1200"/>
              </a:spcAft>
              <a:buFont typeface="Wingdings" panose="05000000000000000000" pitchFamily="2" charset="2"/>
              <a:buChar char="§"/>
            </a:pPr>
            <a:endParaRPr lang="en-US" sz="1400" b="1" dirty="0"/>
          </a:p>
        </p:txBody>
      </p:sp>
    </p:spTree>
    <p:extLst>
      <p:ext uri="{BB962C8B-B14F-4D97-AF65-F5344CB8AC3E}">
        <p14:creationId xmlns:p14="http://schemas.microsoft.com/office/powerpoint/2010/main" val="307397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a:spLocks noGrp="1"/>
          </p:cNvSpPr>
          <p:nvPr>
            <p:ph type="title"/>
          </p:nvPr>
        </p:nvSpPr>
        <p:spPr>
          <a:xfrm>
            <a:off x="1829850" y="51378"/>
            <a:ext cx="5484300" cy="454808"/>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US" dirty="0"/>
              <a:t>Daily Performances</a:t>
            </a:r>
            <a:endParaRPr dirty="0"/>
          </a:p>
        </p:txBody>
      </p:sp>
      <p:graphicFrame>
        <p:nvGraphicFramePr>
          <p:cNvPr id="2" name="Chart 1">
            <a:extLst>
              <a:ext uri="{FF2B5EF4-FFF2-40B4-BE49-F238E27FC236}">
                <a16:creationId xmlns:a16="http://schemas.microsoft.com/office/drawing/2014/main" id="{95212325-E970-6507-0588-E5F346F20272}"/>
              </a:ext>
            </a:extLst>
          </p:cNvPr>
          <p:cNvGraphicFramePr>
            <a:graphicFrameLocks/>
          </p:cNvGraphicFramePr>
          <p:nvPr/>
        </p:nvGraphicFramePr>
        <p:xfrm>
          <a:off x="613781" y="612322"/>
          <a:ext cx="3706585" cy="189348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7E0694EB-EC6F-92F4-FA83-9C1B968EF863}"/>
              </a:ext>
            </a:extLst>
          </p:cNvPr>
          <p:cNvGraphicFramePr>
            <a:graphicFrameLocks/>
          </p:cNvGraphicFramePr>
          <p:nvPr/>
        </p:nvGraphicFramePr>
        <p:xfrm>
          <a:off x="4563837" y="2677142"/>
          <a:ext cx="3706585" cy="189348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58AB74F7-F910-5690-A413-BDA671F76B1F}"/>
              </a:ext>
            </a:extLst>
          </p:cNvPr>
          <p:cNvGraphicFramePr>
            <a:graphicFrameLocks/>
          </p:cNvGraphicFramePr>
          <p:nvPr/>
        </p:nvGraphicFramePr>
        <p:xfrm>
          <a:off x="612322" y="2677142"/>
          <a:ext cx="3706585" cy="189348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6" name="Chart 5">
            <a:extLst>
              <a:ext uri="{FF2B5EF4-FFF2-40B4-BE49-F238E27FC236}">
                <a16:creationId xmlns:a16="http://schemas.microsoft.com/office/drawing/2014/main" id="{B88CD826-F0C3-6438-E6F5-194654320E29}"/>
              </a:ext>
            </a:extLst>
          </p:cNvPr>
          <p:cNvGraphicFramePr>
            <a:graphicFrameLocks/>
          </p:cNvGraphicFramePr>
          <p:nvPr/>
        </p:nvGraphicFramePr>
        <p:xfrm>
          <a:off x="4563838" y="612322"/>
          <a:ext cx="3706585" cy="1893486"/>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 name="Chart 2">
            <a:extLst>
              <a:ext uri="{FF2B5EF4-FFF2-40B4-BE49-F238E27FC236}">
                <a16:creationId xmlns:a16="http://schemas.microsoft.com/office/drawing/2014/main" id="{68320A76-6119-4190-A134-648A25A157E4}"/>
              </a:ext>
            </a:extLst>
          </p:cNvPr>
          <p:cNvGraphicFramePr>
            <a:graphicFrameLocks/>
          </p:cNvGraphicFramePr>
          <p:nvPr/>
        </p:nvGraphicFramePr>
        <p:xfrm>
          <a:off x="4572000" y="612322"/>
          <a:ext cx="3698422" cy="1893486"/>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 name="Chart 6">
            <a:extLst>
              <a:ext uri="{FF2B5EF4-FFF2-40B4-BE49-F238E27FC236}">
                <a16:creationId xmlns:a16="http://schemas.microsoft.com/office/drawing/2014/main" id="{04AF3420-7505-1A5B-48F9-D8AF3C4DC13B}"/>
              </a:ext>
            </a:extLst>
          </p:cNvPr>
          <p:cNvGraphicFramePr>
            <a:graphicFrameLocks/>
          </p:cNvGraphicFramePr>
          <p:nvPr/>
        </p:nvGraphicFramePr>
        <p:xfrm>
          <a:off x="612322" y="2677142"/>
          <a:ext cx="3706585" cy="1893486"/>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8" name="Chart 7">
            <a:extLst>
              <a:ext uri="{FF2B5EF4-FFF2-40B4-BE49-F238E27FC236}">
                <a16:creationId xmlns:a16="http://schemas.microsoft.com/office/drawing/2014/main" id="{CFC4501F-C235-4611-83C5-2584B6474628}"/>
              </a:ext>
            </a:extLst>
          </p:cNvPr>
          <p:cNvGraphicFramePr>
            <a:graphicFrameLocks/>
          </p:cNvGraphicFramePr>
          <p:nvPr/>
        </p:nvGraphicFramePr>
        <p:xfrm>
          <a:off x="4563836" y="2677142"/>
          <a:ext cx="3698422" cy="1893486"/>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9" name="Chart 8">
            <a:extLst>
              <a:ext uri="{FF2B5EF4-FFF2-40B4-BE49-F238E27FC236}">
                <a16:creationId xmlns:a16="http://schemas.microsoft.com/office/drawing/2014/main" id="{0D78ABB7-64F9-488D-A5E1-3317579EEBD4}"/>
              </a:ext>
            </a:extLst>
          </p:cNvPr>
          <p:cNvGraphicFramePr>
            <a:graphicFrameLocks/>
          </p:cNvGraphicFramePr>
          <p:nvPr>
            <p:extLst>
              <p:ext uri="{D42A27DB-BD31-4B8C-83A1-F6EECF244321}">
                <p14:modId xmlns:p14="http://schemas.microsoft.com/office/powerpoint/2010/main" val="1345044325"/>
              </p:ext>
            </p:extLst>
          </p:nvPr>
        </p:nvGraphicFramePr>
        <p:xfrm>
          <a:off x="4555673" y="2677142"/>
          <a:ext cx="3706586" cy="1893486"/>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0" name="Chart 9">
            <a:extLst>
              <a:ext uri="{FF2B5EF4-FFF2-40B4-BE49-F238E27FC236}">
                <a16:creationId xmlns:a16="http://schemas.microsoft.com/office/drawing/2014/main" id="{B9E20D0E-0DBB-49C5-8F78-63DFBEE81DB5}"/>
              </a:ext>
            </a:extLst>
          </p:cNvPr>
          <p:cNvGraphicFramePr>
            <a:graphicFrameLocks/>
          </p:cNvGraphicFramePr>
          <p:nvPr>
            <p:extLst>
              <p:ext uri="{D42A27DB-BD31-4B8C-83A1-F6EECF244321}">
                <p14:modId xmlns:p14="http://schemas.microsoft.com/office/powerpoint/2010/main" val="1604682708"/>
              </p:ext>
            </p:extLst>
          </p:nvPr>
        </p:nvGraphicFramePr>
        <p:xfrm>
          <a:off x="612322" y="612322"/>
          <a:ext cx="3706585" cy="1893486"/>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11" name="Chart 10">
            <a:extLst>
              <a:ext uri="{FF2B5EF4-FFF2-40B4-BE49-F238E27FC236}">
                <a16:creationId xmlns:a16="http://schemas.microsoft.com/office/drawing/2014/main" id="{E8672D6E-472D-4851-BCEE-BD284F8B3D6F}"/>
              </a:ext>
            </a:extLst>
          </p:cNvPr>
          <p:cNvGraphicFramePr>
            <a:graphicFrameLocks/>
          </p:cNvGraphicFramePr>
          <p:nvPr>
            <p:extLst>
              <p:ext uri="{D42A27DB-BD31-4B8C-83A1-F6EECF244321}">
                <p14:modId xmlns:p14="http://schemas.microsoft.com/office/powerpoint/2010/main" val="3403366976"/>
              </p:ext>
            </p:extLst>
          </p:nvPr>
        </p:nvGraphicFramePr>
        <p:xfrm>
          <a:off x="4555673" y="612322"/>
          <a:ext cx="3714749" cy="1893486"/>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12" name="Chart 11">
            <a:extLst>
              <a:ext uri="{FF2B5EF4-FFF2-40B4-BE49-F238E27FC236}">
                <a16:creationId xmlns:a16="http://schemas.microsoft.com/office/drawing/2014/main" id="{94F2E5F8-C97E-4DED-3D9F-F1835B8D5600}"/>
              </a:ext>
            </a:extLst>
          </p:cNvPr>
          <p:cNvGraphicFramePr>
            <a:graphicFrameLocks/>
          </p:cNvGraphicFramePr>
          <p:nvPr>
            <p:extLst>
              <p:ext uri="{D42A27DB-BD31-4B8C-83A1-F6EECF244321}">
                <p14:modId xmlns:p14="http://schemas.microsoft.com/office/powerpoint/2010/main" val="4227241602"/>
              </p:ext>
            </p:extLst>
          </p:nvPr>
        </p:nvGraphicFramePr>
        <p:xfrm>
          <a:off x="612322" y="2677142"/>
          <a:ext cx="3706585" cy="1893486"/>
        </p:xfrm>
        <a:graphic>
          <a:graphicData uri="http://schemas.openxmlformats.org/drawingml/2006/chart">
            <c:chart xmlns:c="http://schemas.openxmlformats.org/drawingml/2006/chart" xmlns:r="http://schemas.openxmlformats.org/officeDocument/2006/relationships" r:id="rId13"/>
          </a:graphicData>
        </a:graphic>
      </p:graphicFrame>
    </p:spTree>
    <p:extLst>
      <p:ext uri="{BB962C8B-B14F-4D97-AF65-F5344CB8AC3E}">
        <p14:creationId xmlns:p14="http://schemas.microsoft.com/office/powerpoint/2010/main" val="1347356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a:spLocks noGrp="1"/>
          </p:cNvSpPr>
          <p:nvPr>
            <p:ph type="title"/>
          </p:nvPr>
        </p:nvSpPr>
        <p:spPr>
          <a:xfrm>
            <a:off x="311700" y="443852"/>
            <a:ext cx="667693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dirty="0"/>
              <a:t>Daily Performances – Key Insights</a:t>
            </a:r>
            <a:endParaRPr dirty="0"/>
          </a:p>
        </p:txBody>
      </p:sp>
      <p:sp>
        <p:nvSpPr>
          <p:cNvPr id="57" name="Google Shape;57;p3"/>
          <p:cNvSpPr txBox="1">
            <a:spLocks noGrp="1"/>
          </p:cNvSpPr>
          <p:nvPr>
            <p:ph type="body" idx="1"/>
          </p:nvPr>
        </p:nvSpPr>
        <p:spPr>
          <a:xfrm>
            <a:off x="311700" y="1045134"/>
            <a:ext cx="7717875" cy="3462572"/>
          </a:xfrm>
          <a:prstGeom prst="rect">
            <a:avLst/>
          </a:prstGeom>
          <a:noFill/>
          <a:ln>
            <a:noFill/>
          </a:ln>
        </p:spPr>
        <p:txBody>
          <a:bodyPr spcFirstLastPara="1" wrap="square" lIns="91425" tIns="91425" rIns="91425" bIns="91425" anchor="t" anchorCtr="0">
            <a:normAutofit fontScale="92500" lnSpcReduction="10000"/>
          </a:bodyPr>
          <a:lstStyle/>
          <a:p>
            <a:pPr marL="285750" indent="-285750">
              <a:spcAft>
                <a:spcPts val="1200"/>
              </a:spcAft>
              <a:buFont typeface="Wingdings" panose="05000000000000000000" pitchFamily="2" charset="2"/>
              <a:buChar char="§"/>
            </a:pPr>
            <a:r>
              <a:rPr lang="en-US" b="1" dirty="0"/>
              <a:t>Friday was the best-performing days in a year overall</a:t>
            </a:r>
          </a:p>
          <a:p>
            <a:pPr marL="457200" lvl="1" indent="0">
              <a:spcAft>
                <a:spcPts val="1200"/>
              </a:spcAft>
              <a:buNone/>
            </a:pPr>
            <a:r>
              <a:rPr lang="en-US" dirty="0">
                <a:latin typeface="Poppins" panose="00000500000000000000" pitchFamily="2" charset="0"/>
                <a:cs typeface="Poppins" panose="00000500000000000000" pitchFamily="2" charset="0"/>
              </a:rPr>
              <a:t>Friday generated the highest daily revenue </a:t>
            </a:r>
            <a:r>
              <a:rPr lang="en-ID" dirty="0">
                <a:latin typeface="Poppins" panose="00000500000000000000" pitchFamily="2" charset="0"/>
                <a:cs typeface="Poppins" panose="00000500000000000000" pitchFamily="2" charset="0"/>
              </a:rPr>
              <a:t>at </a:t>
            </a:r>
            <a:r>
              <a:rPr lang="en-ID" b="1" dirty="0">
                <a:latin typeface="Poppins" panose="00000500000000000000" pitchFamily="2" charset="0"/>
                <a:cs typeface="Poppins" panose="00000500000000000000" pitchFamily="2" charset="0"/>
              </a:rPr>
              <a:t>$136.1K </a:t>
            </a:r>
            <a:r>
              <a:rPr lang="en-US" dirty="0">
                <a:latin typeface="Poppins" panose="00000500000000000000" pitchFamily="2" charset="0"/>
                <a:cs typeface="Poppins" panose="00000500000000000000" pitchFamily="2" charset="0"/>
              </a:rPr>
              <a:t>and an order volume of </a:t>
            </a:r>
            <a:r>
              <a:rPr lang="en-US" b="1" dirty="0">
                <a:latin typeface="Poppins" panose="00000500000000000000" pitchFamily="2" charset="0"/>
                <a:cs typeface="Poppins" panose="00000500000000000000" pitchFamily="2" charset="0"/>
              </a:rPr>
              <a:t>3.5K, </a:t>
            </a:r>
            <a:r>
              <a:rPr lang="en-US" dirty="0">
                <a:latin typeface="Poppins" panose="00000500000000000000" pitchFamily="2" charset="0"/>
                <a:cs typeface="Poppins" panose="00000500000000000000" pitchFamily="2" charset="0"/>
              </a:rPr>
              <a:t>with </a:t>
            </a:r>
            <a:r>
              <a:rPr lang="en-US" b="1" dirty="0">
                <a:latin typeface="Poppins" panose="00000500000000000000" pitchFamily="2" charset="0"/>
                <a:cs typeface="Poppins" panose="00000500000000000000" pitchFamily="2" charset="0"/>
              </a:rPr>
              <a:t>8.2K</a:t>
            </a:r>
            <a:r>
              <a:rPr lang="en-US" dirty="0">
                <a:latin typeface="Poppins" panose="00000500000000000000" pitchFamily="2" charset="0"/>
                <a:cs typeface="Poppins" panose="00000500000000000000" pitchFamily="2" charset="0"/>
              </a:rPr>
              <a:t> pizzas sold</a:t>
            </a:r>
            <a:r>
              <a:rPr lang="en-US" sz="1100" dirty="0">
                <a:latin typeface="Poppins" panose="00000500000000000000" pitchFamily="2" charset="0"/>
                <a:cs typeface="Poppins" panose="00000500000000000000" pitchFamily="2" charset="0"/>
              </a:rPr>
              <a:t>..</a:t>
            </a:r>
            <a:endParaRPr lang="en-US" sz="1100" b="1" dirty="0">
              <a:latin typeface="Poppins" panose="00000500000000000000" pitchFamily="2" charset="0"/>
              <a:cs typeface="Poppins" panose="00000500000000000000" pitchFamily="2" charset="0"/>
            </a:endParaRPr>
          </a:p>
          <a:p>
            <a:pPr marL="285750" indent="-285750">
              <a:spcAft>
                <a:spcPts val="1200"/>
              </a:spcAft>
              <a:buFont typeface="Wingdings" panose="05000000000000000000" pitchFamily="2" charset="2"/>
              <a:buChar char="§"/>
            </a:pPr>
            <a:r>
              <a:rPr lang="en-US" b="1" dirty="0"/>
              <a:t>Sunday was the lowest-performing days in a year overall</a:t>
            </a:r>
          </a:p>
          <a:p>
            <a:pPr marL="457200" lvl="1" indent="0">
              <a:spcAft>
                <a:spcPts val="1200"/>
              </a:spcAft>
              <a:buNone/>
            </a:pPr>
            <a:r>
              <a:rPr lang="en-US" dirty="0">
                <a:latin typeface="Poppins" panose="00000500000000000000" pitchFamily="2" charset="0"/>
                <a:cs typeface="Poppins" panose="00000500000000000000" pitchFamily="2" charset="0"/>
              </a:rPr>
              <a:t>Sunday generated the lowest daily revenue </a:t>
            </a:r>
            <a:r>
              <a:rPr lang="en-ID" dirty="0">
                <a:latin typeface="Poppins" panose="00000500000000000000" pitchFamily="2" charset="0"/>
                <a:cs typeface="Poppins" panose="00000500000000000000" pitchFamily="2" charset="0"/>
              </a:rPr>
              <a:t>at </a:t>
            </a:r>
            <a:r>
              <a:rPr lang="en-ID" b="1" dirty="0">
                <a:latin typeface="Poppins" panose="00000500000000000000" pitchFamily="2" charset="0"/>
                <a:cs typeface="Poppins" panose="00000500000000000000" pitchFamily="2" charset="0"/>
              </a:rPr>
              <a:t>$99.2K </a:t>
            </a:r>
            <a:r>
              <a:rPr lang="en-US" dirty="0">
                <a:latin typeface="Poppins" panose="00000500000000000000" pitchFamily="2" charset="0"/>
                <a:cs typeface="Poppins" panose="00000500000000000000" pitchFamily="2" charset="0"/>
              </a:rPr>
              <a:t>and an order volume of </a:t>
            </a:r>
            <a:r>
              <a:rPr lang="en-US" b="1" dirty="0">
                <a:latin typeface="Poppins" panose="00000500000000000000" pitchFamily="2" charset="0"/>
                <a:cs typeface="Poppins" panose="00000500000000000000" pitchFamily="2" charset="0"/>
              </a:rPr>
              <a:t>2.6K, </a:t>
            </a:r>
            <a:r>
              <a:rPr lang="en-US" dirty="0">
                <a:latin typeface="Poppins" panose="00000500000000000000" pitchFamily="2" charset="0"/>
                <a:cs typeface="Poppins" panose="00000500000000000000" pitchFamily="2" charset="0"/>
              </a:rPr>
              <a:t>with </a:t>
            </a:r>
            <a:r>
              <a:rPr lang="en-US" b="1" dirty="0">
                <a:latin typeface="Poppins" panose="00000500000000000000" pitchFamily="2" charset="0"/>
                <a:cs typeface="Poppins" panose="00000500000000000000" pitchFamily="2" charset="0"/>
              </a:rPr>
              <a:t>6K</a:t>
            </a:r>
            <a:r>
              <a:rPr lang="en-US" dirty="0">
                <a:latin typeface="Poppins" panose="00000500000000000000" pitchFamily="2" charset="0"/>
                <a:cs typeface="Poppins" panose="00000500000000000000" pitchFamily="2" charset="0"/>
              </a:rPr>
              <a:t> pizzas sold. </a:t>
            </a:r>
            <a:endParaRPr lang="en-US" b="1" dirty="0"/>
          </a:p>
          <a:p>
            <a:pPr marL="285750" indent="-285750">
              <a:spcAft>
                <a:spcPts val="1200"/>
              </a:spcAft>
              <a:buFont typeface="Wingdings" panose="05000000000000000000" pitchFamily="2" charset="2"/>
              <a:buChar char="§"/>
            </a:pPr>
            <a:r>
              <a:rPr lang="en-US" b="1" dirty="0"/>
              <a:t>Daily AOV and Revenue per Pizza remain constant</a:t>
            </a:r>
          </a:p>
          <a:p>
            <a:pPr marL="457200" lvl="1" indent="0">
              <a:spcAft>
                <a:spcPts val="1200"/>
              </a:spcAft>
              <a:buNone/>
            </a:pPr>
            <a:r>
              <a:rPr lang="en-US" dirty="0">
                <a:latin typeface="Poppins" panose="00000500000000000000" pitchFamily="2" charset="0"/>
                <a:cs typeface="Poppins" panose="00000500000000000000" pitchFamily="2" charset="0"/>
              </a:rPr>
              <a:t>Customer spending remains constant throughout the week, averaging </a:t>
            </a:r>
            <a:r>
              <a:rPr lang="en-US" b="1" dirty="0">
                <a:latin typeface="Poppins" panose="00000500000000000000" pitchFamily="2" charset="0"/>
                <a:cs typeface="Poppins" panose="00000500000000000000" pitchFamily="2" charset="0"/>
              </a:rPr>
              <a:t>$38 per order </a:t>
            </a:r>
            <a:r>
              <a:rPr lang="en-US" dirty="0">
                <a:latin typeface="Poppins" panose="00000500000000000000" pitchFamily="2" charset="0"/>
                <a:cs typeface="Poppins" panose="00000500000000000000" pitchFamily="2" charset="0"/>
              </a:rPr>
              <a:t>and </a:t>
            </a:r>
            <a:r>
              <a:rPr lang="en-US" b="1" dirty="0">
                <a:latin typeface="Poppins" panose="00000500000000000000" pitchFamily="2" charset="0"/>
                <a:cs typeface="Poppins" panose="00000500000000000000" pitchFamily="2" charset="0"/>
              </a:rPr>
              <a:t>$16.50 per pizza</a:t>
            </a:r>
            <a:r>
              <a:rPr lang="en-US" dirty="0">
                <a:latin typeface="Poppins" panose="00000500000000000000" pitchFamily="2" charset="0"/>
                <a:cs typeface="Poppins" panose="00000500000000000000" pitchFamily="2" charset="0"/>
              </a:rPr>
              <a:t>. Consequently, neither Daily Average Order Value (AOV) nor Revenue per Pizza drives changes in overall sales performance.</a:t>
            </a:r>
          </a:p>
        </p:txBody>
      </p:sp>
    </p:spTree>
    <p:extLst>
      <p:ext uri="{BB962C8B-B14F-4D97-AF65-F5344CB8AC3E}">
        <p14:creationId xmlns:p14="http://schemas.microsoft.com/office/powerpoint/2010/main" val="2931985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a:spLocks noGrp="1"/>
          </p:cNvSpPr>
          <p:nvPr>
            <p:ph type="title"/>
          </p:nvPr>
        </p:nvSpPr>
        <p:spPr>
          <a:xfrm>
            <a:off x="1829850" y="51378"/>
            <a:ext cx="5484300" cy="454808"/>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US" dirty="0"/>
              <a:t>Hourly Performances</a:t>
            </a:r>
            <a:endParaRPr dirty="0"/>
          </a:p>
        </p:txBody>
      </p:sp>
      <p:graphicFrame>
        <p:nvGraphicFramePr>
          <p:cNvPr id="2" name="Chart 1">
            <a:extLst>
              <a:ext uri="{FF2B5EF4-FFF2-40B4-BE49-F238E27FC236}">
                <a16:creationId xmlns:a16="http://schemas.microsoft.com/office/drawing/2014/main" id="{95212325-E970-6507-0588-E5F346F20272}"/>
              </a:ext>
            </a:extLst>
          </p:cNvPr>
          <p:cNvGraphicFramePr>
            <a:graphicFrameLocks/>
          </p:cNvGraphicFramePr>
          <p:nvPr/>
        </p:nvGraphicFramePr>
        <p:xfrm>
          <a:off x="613781" y="612322"/>
          <a:ext cx="3706585" cy="189348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7E0694EB-EC6F-92F4-FA83-9C1B968EF863}"/>
              </a:ext>
            </a:extLst>
          </p:cNvPr>
          <p:cNvGraphicFramePr>
            <a:graphicFrameLocks/>
          </p:cNvGraphicFramePr>
          <p:nvPr/>
        </p:nvGraphicFramePr>
        <p:xfrm>
          <a:off x="4563837" y="2677142"/>
          <a:ext cx="3706585" cy="189348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58AB74F7-F910-5690-A413-BDA671F76B1F}"/>
              </a:ext>
            </a:extLst>
          </p:cNvPr>
          <p:cNvGraphicFramePr>
            <a:graphicFrameLocks/>
          </p:cNvGraphicFramePr>
          <p:nvPr/>
        </p:nvGraphicFramePr>
        <p:xfrm>
          <a:off x="612322" y="2677142"/>
          <a:ext cx="3706585" cy="189348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6" name="Chart 5">
            <a:extLst>
              <a:ext uri="{FF2B5EF4-FFF2-40B4-BE49-F238E27FC236}">
                <a16:creationId xmlns:a16="http://schemas.microsoft.com/office/drawing/2014/main" id="{B88CD826-F0C3-6438-E6F5-194654320E29}"/>
              </a:ext>
            </a:extLst>
          </p:cNvPr>
          <p:cNvGraphicFramePr>
            <a:graphicFrameLocks/>
          </p:cNvGraphicFramePr>
          <p:nvPr/>
        </p:nvGraphicFramePr>
        <p:xfrm>
          <a:off x="4563838" y="612322"/>
          <a:ext cx="3706585" cy="1893486"/>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 name="Chart 2">
            <a:extLst>
              <a:ext uri="{FF2B5EF4-FFF2-40B4-BE49-F238E27FC236}">
                <a16:creationId xmlns:a16="http://schemas.microsoft.com/office/drawing/2014/main" id="{68320A76-6119-4190-A134-648A25A157E4}"/>
              </a:ext>
            </a:extLst>
          </p:cNvPr>
          <p:cNvGraphicFramePr>
            <a:graphicFrameLocks/>
          </p:cNvGraphicFramePr>
          <p:nvPr/>
        </p:nvGraphicFramePr>
        <p:xfrm>
          <a:off x="4572000" y="612322"/>
          <a:ext cx="3698422" cy="1893486"/>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 name="Chart 6">
            <a:extLst>
              <a:ext uri="{FF2B5EF4-FFF2-40B4-BE49-F238E27FC236}">
                <a16:creationId xmlns:a16="http://schemas.microsoft.com/office/drawing/2014/main" id="{04AF3420-7505-1A5B-48F9-D8AF3C4DC13B}"/>
              </a:ext>
            </a:extLst>
          </p:cNvPr>
          <p:cNvGraphicFramePr>
            <a:graphicFrameLocks/>
          </p:cNvGraphicFramePr>
          <p:nvPr/>
        </p:nvGraphicFramePr>
        <p:xfrm>
          <a:off x="612322" y="2677142"/>
          <a:ext cx="3706585" cy="1893486"/>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8" name="Chart 7">
            <a:extLst>
              <a:ext uri="{FF2B5EF4-FFF2-40B4-BE49-F238E27FC236}">
                <a16:creationId xmlns:a16="http://schemas.microsoft.com/office/drawing/2014/main" id="{CFC4501F-C235-4611-83C5-2584B6474628}"/>
              </a:ext>
            </a:extLst>
          </p:cNvPr>
          <p:cNvGraphicFramePr>
            <a:graphicFrameLocks/>
          </p:cNvGraphicFramePr>
          <p:nvPr/>
        </p:nvGraphicFramePr>
        <p:xfrm>
          <a:off x="4563836" y="2677142"/>
          <a:ext cx="3698422" cy="1893486"/>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9" name="Chart 8">
            <a:extLst>
              <a:ext uri="{FF2B5EF4-FFF2-40B4-BE49-F238E27FC236}">
                <a16:creationId xmlns:a16="http://schemas.microsoft.com/office/drawing/2014/main" id="{F3B392BE-61C5-4179-9775-0ECFF84B8A26}"/>
              </a:ext>
            </a:extLst>
          </p:cNvPr>
          <p:cNvGraphicFramePr>
            <a:graphicFrameLocks/>
          </p:cNvGraphicFramePr>
          <p:nvPr>
            <p:extLst>
              <p:ext uri="{D42A27DB-BD31-4B8C-83A1-F6EECF244321}">
                <p14:modId xmlns:p14="http://schemas.microsoft.com/office/powerpoint/2010/main" val="613521481"/>
              </p:ext>
            </p:extLst>
          </p:nvPr>
        </p:nvGraphicFramePr>
        <p:xfrm>
          <a:off x="4572000" y="2677142"/>
          <a:ext cx="3706585" cy="1893486"/>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0" name="Chart 9">
            <a:extLst>
              <a:ext uri="{FF2B5EF4-FFF2-40B4-BE49-F238E27FC236}">
                <a16:creationId xmlns:a16="http://schemas.microsoft.com/office/drawing/2014/main" id="{1F090329-AA07-B5AC-959A-B8AA3ABD03CC}"/>
              </a:ext>
            </a:extLst>
          </p:cNvPr>
          <p:cNvGraphicFramePr>
            <a:graphicFrameLocks/>
          </p:cNvGraphicFramePr>
          <p:nvPr>
            <p:extLst>
              <p:ext uri="{D42A27DB-BD31-4B8C-83A1-F6EECF244321}">
                <p14:modId xmlns:p14="http://schemas.microsoft.com/office/powerpoint/2010/main" val="1682122360"/>
              </p:ext>
            </p:extLst>
          </p:nvPr>
        </p:nvGraphicFramePr>
        <p:xfrm>
          <a:off x="612322" y="2677142"/>
          <a:ext cx="3706585" cy="1893486"/>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11" name="Chart 10">
            <a:extLst>
              <a:ext uri="{FF2B5EF4-FFF2-40B4-BE49-F238E27FC236}">
                <a16:creationId xmlns:a16="http://schemas.microsoft.com/office/drawing/2014/main" id="{25FD3D62-F6BD-436A-8518-134DE489037E}"/>
              </a:ext>
            </a:extLst>
          </p:cNvPr>
          <p:cNvGraphicFramePr>
            <a:graphicFrameLocks/>
          </p:cNvGraphicFramePr>
          <p:nvPr>
            <p:extLst>
              <p:ext uri="{D42A27DB-BD31-4B8C-83A1-F6EECF244321}">
                <p14:modId xmlns:p14="http://schemas.microsoft.com/office/powerpoint/2010/main" val="2103121260"/>
              </p:ext>
            </p:extLst>
          </p:nvPr>
        </p:nvGraphicFramePr>
        <p:xfrm>
          <a:off x="4571999" y="612322"/>
          <a:ext cx="3706585" cy="1893486"/>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12" name="Chart 11">
            <a:extLst>
              <a:ext uri="{FF2B5EF4-FFF2-40B4-BE49-F238E27FC236}">
                <a16:creationId xmlns:a16="http://schemas.microsoft.com/office/drawing/2014/main" id="{7083CC2F-E4A5-40F0-A682-D77FE4D9562D}"/>
              </a:ext>
            </a:extLst>
          </p:cNvPr>
          <p:cNvGraphicFramePr>
            <a:graphicFrameLocks/>
          </p:cNvGraphicFramePr>
          <p:nvPr>
            <p:extLst>
              <p:ext uri="{D42A27DB-BD31-4B8C-83A1-F6EECF244321}">
                <p14:modId xmlns:p14="http://schemas.microsoft.com/office/powerpoint/2010/main" val="535226716"/>
              </p:ext>
            </p:extLst>
          </p:nvPr>
        </p:nvGraphicFramePr>
        <p:xfrm>
          <a:off x="612322" y="612322"/>
          <a:ext cx="3716207" cy="1893486"/>
        </p:xfrm>
        <a:graphic>
          <a:graphicData uri="http://schemas.openxmlformats.org/drawingml/2006/chart">
            <c:chart xmlns:c="http://schemas.openxmlformats.org/drawingml/2006/chart" xmlns:r="http://schemas.openxmlformats.org/officeDocument/2006/relationships" r:id="rId13"/>
          </a:graphicData>
        </a:graphic>
      </p:graphicFrame>
      <p:graphicFrame>
        <p:nvGraphicFramePr>
          <p:cNvPr id="13" name="Chart 12">
            <a:extLst>
              <a:ext uri="{FF2B5EF4-FFF2-40B4-BE49-F238E27FC236}">
                <a16:creationId xmlns:a16="http://schemas.microsoft.com/office/drawing/2014/main" id="{F93BE25A-7B5F-406D-8D29-667328EB3807}"/>
              </a:ext>
            </a:extLst>
          </p:cNvPr>
          <p:cNvGraphicFramePr>
            <a:graphicFrameLocks/>
          </p:cNvGraphicFramePr>
          <p:nvPr>
            <p:extLst>
              <p:ext uri="{D42A27DB-BD31-4B8C-83A1-F6EECF244321}">
                <p14:modId xmlns:p14="http://schemas.microsoft.com/office/powerpoint/2010/main" val="1605060795"/>
              </p:ext>
            </p:extLst>
          </p:nvPr>
        </p:nvGraphicFramePr>
        <p:xfrm>
          <a:off x="612322" y="612322"/>
          <a:ext cx="3716207" cy="1893486"/>
        </p:xfrm>
        <a:graphic>
          <a:graphicData uri="http://schemas.openxmlformats.org/drawingml/2006/chart">
            <c:chart xmlns:c="http://schemas.openxmlformats.org/drawingml/2006/chart" xmlns:r="http://schemas.openxmlformats.org/officeDocument/2006/relationships" r:id="rId14"/>
          </a:graphicData>
        </a:graphic>
      </p:graphicFrame>
    </p:spTree>
    <p:extLst>
      <p:ext uri="{BB962C8B-B14F-4D97-AF65-F5344CB8AC3E}">
        <p14:creationId xmlns:p14="http://schemas.microsoft.com/office/powerpoint/2010/main" val="1900295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a:spLocks noGrp="1"/>
          </p:cNvSpPr>
          <p:nvPr>
            <p:ph type="title"/>
          </p:nvPr>
        </p:nvSpPr>
        <p:spPr>
          <a:xfrm>
            <a:off x="311700" y="443852"/>
            <a:ext cx="667693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dirty="0"/>
              <a:t>Hourly Performances – Key Insights</a:t>
            </a:r>
            <a:endParaRPr dirty="0"/>
          </a:p>
        </p:txBody>
      </p:sp>
      <p:sp>
        <p:nvSpPr>
          <p:cNvPr id="57" name="Google Shape;57;p3"/>
          <p:cNvSpPr txBox="1">
            <a:spLocks noGrp="1"/>
          </p:cNvSpPr>
          <p:nvPr>
            <p:ph type="body" idx="1"/>
          </p:nvPr>
        </p:nvSpPr>
        <p:spPr>
          <a:xfrm>
            <a:off x="311700" y="1045134"/>
            <a:ext cx="8520600" cy="3046800"/>
          </a:xfrm>
          <a:prstGeom prst="rect">
            <a:avLst/>
          </a:prstGeom>
          <a:noFill/>
          <a:ln>
            <a:noFill/>
          </a:ln>
        </p:spPr>
        <p:txBody>
          <a:bodyPr spcFirstLastPara="1" wrap="square" lIns="91425" tIns="91425" rIns="91425" bIns="91425" anchor="t" anchorCtr="0">
            <a:normAutofit fontScale="85000" lnSpcReduction="20000"/>
          </a:bodyPr>
          <a:lstStyle/>
          <a:p>
            <a:pPr marL="285750" indent="-285750">
              <a:spcAft>
                <a:spcPts val="1200"/>
              </a:spcAft>
              <a:buFont typeface="Wingdings" panose="05000000000000000000" pitchFamily="2" charset="2"/>
              <a:buChar char="§"/>
            </a:pPr>
            <a:r>
              <a:rPr lang="en-US" b="1" dirty="0"/>
              <a:t>Lunchtime, peaking at 12 PM, was the best-performing time overall</a:t>
            </a:r>
          </a:p>
          <a:p>
            <a:pPr marL="457200" lvl="1" indent="0">
              <a:spcAft>
                <a:spcPts val="1200"/>
              </a:spcAft>
              <a:buNone/>
            </a:pPr>
            <a:r>
              <a:rPr lang="en-US" dirty="0">
                <a:latin typeface="Poppins" panose="00000500000000000000" pitchFamily="2" charset="0"/>
                <a:cs typeface="Poppins" panose="00000500000000000000" pitchFamily="2" charset="0"/>
              </a:rPr>
              <a:t>Lunchtime at </a:t>
            </a:r>
            <a:r>
              <a:rPr lang="en-US" b="1" dirty="0">
                <a:latin typeface="Poppins" panose="00000500000000000000" pitchFamily="2" charset="0"/>
                <a:cs typeface="Poppins" panose="00000500000000000000" pitchFamily="2" charset="0"/>
              </a:rPr>
              <a:t>12 PM </a:t>
            </a:r>
            <a:r>
              <a:rPr lang="en-US" dirty="0">
                <a:latin typeface="Poppins" panose="00000500000000000000" pitchFamily="2" charset="0"/>
                <a:cs typeface="Poppins" panose="00000500000000000000" pitchFamily="2" charset="0"/>
              </a:rPr>
              <a:t>generated the highest peak revenue at </a:t>
            </a:r>
            <a:r>
              <a:rPr lang="en-US" b="1" dirty="0">
                <a:latin typeface="Poppins" panose="00000500000000000000" pitchFamily="2" charset="0"/>
                <a:cs typeface="Poppins" panose="00000500000000000000" pitchFamily="2" charset="0"/>
              </a:rPr>
              <a:t>$111.9K </a:t>
            </a:r>
            <a:r>
              <a:rPr lang="en-US" dirty="0">
                <a:latin typeface="Poppins" panose="00000500000000000000" pitchFamily="2" charset="0"/>
                <a:cs typeface="Poppins" panose="00000500000000000000" pitchFamily="2" charset="0"/>
              </a:rPr>
              <a:t>and an order volume of </a:t>
            </a:r>
            <a:r>
              <a:rPr lang="en-US" b="1" dirty="0">
                <a:latin typeface="Poppins" panose="00000500000000000000" pitchFamily="2" charset="0"/>
                <a:cs typeface="Poppins" panose="00000500000000000000" pitchFamily="2" charset="0"/>
              </a:rPr>
              <a:t>2.5K</a:t>
            </a:r>
            <a:r>
              <a:rPr lang="en-US" dirty="0">
                <a:latin typeface="Poppins" panose="00000500000000000000" pitchFamily="2" charset="0"/>
                <a:cs typeface="Poppins" panose="00000500000000000000" pitchFamily="2" charset="0"/>
              </a:rPr>
              <a:t>, with </a:t>
            </a:r>
            <a:r>
              <a:rPr lang="en-US" b="1" dirty="0">
                <a:latin typeface="Poppins" panose="00000500000000000000" pitchFamily="2" charset="0"/>
                <a:cs typeface="Poppins" panose="00000500000000000000" pitchFamily="2" charset="0"/>
              </a:rPr>
              <a:t>6.8K</a:t>
            </a:r>
            <a:r>
              <a:rPr lang="en-US" dirty="0">
                <a:latin typeface="Poppins" panose="00000500000000000000" pitchFamily="2" charset="0"/>
                <a:cs typeface="Poppins" panose="00000500000000000000" pitchFamily="2" charset="0"/>
              </a:rPr>
              <a:t> pizzas sold</a:t>
            </a:r>
            <a:endParaRPr lang="en-US" b="1" dirty="0">
              <a:latin typeface="Poppins" panose="00000500000000000000" pitchFamily="2" charset="0"/>
              <a:cs typeface="Poppins" panose="00000500000000000000" pitchFamily="2" charset="0"/>
            </a:endParaRPr>
          </a:p>
          <a:p>
            <a:pPr marL="285750" indent="-285750">
              <a:spcAft>
                <a:spcPts val="1200"/>
              </a:spcAft>
              <a:buFont typeface="Wingdings" panose="05000000000000000000" pitchFamily="2" charset="2"/>
              <a:buChar char="§"/>
            </a:pPr>
            <a:r>
              <a:rPr lang="en-US" b="1" dirty="0"/>
              <a:t>In the evening at 6 PM, performance peaked again, though not as high as at 12 PM.</a:t>
            </a:r>
          </a:p>
          <a:p>
            <a:pPr marL="457200" lvl="1" indent="0">
              <a:spcAft>
                <a:spcPts val="1200"/>
              </a:spcAft>
              <a:buNone/>
            </a:pPr>
            <a:r>
              <a:rPr lang="en-US" dirty="0">
                <a:latin typeface="Poppins" panose="00000500000000000000" pitchFamily="2" charset="0"/>
                <a:cs typeface="Poppins" panose="00000500000000000000" pitchFamily="2" charset="0"/>
              </a:rPr>
              <a:t>The secondary peak at 6 PM generated a strong revenue of </a:t>
            </a:r>
            <a:r>
              <a:rPr lang="en-US" b="1" dirty="0">
                <a:latin typeface="Poppins" panose="00000500000000000000" pitchFamily="2" charset="0"/>
                <a:cs typeface="Poppins" panose="00000500000000000000" pitchFamily="2" charset="0"/>
              </a:rPr>
              <a:t>$89.3K</a:t>
            </a:r>
            <a:r>
              <a:rPr lang="en-US" dirty="0">
                <a:latin typeface="Poppins" panose="00000500000000000000" pitchFamily="2" charset="0"/>
                <a:cs typeface="Poppins" panose="00000500000000000000" pitchFamily="2" charset="0"/>
              </a:rPr>
              <a:t> and an order volume of </a:t>
            </a:r>
            <a:r>
              <a:rPr lang="en-US" b="1" dirty="0">
                <a:latin typeface="Poppins" panose="00000500000000000000" pitchFamily="2" charset="0"/>
                <a:cs typeface="Poppins" panose="00000500000000000000" pitchFamily="2" charset="0"/>
              </a:rPr>
              <a:t>2.4K</a:t>
            </a:r>
            <a:r>
              <a:rPr lang="en-US" dirty="0">
                <a:latin typeface="Poppins" panose="00000500000000000000" pitchFamily="2" charset="0"/>
                <a:cs typeface="Poppins" panose="00000500000000000000" pitchFamily="2" charset="0"/>
              </a:rPr>
              <a:t>, with </a:t>
            </a:r>
            <a:r>
              <a:rPr lang="en-US" b="1" dirty="0">
                <a:latin typeface="Poppins" panose="00000500000000000000" pitchFamily="2" charset="0"/>
                <a:cs typeface="Poppins" panose="00000500000000000000" pitchFamily="2" charset="0"/>
              </a:rPr>
              <a:t>5.4K </a:t>
            </a:r>
            <a:r>
              <a:rPr lang="en-US" dirty="0">
                <a:latin typeface="Poppins" panose="00000500000000000000" pitchFamily="2" charset="0"/>
                <a:cs typeface="Poppins" panose="00000500000000000000" pitchFamily="2" charset="0"/>
              </a:rPr>
              <a:t>pizzas sold.</a:t>
            </a:r>
            <a:endParaRPr lang="en-US" b="1" dirty="0"/>
          </a:p>
          <a:p>
            <a:pPr marL="285750" indent="-285750">
              <a:spcAft>
                <a:spcPts val="1200"/>
              </a:spcAft>
              <a:buFont typeface="Wingdings" panose="05000000000000000000" pitchFamily="2" charset="2"/>
              <a:buChar char="§"/>
            </a:pPr>
            <a:r>
              <a:rPr lang="en-US" b="1" dirty="0"/>
              <a:t>Hourly AOV and Revenue per Pizza Remain Steady Across Peak Hours</a:t>
            </a:r>
          </a:p>
          <a:p>
            <a:pPr marL="457200" lvl="1" indent="0">
              <a:spcAft>
                <a:spcPts val="1200"/>
              </a:spcAft>
              <a:buNone/>
            </a:pPr>
            <a:r>
              <a:rPr lang="en-US" dirty="0">
                <a:latin typeface="Poppins" panose="00000500000000000000" pitchFamily="2" charset="0"/>
                <a:cs typeface="Poppins" panose="00000500000000000000" pitchFamily="2" charset="0"/>
              </a:rPr>
              <a:t>AOV and Revenue per Pizza reach their peak at </a:t>
            </a:r>
            <a:r>
              <a:rPr lang="en-US" b="1" dirty="0">
                <a:latin typeface="Poppins" panose="00000500000000000000" pitchFamily="2" charset="0"/>
                <a:cs typeface="Poppins" panose="00000500000000000000" pitchFamily="2" charset="0"/>
              </a:rPr>
              <a:t>9 AM </a:t>
            </a:r>
            <a:r>
              <a:rPr lang="en-US" dirty="0">
                <a:latin typeface="Poppins" panose="00000500000000000000" pitchFamily="2" charset="0"/>
                <a:cs typeface="Poppins" panose="00000500000000000000" pitchFamily="2" charset="0"/>
              </a:rPr>
              <a:t>due to low order volumes and pizza quantities during opening. Across the rest of the operating hours, customer spending stabilizes at </a:t>
            </a:r>
            <a:r>
              <a:rPr lang="en-US" b="1" dirty="0">
                <a:latin typeface="Poppins" panose="00000500000000000000" pitchFamily="2" charset="0"/>
                <a:cs typeface="Poppins" panose="00000500000000000000" pitchFamily="2" charset="0"/>
              </a:rPr>
              <a:t>$37-$40 </a:t>
            </a:r>
            <a:r>
              <a:rPr lang="en-US" dirty="0">
                <a:latin typeface="Poppins" panose="00000500000000000000" pitchFamily="2" charset="0"/>
                <a:cs typeface="Poppins" panose="00000500000000000000" pitchFamily="2" charset="0"/>
              </a:rPr>
              <a:t>per order and </a:t>
            </a:r>
            <a:r>
              <a:rPr lang="en-US" b="1" dirty="0">
                <a:latin typeface="Poppins" panose="00000500000000000000" pitchFamily="2" charset="0"/>
                <a:cs typeface="Poppins" panose="00000500000000000000" pitchFamily="2" charset="0"/>
              </a:rPr>
              <a:t>$16.50 </a:t>
            </a:r>
            <a:r>
              <a:rPr lang="en-US" dirty="0">
                <a:latin typeface="Poppins" panose="00000500000000000000" pitchFamily="2" charset="0"/>
                <a:cs typeface="Poppins" panose="00000500000000000000" pitchFamily="2" charset="0"/>
              </a:rPr>
              <a:t>per pizza, showing no impact on overall sales performance.</a:t>
            </a:r>
            <a:endParaRPr dirty="0"/>
          </a:p>
        </p:txBody>
      </p:sp>
    </p:spTree>
    <p:extLst>
      <p:ext uri="{BB962C8B-B14F-4D97-AF65-F5344CB8AC3E}">
        <p14:creationId xmlns:p14="http://schemas.microsoft.com/office/powerpoint/2010/main" val="557109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a:spLocks noGrp="1"/>
          </p:cNvSpPr>
          <p:nvPr>
            <p:ph type="title"/>
          </p:nvPr>
        </p:nvSpPr>
        <p:spPr>
          <a:xfrm>
            <a:off x="1829850" y="51378"/>
            <a:ext cx="5484300" cy="454808"/>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US" dirty="0"/>
              <a:t>Top 5 Pizza Performance</a:t>
            </a:r>
            <a:endParaRPr dirty="0"/>
          </a:p>
        </p:txBody>
      </p:sp>
      <p:graphicFrame>
        <p:nvGraphicFramePr>
          <p:cNvPr id="2" name="Chart 1">
            <a:extLst>
              <a:ext uri="{FF2B5EF4-FFF2-40B4-BE49-F238E27FC236}">
                <a16:creationId xmlns:a16="http://schemas.microsoft.com/office/drawing/2014/main" id="{95212325-E970-6507-0588-E5F346F20272}"/>
              </a:ext>
            </a:extLst>
          </p:cNvPr>
          <p:cNvGraphicFramePr>
            <a:graphicFrameLocks/>
          </p:cNvGraphicFramePr>
          <p:nvPr/>
        </p:nvGraphicFramePr>
        <p:xfrm>
          <a:off x="613781" y="612322"/>
          <a:ext cx="3706585" cy="189348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7E0694EB-EC6F-92F4-FA83-9C1B968EF863}"/>
              </a:ext>
            </a:extLst>
          </p:cNvPr>
          <p:cNvGraphicFramePr>
            <a:graphicFrameLocks/>
          </p:cNvGraphicFramePr>
          <p:nvPr/>
        </p:nvGraphicFramePr>
        <p:xfrm>
          <a:off x="4563837" y="2677142"/>
          <a:ext cx="3706585" cy="189348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58AB74F7-F910-5690-A413-BDA671F76B1F}"/>
              </a:ext>
            </a:extLst>
          </p:cNvPr>
          <p:cNvGraphicFramePr>
            <a:graphicFrameLocks/>
          </p:cNvGraphicFramePr>
          <p:nvPr/>
        </p:nvGraphicFramePr>
        <p:xfrm>
          <a:off x="612322" y="2677142"/>
          <a:ext cx="3706585" cy="189348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6" name="Chart 5">
            <a:extLst>
              <a:ext uri="{FF2B5EF4-FFF2-40B4-BE49-F238E27FC236}">
                <a16:creationId xmlns:a16="http://schemas.microsoft.com/office/drawing/2014/main" id="{B88CD826-F0C3-6438-E6F5-194654320E29}"/>
              </a:ext>
            </a:extLst>
          </p:cNvPr>
          <p:cNvGraphicFramePr>
            <a:graphicFrameLocks/>
          </p:cNvGraphicFramePr>
          <p:nvPr/>
        </p:nvGraphicFramePr>
        <p:xfrm>
          <a:off x="4563838" y="612322"/>
          <a:ext cx="3706585" cy="1893486"/>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 name="Chart 2">
            <a:extLst>
              <a:ext uri="{FF2B5EF4-FFF2-40B4-BE49-F238E27FC236}">
                <a16:creationId xmlns:a16="http://schemas.microsoft.com/office/drawing/2014/main" id="{68320A76-6119-4190-A134-648A25A157E4}"/>
              </a:ext>
            </a:extLst>
          </p:cNvPr>
          <p:cNvGraphicFramePr>
            <a:graphicFrameLocks/>
          </p:cNvGraphicFramePr>
          <p:nvPr/>
        </p:nvGraphicFramePr>
        <p:xfrm>
          <a:off x="4572000" y="612322"/>
          <a:ext cx="3698422" cy="1893486"/>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 name="Chart 6">
            <a:extLst>
              <a:ext uri="{FF2B5EF4-FFF2-40B4-BE49-F238E27FC236}">
                <a16:creationId xmlns:a16="http://schemas.microsoft.com/office/drawing/2014/main" id="{04AF3420-7505-1A5B-48F9-D8AF3C4DC13B}"/>
              </a:ext>
            </a:extLst>
          </p:cNvPr>
          <p:cNvGraphicFramePr>
            <a:graphicFrameLocks/>
          </p:cNvGraphicFramePr>
          <p:nvPr/>
        </p:nvGraphicFramePr>
        <p:xfrm>
          <a:off x="612322" y="2677142"/>
          <a:ext cx="3706585" cy="1893486"/>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8" name="Chart 7">
            <a:extLst>
              <a:ext uri="{FF2B5EF4-FFF2-40B4-BE49-F238E27FC236}">
                <a16:creationId xmlns:a16="http://schemas.microsoft.com/office/drawing/2014/main" id="{CFC4501F-C235-4611-83C5-2584B6474628}"/>
              </a:ext>
            </a:extLst>
          </p:cNvPr>
          <p:cNvGraphicFramePr>
            <a:graphicFrameLocks/>
          </p:cNvGraphicFramePr>
          <p:nvPr/>
        </p:nvGraphicFramePr>
        <p:xfrm>
          <a:off x="4563836" y="2677142"/>
          <a:ext cx="3698422" cy="1893486"/>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9" name="Chart 8">
            <a:extLst>
              <a:ext uri="{FF2B5EF4-FFF2-40B4-BE49-F238E27FC236}">
                <a16:creationId xmlns:a16="http://schemas.microsoft.com/office/drawing/2014/main" id="{F3B392BE-61C5-4179-9775-0ECFF84B8A26}"/>
              </a:ext>
            </a:extLst>
          </p:cNvPr>
          <p:cNvGraphicFramePr>
            <a:graphicFrameLocks/>
          </p:cNvGraphicFramePr>
          <p:nvPr/>
        </p:nvGraphicFramePr>
        <p:xfrm>
          <a:off x="4572000" y="2677142"/>
          <a:ext cx="3706585" cy="1893486"/>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0" name="Chart 9">
            <a:extLst>
              <a:ext uri="{FF2B5EF4-FFF2-40B4-BE49-F238E27FC236}">
                <a16:creationId xmlns:a16="http://schemas.microsoft.com/office/drawing/2014/main" id="{D4E017D8-A37E-416F-8624-114A4C5A7BB0}"/>
              </a:ext>
            </a:extLst>
          </p:cNvPr>
          <p:cNvGraphicFramePr>
            <a:graphicFrameLocks/>
          </p:cNvGraphicFramePr>
          <p:nvPr>
            <p:extLst>
              <p:ext uri="{D42A27DB-BD31-4B8C-83A1-F6EECF244321}">
                <p14:modId xmlns:p14="http://schemas.microsoft.com/office/powerpoint/2010/main" val="2448340940"/>
              </p:ext>
            </p:extLst>
          </p:nvPr>
        </p:nvGraphicFramePr>
        <p:xfrm>
          <a:off x="612322" y="612322"/>
          <a:ext cx="3706585" cy="1893486"/>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11" name="Chart 10">
            <a:extLst>
              <a:ext uri="{FF2B5EF4-FFF2-40B4-BE49-F238E27FC236}">
                <a16:creationId xmlns:a16="http://schemas.microsoft.com/office/drawing/2014/main" id="{A4D8997D-C036-48F5-8D1F-83AB9614F04B}"/>
              </a:ext>
            </a:extLst>
          </p:cNvPr>
          <p:cNvGraphicFramePr>
            <a:graphicFrameLocks/>
          </p:cNvGraphicFramePr>
          <p:nvPr>
            <p:extLst>
              <p:ext uri="{D42A27DB-BD31-4B8C-83A1-F6EECF244321}">
                <p14:modId xmlns:p14="http://schemas.microsoft.com/office/powerpoint/2010/main" val="2097211558"/>
              </p:ext>
            </p:extLst>
          </p:nvPr>
        </p:nvGraphicFramePr>
        <p:xfrm>
          <a:off x="4563836" y="612322"/>
          <a:ext cx="3714749" cy="1893486"/>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12" name="Chart 11">
            <a:extLst>
              <a:ext uri="{FF2B5EF4-FFF2-40B4-BE49-F238E27FC236}">
                <a16:creationId xmlns:a16="http://schemas.microsoft.com/office/drawing/2014/main" id="{5F36D373-13A0-BAED-D5B8-9F0958BA0576}"/>
              </a:ext>
            </a:extLst>
          </p:cNvPr>
          <p:cNvGraphicFramePr>
            <a:graphicFrameLocks/>
          </p:cNvGraphicFramePr>
          <p:nvPr>
            <p:extLst>
              <p:ext uri="{D42A27DB-BD31-4B8C-83A1-F6EECF244321}">
                <p14:modId xmlns:p14="http://schemas.microsoft.com/office/powerpoint/2010/main" val="562947465"/>
              </p:ext>
            </p:extLst>
          </p:nvPr>
        </p:nvGraphicFramePr>
        <p:xfrm>
          <a:off x="612321" y="2677142"/>
          <a:ext cx="3714749" cy="1893486"/>
        </p:xfrm>
        <a:graphic>
          <a:graphicData uri="http://schemas.openxmlformats.org/drawingml/2006/chart">
            <c:chart xmlns:c="http://schemas.openxmlformats.org/drawingml/2006/chart" xmlns:r="http://schemas.openxmlformats.org/officeDocument/2006/relationships" r:id="rId13"/>
          </a:graphicData>
        </a:graphic>
      </p:graphicFrame>
      <p:graphicFrame>
        <p:nvGraphicFramePr>
          <p:cNvPr id="13" name="Chart 12">
            <a:extLst>
              <a:ext uri="{FF2B5EF4-FFF2-40B4-BE49-F238E27FC236}">
                <a16:creationId xmlns:a16="http://schemas.microsoft.com/office/drawing/2014/main" id="{01910955-EB0F-4CB9-9A55-A4C6F780C870}"/>
              </a:ext>
            </a:extLst>
          </p:cNvPr>
          <p:cNvGraphicFramePr>
            <a:graphicFrameLocks/>
          </p:cNvGraphicFramePr>
          <p:nvPr>
            <p:extLst>
              <p:ext uri="{D42A27DB-BD31-4B8C-83A1-F6EECF244321}">
                <p14:modId xmlns:p14="http://schemas.microsoft.com/office/powerpoint/2010/main" val="2632915126"/>
              </p:ext>
            </p:extLst>
          </p:nvPr>
        </p:nvGraphicFramePr>
        <p:xfrm>
          <a:off x="4555674" y="2677142"/>
          <a:ext cx="3722911" cy="1893486"/>
        </p:xfrm>
        <a:graphic>
          <a:graphicData uri="http://schemas.openxmlformats.org/drawingml/2006/chart">
            <c:chart xmlns:c="http://schemas.openxmlformats.org/drawingml/2006/chart" xmlns:r="http://schemas.openxmlformats.org/officeDocument/2006/relationships" r:id="rId14"/>
          </a:graphicData>
        </a:graphic>
      </p:graphicFrame>
    </p:spTree>
    <p:extLst>
      <p:ext uri="{BB962C8B-B14F-4D97-AF65-F5344CB8AC3E}">
        <p14:creationId xmlns:p14="http://schemas.microsoft.com/office/powerpoint/2010/main" val="3828142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a:spLocks noGrp="1"/>
          </p:cNvSpPr>
          <p:nvPr>
            <p:ph type="title"/>
          </p:nvPr>
        </p:nvSpPr>
        <p:spPr>
          <a:xfrm>
            <a:off x="311700" y="354045"/>
            <a:ext cx="786075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dirty="0"/>
              <a:t>Top 5 Pizza Performance – Key Insights</a:t>
            </a:r>
            <a:endParaRPr dirty="0"/>
          </a:p>
        </p:txBody>
      </p:sp>
      <p:sp>
        <p:nvSpPr>
          <p:cNvPr id="2" name="Text Placeholder 1">
            <a:extLst>
              <a:ext uri="{FF2B5EF4-FFF2-40B4-BE49-F238E27FC236}">
                <a16:creationId xmlns:a16="http://schemas.microsoft.com/office/drawing/2014/main" id="{0DFACF0C-A3CA-1894-56D7-006397E348C5}"/>
              </a:ext>
            </a:extLst>
          </p:cNvPr>
          <p:cNvSpPr>
            <a:spLocks noGrp="1" noChangeArrowheads="1"/>
          </p:cNvSpPr>
          <p:nvPr>
            <p:ph type="body" idx="1"/>
          </p:nvPr>
        </p:nvSpPr>
        <p:spPr bwMode="auto">
          <a:xfrm>
            <a:off x="311150" y="817555"/>
            <a:ext cx="8734879" cy="3831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Thai Chicken Pizza was the best-performing pizza by revenue overall</a:t>
            </a:r>
            <a:r>
              <a:rPr kumimoji="0" lang="en-US" altLang="en-US" sz="15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a:t>
            </a:r>
          </a:p>
          <a:p>
            <a:pPr marL="457200" lvl="1" indent="0" eaLnBrk="0" fontAlgn="base" hangingPunct="0">
              <a:lnSpc>
                <a:spcPct val="100000"/>
              </a:lnSpc>
              <a:spcBef>
                <a:spcPct val="0"/>
              </a:spcBef>
              <a:spcAft>
                <a:spcPct val="0"/>
              </a:spcAft>
              <a:buClrTx/>
              <a:buSzTx/>
              <a:buNone/>
            </a:pP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Thai Chicken Pizza generated the highest overall revenue at </a:t>
            </a:r>
            <a:r>
              <a:rPr kumimoji="0" lang="en-US" altLang="en-US" sz="12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$43.4K</a:t>
            </a: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and an order volume of </a:t>
            </a:r>
            <a:r>
              <a:rPr lang="en-US" altLang="en-US" sz="1200" b="1" dirty="0">
                <a:solidFill>
                  <a:schemeClr val="tx1"/>
                </a:solidFill>
                <a:latin typeface="Poppins" panose="00000500000000000000" pitchFamily="2" charset="0"/>
                <a:cs typeface="Poppins" panose="00000500000000000000" pitchFamily="2" charset="0"/>
              </a:rPr>
              <a:t>2.2</a:t>
            </a:r>
            <a:r>
              <a:rPr kumimoji="0" lang="en-US" altLang="en-US" sz="12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K</a:t>
            </a: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with </a:t>
            </a:r>
            <a:r>
              <a:rPr lang="en-US" altLang="en-US" sz="1200" b="1" dirty="0">
                <a:solidFill>
                  <a:schemeClr val="tx1"/>
                </a:solidFill>
                <a:latin typeface="Poppins" panose="00000500000000000000" pitchFamily="2" charset="0"/>
                <a:cs typeface="Poppins" panose="00000500000000000000" pitchFamily="2" charset="0"/>
              </a:rPr>
              <a:t>2.4</a:t>
            </a:r>
            <a:r>
              <a:rPr kumimoji="0" lang="en-US" altLang="en-US" sz="12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K</a:t>
            </a: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pizzas sold and a Revenue per Pizza of </a:t>
            </a:r>
            <a:r>
              <a:rPr lang="en-US" altLang="en-US" sz="1200" b="1" dirty="0">
                <a:solidFill>
                  <a:schemeClr val="tx1"/>
                </a:solidFill>
                <a:latin typeface="Poppins" panose="00000500000000000000" pitchFamily="2" charset="0"/>
                <a:cs typeface="Poppins" panose="00000500000000000000" pitchFamily="2" charset="0"/>
              </a:rPr>
              <a:t>$18.32</a:t>
            </a:r>
          </a:p>
          <a:p>
            <a:pPr marL="457200" lvl="1" indent="0" eaLnBrk="0" fontAlgn="base" hangingPunct="0">
              <a:lnSpc>
                <a:spcPct val="100000"/>
              </a:lnSpc>
              <a:spcBef>
                <a:spcPct val="0"/>
              </a:spcBef>
              <a:spcAft>
                <a:spcPct val="0"/>
              </a:spcAft>
              <a:buClrTx/>
              <a:buSzTx/>
              <a:buNone/>
            </a:pPr>
            <a:endPar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Classic Deluxe Pizza generated the highest order volume and quantities sold</a:t>
            </a:r>
            <a:r>
              <a:rPr kumimoji="0" lang="en-US" altLang="en-US" sz="15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a:t>
            </a:r>
          </a:p>
          <a:p>
            <a:pPr marL="457200" lvl="1" indent="0" eaLnBrk="0" fontAlgn="base" hangingPunct="0">
              <a:lnSpc>
                <a:spcPct val="100000"/>
              </a:lnSpc>
              <a:spcBef>
                <a:spcPct val="0"/>
              </a:spcBef>
              <a:spcAft>
                <a:spcPct val="0"/>
              </a:spcAft>
              <a:buClrTx/>
              <a:buSzTx/>
              <a:buNone/>
            </a:pP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Classic Deluxe Pizza generated the highest order volume at </a:t>
            </a:r>
            <a:r>
              <a:rPr kumimoji="0" lang="en-US" altLang="en-US" sz="12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2.3K</a:t>
            </a: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and </a:t>
            </a:r>
            <a:r>
              <a:rPr lang="en-US" altLang="en-US" sz="1200" b="1" dirty="0">
                <a:solidFill>
                  <a:schemeClr val="tx1"/>
                </a:solidFill>
                <a:latin typeface="Poppins" panose="00000500000000000000" pitchFamily="2" charset="0"/>
                <a:cs typeface="Poppins" panose="00000500000000000000" pitchFamily="2" charset="0"/>
              </a:rPr>
              <a:t>2.5</a:t>
            </a:r>
            <a:r>
              <a:rPr kumimoji="0" lang="en-US" altLang="en-US" sz="12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K</a:t>
            </a: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pizzas sold, with an overall revenue of </a:t>
            </a:r>
            <a:r>
              <a:rPr kumimoji="0" lang="en-US" altLang="en-US" sz="12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$38.2K</a:t>
            </a: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a:t>
            </a:r>
          </a:p>
          <a:p>
            <a:pPr marL="457200" lvl="1" indent="0" eaLnBrk="0" fontAlgn="base" hangingPunct="0">
              <a:lnSpc>
                <a:spcPct val="100000"/>
              </a:lnSpc>
              <a:spcBef>
                <a:spcPct val="0"/>
              </a:spcBef>
              <a:spcAft>
                <a:spcPct val="0"/>
              </a:spcAft>
              <a:buClrTx/>
              <a:buSzTx/>
              <a:buNone/>
            </a:pPr>
            <a:endPar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Barbecue Chicken Pizza was the second best-performing pizza overall</a:t>
            </a:r>
            <a:r>
              <a:rPr kumimoji="0" lang="en-US" altLang="en-US" sz="15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a:t>
            </a:r>
          </a:p>
          <a:p>
            <a:pPr marL="457200" lvl="1" indent="0" eaLnBrk="0" fontAlgn="base" hangingPunct="0">
              <a:lnSpc>
                <a:spcPct val="100000"/>
              </a:lnSpc>
              <a:spcBef>
                <a:spcPct val="0"/>
              </a:spcBef>
              <a:spcAft>
                <a:spcPct val="0"/>
              </a:spcAft>
              <a:buClrTx/>
              <a:buSzTx/>
              <a:buNone/>
            </a:pP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Barbecue Chicken Pizza generated a strong revenue of </a:t>
            </a:r>
            <a:r>
              <a:rPr kumimoji="0" lang="en-US" altLang="en-US" sz="12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$42.8K</a:t>
            </a: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and an order volume of </a:t>
            </a:r>
            <a:r>
              <a:rPr lang="en-US" altLang="en-US" sz="1200" b="1" dirty="0">
                <a:solidFill>
                  <a:schemeClr val="tx1"/>
                </a:solidFill>
                <a:latin typeface="Poppins" panose="00000500000000000000" pitchFamily="2" charset="0"/>
                <a:cs typeface="Poppins" panose="00000500000000000000" pitchFamily="2" charset="0"/>
              </a:rPr>
              <a:t>2.3</a:t>
            </a:r>
            <a:r>
              <a:rPr kumimoji="0" lang="en-US" altLang="en-US" sz="12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K</a:t>
            </a: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with </a:t>
            </a:r>
            <a:r>
              <a:rPr lang="en-US" altLang="en-US" sz="1200" b="1" dirty="0">
                <a:solidFill>
                  <a:schemeClr val="tx1"/>
                </a:solidFill>
                <a:latin typeface="Poppins" panose="00000500000000000000" pitchFamily="2" charset="0"/>
                <a:cs typeface="Poppins" panose="00000500000000000000" pitchFamily="2" charset="0"/>
              </a:rPr>
              <a:t>2.4</a:t>
            </a:r>
            <a:r>
              <a:rPr kumimoji="0" lang="en-US" altLang="en-US" sz="12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K</a:t>
            </a: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pizzas sold.</a:t>
            </a:r>
          </a:p>
          <a:p>
            <a:pPr marL="457200" lvl="1" indent="0" eaLnBrk="0" fontAlgn="base" hangingPunct="0">
              <a:lnSpc>
                <a:spcPct val="100000"/>
              </a:lnSpc>
              <a:spcBef>
                <a:spcPct val="0"/>
              </a:spcBef>
              <a:spcAft>
                <a:spcPct val="0"/>
              </a:spcAft>
              <a:buClrTx/>
              <a:buSzTx/>
              <a:buNone/>
            </a:pPr>
            <a:endPar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Brie Carré Pizza was the pizza with the highest Revenue per Pizza</a:t>
            </a:r>
            <a:r>
              <a:rPr kumimoji="0" lang="en-US" altLang="en-US" sz="15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a:t>
            </a:r>
          </a:p>
          <a:p>
            <a:pPr marL="457200" lvl="1" indent="0" eaLnBrk="0" fontAlgn="base" hangingPunct="0">
              <a:lnSpc>
                <a:spcPct val="100000"/>
              </a:lnSpc>
              <a:spcBef>
                <a:spcPct val="0"/>
              </a:spcBef>
              <a:spcAft>
                <a:spcPct val="0"/>
              </a:spcAft>
              <a:buClrTx/>
              <a:buSzTx/>
              <a:buNone/>
            </a:pP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Brie Carré Pizza generated the highest Revenue per Pizza at </a:t>
            </a:r>
            <a:r>
              <a:rPr kumimoji="0" lang="en-US" altLang="en-US" sz="12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$23.65</a:t>
            </a: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despite having the lowest overall revenue at </a:t>
            </a:r>
            <a:r>
              <a:rPr kumimoji="0" lang="en-US" altLang="en-US" sz="12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$11.6K</a:t>
            </a: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and an order volume of </a:t>
            </a:r>
            <a:r>
              <a:rPr kumimoji="0" lang="en-US" altLang="en-US" sz="12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480</a:t>
            </a: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with </a:t>
            </a:r>
            <a:r>
              <a:rPr kumimoji="0" lang="en-US" altLang="en-US" sz="12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490</a:t>
            </a: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pizzas sold, likely due to its higher price point.</a:t>
            </a:r>
          </a:p>
          <a:p>
            <a:pPr marL="457200" lvl="1" indent="0" eaLnBrk="0" fontAlgn="base" hangingPunct="0">
              <a:lnSpc>
                <a:spcPct val="100000"/>
              </a:lnSpc>
              <a:spcBef>
                <a:spcPct val="0"/>
              </a:spcBef>
              <a:spcAft>
                <a:spcPct val="0"/>
              </a:spcAft>
              <a:buClrTx/>
              <a:buSzTx/>
              <a:buNone/>
            </a:pPr>
            <a:endPar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Chicken and meat pizzas were the best-performing categories overall</a:t>
            </a:r>
            <a:r>
              <a:rPr kumimoji="0" lang="en-US" altLang="en-US" sz="15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a:t>
            </a:r>
          </a:p>
          <a:p>
            <a:pPr marL="457200" lvl="1" indent="0" eaLnBrk="0" fontAlgn="base" hangingPunct="0">
              <a:lnSpc>
                <a:spcPct val="100000"/>
              </a:lnSpc>
              <a:spcBef>
                <a:spcPct val="0"/>
              </a:spcBef>
              <a:spcAft>
                <a:spcPct val="0"/>
              </a:spcAft>
              <a:buClrTx/>
              <a:buSzTx/>
              <a:buNone/>
            </a:pP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Chicken and meat pizzas accounted for most of the top-performing positions, with chicken-based pizzas leading overall revenue and sales performance across the menu.</a:t>
            </a:r>
            <a:endParaRPr kumimoji="0" lang="en-US" altLang="en-US" sz="28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295568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a:spLocks noGrp="1"/>
          </p:cNvSpPr>
          <p:nvPr>
            <p:ph type="title"/>
          </p:nvPr>
        </p:nvSpPr>
        <p:spPr>
          <a:xfrm>
            <a:off x="1829850" y="51378"/>
            <a:ext cx="5484300" cy="454808"/>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US" dirty="0"/>
              <a:t>Bottom 5 Pizza Performance</a:t>
            </a:r>
            <a:endParaRPr dirty="0"/>
          </a:p>
        </p:txBody>
      </p:sp>
      <p:graphicFrame>
        <p:nvGraphicFramePr>
          <p:cNvPr id="2" name="Chart 1">
            <a:extLst>
              <a:ext uri="{FF2B5EF4-FFF2-40B4-BE49-F238E27FC236}">
                <a16:creationId xmlns:a16="http://schemas.microsoft.com/office/drawing/2014/main" id="{95212325-E970-6507-0588-E5F346F20272}"/>
              </a:ext>
            </a:extLst>
          </p:cNvPr>
          <p:cNvGraphicFramePr>
            <a:graphicFrameLocks/>
          </p:cNvGraphicFramePr>
          <p:nvPr/>
        </p:nvGraphicFramePr>
        <p:xfrm>
          <a:off x="613781" y="612322"/>
          <a:ext cx="3706585" cy="189348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7E0694EB-EC6F-92F4-FA83-9C1B968EF863}"/>
              </a:ext>
            </a:extLst>
          </p:cNvPr>
          <p:cNvGraphicFramePr>
            <a:graphicFrameLocks/>
          </p:cNvGraphicFramePr>
          <p:nvPr/>
        </p:nvGraphicFramePr>
        <p:xfrm>
          <a:off x="4563837" y="2677142"/>
          <a:ext cx="3706585" cy="189348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58AB74F7-F910-5690-A413-BDA671F76B1F}"/>
              </a:ext>
            </a:extLst>
          </p:cNvPr>
          <p:cNvGraphicFramePr>
            <a:graphicFrameLocks/>
          </p:cNvGraphicFramePr>
          <p:nvPr/>
        </p:nvGraphicFramePr>
        <p:xfrm>
          <a:off x="612322" y="2677142"/>
          <a:ext cx="3706585" cy="189348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6" name="Chart 5">
            <a:extLst>
              <a:ext uri="{FF2B5EF4-FFF2-40B4-BE49-F238E27FC236}">
                <a16:creationId xmlns:a16="http://schemas.microsoft.com/office/drawing/2014/main" id="{B88CD826-F0C3-6438-E6F5-194654320E29}"/>
              </a:ext>
            </a:extLst>
          </p:cNvPr>
          <p:cNvGraphicFramePr>
            <a:graphicFrameLocks/>
          </p:cNvGraphicFramePr>
          <p:nvPr/>
        </p:nvGraphicFramePr>
        <p:xfrm>
          <a:off x="4563838" y="612322"/>
          <a:ext cx="3706585" cy="1893486"/>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 name="Chart 2">
            <a:extLst>
              <a:ext uri="{FF2B5EF4-FFF2-40B4-BE49-F238E27FC236}">
                <a16:creationId xmlns:a16="http://schemas.microsoft.com/office/drawing/2014/main" id="{68320A76-6119-4190-A134-648A25A157E4}"/>
              </a:ext>
            </a:extLst>
          </p:cNvPr>
          <p:cNvGraphicFramePr>
            <a:graphicFrameLocks/>
          </p:cNvGraphicFramePr>
          <p:nvPr/>
        </p:nvGraphicFramePr>
        <p:xfrm>
          <a:off x="4572000" y="612322"/>
          <a:ext cx="3698422" cy="1893486"/>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 name="Chart 6">
            <a:extLst>
              <a:ext uri="{FF2B5EF4-FFF2-40B4-BE49-F238E27FC236}">
                <a16:creationId xmlns:a16="http://schemas.microsoft.com/office/drawing/2014/main" id="{04AF3420-7505-1A5B-48F9-D8AF3C4DC13B}"/>
              </a:ext>
            </a:extLst>
          </p:cNvPr>
          <p:cNvGraphicFramePr>
            <a:graphicFrameLocks/>
          </p:cNvGraphicFramePr>
          <p:nvPr/>
        </p:nvGraphicFramePr>
        <p:xfrm>
          <a:off x="612322" y="2677142"/>
          <a:ext cx="3706585" cy="1893486"/>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8" name="Chart 7">
            <a:extLst>
              <a:ext uri="{FF2B5EF4-FFF2-40B4-BE49-F238E27FC236}">
                <a16:creationId xmlns:a16="http://schemas.microsoft.com/office/drawing/2014/main" id="{CFC4501F-C235-4611-83C5-2584B6474628}"/>
              </a:ext>
            </a:extLst>
          </p:cNvPr>
          <p:cNvGraphicFramePr>
            <a:graphicFrameLocks/>
          </p:cNvGraphicFramePr>
          <p:nvPr/>
        </p:nvGraphicFramePr>
        <p:xfrm>
          <a:off x="4563836" y="2677142"/>
          <a:ext cx="3698422" cy="1893486"/>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9" name="Chart 8">
            <a:extLst>
              <a:ext uri="{FF2B5EF4-FFF2-40B4-BE49-F238E27FC236}">
                <a16:creationId xmlns:a16="http://schemas.microsoft.com/office/drawing/2014/main" id="{F3B392BE-61C5-4179-9775-0ECFF84B8A26}"/>
              </a:ext>
            </a:extLst>
          </p:cNvPr>
          <p:cNvGraphicFramePr>
            <a:graphicFrameLocks/>
          </p:cNvGraphicFramePr>
          <p:nvPr/>
        </p:nvGraphicFramePr>
        <p:xfrm>
          <a:off x="4572000" y="2677142"/>
          <a:ext cx="3706585" cy="1893486"/>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0" name="Chart 9">
            <a:extLst>
              <a:ext uri="{FF2B5EF4-FFF2-40B4-BE49-F238E27FC236}">
                <a16:creationId xmlns:a16="http://schemas.microsoft.com/office/drawing/2014/main" id="{D4E017D8-A37E-416F-8624-114A4C5A7BB0}"/>
              </a:ext>
            </a:extLst>
          </p:cNvPr>
          <p:cNvGraphicFramePr>
            <a:graphicFrameLocks/>
          </p:cNvGraphicFramePr>
          <p:nvPr/>
        </p:nvGraphicFramePr>
        <p:xfrm>
          <a:off x="612322" y="612322"/>
          <a:ext cx="3706585" cy="1893486"/>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11" name="Chart 10">
            <a:extLst>
              <a:ext uri="{FF2B5EF4-FFF2-40B4-BE49-F238E27FC236}">
                <a16:creationId xmlns:a16="http://schemas.microsoft.com/office/drawing/2014/main" id="{A4D8997D-C036-48F5-8D1F-83AB9614F04B}"/>
              </a:ext>
            </a:extLst>
          </p:cNvPr>
          <p:cNvGraphicFramePr>
            <a:graphicFrameLocks/>
          </p:cNvGraphicFramePr>
          <p:nvPr/>
        </p:nvGraphicFramePr>
        <p:xfrm>
          <a:off x="4563836" y="612322"/>
          <a:ext cx="3714749" cy="1893486"/>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12" name="Chart 11">
            <a:extLst>
              <a:ext uri="{FF2B5EF4-FFF2-40B4-BE49-F238E27FC236}">
                <a16:creationId xmlns:a16="http://schemas.microsoft.com/office/drawing/2014/main" id="{5F36D373-13A0-BAED-D5B8-9F0958BA0576}"/>
              </a:ext>
            </a:extLst>
          </p:cNvPr>
          <p:cNvGraphicFramePr>
            <a:graphicFrameLocks/>
          </p:cNvGraphicFramePr>
          <p:nvPr/>
        </p:nvGraphicFramePr>
        <p:xfrm>
          <a:off x="612321" y="2677142"/>
          <a:ext cx="3714749" cy="1893486"/>
        </p:xfrm>
        <a:graphic>
          <a:graphicData uri="http://schemas.openxmlformats.org/drawingml/2006/chart">
            <c:chart xmlns:c="http://schemas.openxmlformats.org/drawingml/2006/chart" xmlns:r="http://schemas.openxmlformats.org/officeDocument/2006/relationships" r:id="rId13"/>
          </a:graphicData>
        </a:graphic>
      </p:graphicFrame>
      <p:graphicFrame>
        <p:nvGraphicFramePr>
          <p:cNvPr id="13" name="Chart 12">
            <a:extLst>
              <a:ext uri="{FF2B5EF4-FFF2-40B4-BE49-F238E27FC236}">
                <a16:creationId xmlns:a16="http://schemas.microsoft.com/office/drawing/2014/main" id="{01910955-EB0F-4CB9-9A55-A4C6F780C870}"/>
              </a:ext>
            </a:extLst>
          </p:cNvPr>
          <p:cNvGraphicFramePr>
            <a:graphicFrameLocks/>
          </p:cNvGraphicFramePr>
          <p:nvPr/>
        </p:nvGraphicFramePr>
        <p:xfrm>
          <a:off x="4555674" y="2677142"/>
          <a:ext cx="3722911" cy="1893486"/>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14" name="Chart 13">
            <a:extLst>
              <a:ext uri="{FF2B5EF4-FFF2-40B4-BE49-F238E27FC236}">
                <a16:creationId xmlns:a16="http://schemas.microsoft.com/office/drawing/2014/main" id="{0EDB69F3-289A-4D26-9F7E-F8CF1289095F}"/>
              </a:ext>
            </a:extLst>
          </p:cNvPr>
          <p:cNvGraphicFramePr>
            <a:graphicFrameLocks/>
          </p:cNvGraphicFramePr>
          <p:nvPr>
            <p:extLst>
              <p:ext uri="{D42A27DB-BD31-4B8C-83A1-F6EECF244321}">
                <p14:modId xmlns:p14="http://schemas.microsoft.com/office/powerpoint/2010/main" val="3214850913"/>
              </p:ext>
            </p:extLst>
          </p:nvPr>
        </p:nvGraphicFramePr>
        <p:xfrm>
          <a:off x="610863" y="612322"/>
          <a:ext cx="3722911" cy="1893486"/>
        </p:xfrm>
        <a:graphic>
          <a:graphicData uri="http://schemas.openxmlformats.org/drawingml/2006/chart">
            <c:chart xmlns:c="http://schemas.openxmlformats.org/drawingml/2006/chart" xmlns:r="http://schemas.openxmlformats.org/officeDocument/2006/relationships" r:id="rId15"/>
          </a:graphicData>
        </a:graphic>
      </p:graphicFrame>
      <p:graphicFrame>
        <p:nvGraphicFramePr>
          <p:cNvPr id="15" name="Chart 14">
            <a:extLst>
              <a:ext uri="{FF2B5EF4-FFF2-40B4-BE49-F238E27FC236}">
                <a16:creationId xmlns:a16="http://schemas.microsoft.com/office/drawing/2014/main" id="{36959240-58F5-4EF6-A8A2-4C1759FE03F4}"/>
              </a:ext>
            </a:extLst>
          </p:cNvPr>
          <p:cNvGraphicFramePr>
            <a:graphicFrameLocks/>
          </p:cNvGraphicFramePr>
          <p:nvPr>
            <p:extLst>
              <p:ext uri="{D42A27DB-BD31-4B8C-83A1-F6EECF244321}">
                <p14:modId xmlns:p14="http://schemas.microsoft.com/office/powerpoint/2010/main" val="1886514376"/>
              </p:ext>
            </p:extLst>
          </p:nvPr>
        </p:nvGraphicFramePr>
        <p:xfrm>
          <a:off x="4572000" y="612322"/>
          <a:ext cx="3722911" cy="1893486"/>
        </p:xfrm>
        <a:graphic>
          <a:graphicData uri="http://schemas.openxmlformats.org/drawingml/2006/chart">
            <c:chart xmlns:c="http://schemas.openxmlformats.org/drawingml/2006/chart" xmlns:r="http://schemas.openxmlformats.org/officeDocument/2006/relationships" r:id="rId16"/>
          </a:graphicData>
        </a:graphic>
      </p:graphicFrame>
      <p:graphicFrame>
        <p:nvGraphicFramePr>
          <p:cNvPr id="16" name="Chart 15">
            <a:extLst>
              <a:ext uri="{FF2B5EF4-FFF2-40B4-BE49-F238E27FC236}">
                <a16:creationId xmlns:a16="http://schemas.microsoft.com/office/drawing/2014/main" id="{6E38438D-1BF9-A2BB-5B39-362BD40225C9}"/>
              </a:ext>
            </a:extLst>
          </p:cNvPr>
          <p:cNvGraphicFramePr>
            <a:graphicFrameLocks/>
          </p:cNvGraphicFramePr>
          <p:nvPr>
            <p:extLst>
              <p:ext uri="{D42A27DB-BD31-4B8C-83A1-F6EECF244321}">
                <p14:modId xmlns:p14="http://schemas.microsoft.com/office/powerpoint/2010/main" val="2090393224"/>
              </p:ext>
            </p:extLst>
          </p:nvPr>
        </p:nvGraphicFramePr>
        <p:xfrm>
          <a:off x="610863" y="2677142"/>
          <a:ext cx="3722911" cy="1893486"/>
        </p:xfrm>
        <a:graphic>
          <a:graphicData uri="http://schemas.openxmlformats.org/drawingml/2006/chart">
            <c:chart xmlns:c="http://schemas.openxmlformats.org/drawingml/2006/chart" xmlns:r="http://schemas.openxmlformats.org/officeDocument/2006/relationships" r:id="rId17"/>
          </a:graphicData>
        </a:graphic>
      </p:graphicFrame>
      <p:graphicFrame>
        <p:nvGraphicFramePr>
          <p:cNvPr id="17" name="Chart 16">
            <a:extLst>
              <a:ext uri="{FF2B5EF4-FFF2-40B4-BE49-F238E27FC236}">
                <a16:creationId xmlns:a16="http://schemas.microsoft.com/office/drawing/2014/main" id="{564FAB51-0207-4A94-9F28-865BC7594B45}"/>
              </a:ext>
            </a:extLst>
          </p:cNvPr>
          <p:cNvGraphicFramePr>
            <a:graphicFrameLocks/>
          </p:cNvGraphicFramePr>
          <p:nvPr>
            <p:extLst>
              <p:ext uri="{D42A27DB-BD31-4B8C-83A1-F6EECF244321}">
                <p14:modId xmlns:p14="http://schemas.microsoft.com/office/powerpoint/2010/main" val="3823680027"/>
              </p:ext>
            </p:extLst>
          </p:nvPr>
        </p:nvGraphicFramePr>
        <p:xfrm>
          <a:off x="4555674" y="2677142"/>
          <a:ext cx="3739237" cy="1893486"/>
        </p:xfrm>
        <a:graphic>
          <a:graphicData uri="http://schemas.openxmlformats.org/drawingml/2006/chart">
            <c:chart xmlns:c="http://schemas.openxmlformats.org/drawingml/2006/chart" xmlns:r="http://schemas.openxmlformats.org/officeDocument/2006/relationships" r:id="rId18"/>
          </a:graphicData>
        </a:graphic>
      </p:graphicFrame>
    </p:spTree>
    <p:extLst>
      <p:ext uri="{BB962C8B-B14F-4D97-AF65-F5344CB8AC3E}">
        <p14:creationId xmlns:p14="http://schemas.microsoft.com/office/powerpoint/2010/main" val="2550811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a:spLocks noGrp="1"/>
          </p:cNvSpPr>
          <p:nvPr>
            <p:ph type="title"/>
          </p:nvPr>
        </p:nvSpPr>
        <p:spPr>
          <a:xfrm>
            <a:off x="311700" y="452018"/>
            <a:ext cx="786075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dirty="0"/>
              <a:t>Bottom 5 Pizza Performance – Key Insights</a:t>
            </a:r>
            <a:endParaRPr dirty="0"/>
          </a:p>
        </p:txBody>
      </p:sp>
      <p:sp>
        <p:nvSpPr>
          <p:cNvPr id="57" name="Google Shape;57;p3"/>
          <p:cNvSpPr txBox="1">
            <a:spLocks noGrp="1"/>
          </p:cNvSpPr>
          <p:nvPr>
            <p:ph type="body" idx="1"/>
          </p:nvPr>
        </p:nvSpPr>
        <p:spPr>
          <a:xfrm>
            <a:off x="311700" y="963491"/>
            <a:ext cx="8032200" cy="3503814"/>
          </a:xfrm>
          <a:prstGeom prst="rect">
            <a:avLst/>
          </a:prstGeom>
          <a:noFill/>
          <a:ln>
            <a:noFill/>
          </a:ln>
        </p:spPr>
        <p:txBody>
          <a:bodyPr spcFirstLastPara="1" wrap="square" lIns="91425" tIns="91425" rIns="91425" bIns="91425" anchor="t" anchorCtr="0">
            <a:normAutofit fontScale="92500" lnSpcReduction="20000"/>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b="1" dirty="0"/>
              <a:t>Vegetable-based pizzas dominated the bottom 5 performance group</a:t>
            </a:r>
            <a:endParaRPr kumimoji="0" lang="en-US" altLang="en-US" sz="1400" b="1"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457200" lvl="1" indent="0" eaLnBrk="0" fontAlgn="base" hangingPunct="0">
              <a:lnSpc>
                <a:spcPct val="100000"/>
              </a:lnSpc>
              <a:spcBef>
                <a:spcPct val="0"/>
              </a:spcBef>
              <a:spcAft>
                <a:spcPct val="0"/>
              </a:spcAft>
              <a:buClrTx/>
              <a:buSzTx/>
              <a:buNone/>
            </a:pPr>
            <a:r>
              <a:rPr lang="en-US" sz="1200" dirty="0"/>
              <a:t>Vegetable-based pizzas dominated the bottom 5 performance group, indicating lower overall consumer demand compared to meat-based options.</a:t>
            </a:r>
          </a:p>
          <a:p>
            <a:pPr marL="628650" lvl="1" indent="-171450" eaLnBrk="0" fontAlgn="base" hangingPunct="0">
              <a:lnSpc>
                <a:spcPct val="100000"/>
              </a:lnSpc>
              <a:spcBef>
                <a:spcPct val="0"/>
              </a:spcBef>
              <a:spcAft>
                <a:spcPct val="0"/>
              </a:spcAft>
              <a:buClrTx/>
              <a:buSzTx/>
              <a:buFont typeface="Wingdings" panose="05000000000000000000" pitchFamily="2" charset="2"/>
              <a:buChar char="§"/>
            </a:pPr>
            <a:endParaRPr kumimoji="0" lang="en-US" altLang="en-US" sz="11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b="1" dirty="0"/>
              <a:t>Brie Carré Pizza was the lowest-performing pizza overall</a:t>
            </a:r>
            <a:endParaRPr kumimoji="0" lang="en-US" altLang="en-US" sz="1400" b="1"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457200" lvl="1" indent="0" eaLnBrk="0" fontAlgn="base" hangingPunct="0">
              <a:lnSpc>
                <a:spcPct val="100000"/>
              </a:lnSpc>
              <a:spcBef>
                <a:spcPct val="0"/>
              </a:spcBef>
              <a:spcAft>
                <a:spcPct val="0"/>
              </a:spcAft>
              <a:buClrTx/>
              <a:buSzTx/>
              <a:buNone/>
            </a:pPr>
            <a:r>
              <a:rPr lang="en-US" sz="1200" dirty="0"/>
              <a:t>Brie Carré Pizza generated the lowest overall revenue at </a:t>
            </a:r>
            <a:r>
              <a:rPr lang="en-US" sz="1200" b="1" dirty="0"/>
              <a:t>$11.6K</a:t>
            </a:r>
            <a:r>
              <a:rPr lang="en-US" sz="1200" dirty="0"/>
              <a:t> and an order volume of </a:t>
            </a:r>
            <a:r>
              <a:rPr lang="en-US" sz="1200" b="1" dirty="0"/>
              <a:t>480</a:t>
            </a:r>
            <a:r>
              <a:rPr lang="en-US" sz="1200" dirty="0"/>
              <a:t>, with </a:t>
            </a:r>
            <a:r>
              <a:rPr lang="en-US" sz="1200" b="1" dirty="0"/>
              <a:t>490</a:t>
            </a:r>
            <a:r>
              <a:rPr lang="en-US" sz="1200" dirty="0"/>
              <a:t> pizzas sold. However, it generated the highest Revenue per Pizza overall at </a:t>
            </a:r>
            <a:r>
              <a:rPr lang="en-US" sz="1200" b="1" dirty="0"/>
              <a:t>$23.65</a:t>
            </a:r>
            <a:r>
              <a:rPr lang="en-US" sz="1200" dirty="0"/>
              <a:t>, placing it in the first of Top 5 rank for Revenue per Pizza due to its higher price point.</a:t>
            </a:r>
          </a:p>
          <a:p>
            <a:pPr marL="628650" lvl="1" indent="-171450" eaLnBrk="0" fontAlgn="base" hangingPunct="0">
              <a:lnSpc>
                <a:spcPct val="100000"/>
              </a:lnSpc>
              <a:spcBef>
                <a:spcPct val="0"/>
              </a:spcBef>
              <a:spcAft>
                <a:spcPct val="0"/>
              </a:spcAft>
              <a:buClrTx/>
              <a:buSzTx/>
              <a:buFont typeface="Wingdings" panose="05000000000000000000" pitchFamily="2" charset="2"/>
              <a:buChar char="§"/>
            </a:pPr>
            <a:endPar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b="1" dirty="0"/>
              <a:t>Spinach Supreme Pizza and Mediterranean Pizza were consistently among the bottom-performing pizzas overall</a:t>
            </a:r>
            <a:endParaRPr kumimoji="0" lang="en-US" altLang="en-US" sz="1400" b="1"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457200" lvl="1" indent="0" eaLnBrk="0" fontAlgn="base" hangingPunct="0">
              <a:lnSpc>
                <a:spcPct val="100000"/>
              </a:lnSpc>
              <a:spcBef>
                <a:spcPct val="0"/>
              </a:spcBef>
              <a:spcAft>
                <a:spcPct val="0"/>
              </a:spcAft>
              <a:buClrTx/>
              <a:buSzTx/>
              <a:buNone/>
            </a:pPr>
            <a:r>
              <a:rPr lang="en-US" sz="1200" dirty="0"/>
              <a:t>Both Spinach Supreme Pizza and Mediterranean Pizza consistently ranked near the bottom in total revenue, order volume, and unit sales, reflecting lower overall customer preference within the menu.</a:t>
            </a:r>
          </a:p>
          <a:p>
            <a:pPr marL="742950" lvl="1" indent="-285750" eaLnBrk="0" fontAlgn="base" hangingPunct="0">
              <a:lnSpc>
                <a:spcPct val="100000"/>
              </a:lnSpc>
              <a:spcBef>
                <a:spcPct val="0"/>
              </a:spcBef>
              <a:spcAft>
                <a:spcPct val="0"/>
              </a:spcAft>
              <a:buClrTx/>
              <a:buSzTx/>
              <a:buFont typeface="Wingdings" panose="05000000000000000000" pitchFamily="2" charset="2"/>
              <a:buChar char="§"/>
            </a:pPr>
            <a:endParaRPr kumimoji="0" lang="en-US" altLang="en-US"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a:t>
            </a:r>
            <a:r>
              <a:rPr lang="en-US" sz="1400" b="1" dirty="0"/>
              <a:t> Green Garden Pizza was the second-lowest revenue generator</a:t>
            </a:r>
            <a:r>
              <a:rPr kumimoji="0" lang="en-US" altLang="en-US" sz="1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a:t>
            </a:r>
          </a:p>
          <a:p>
            <a:pPr marL="457200" lvl="1" indent="0" eaLnBrk="0" fontAlgn="base" hangingPunct="0">
              <a:lnSpc>
                <a:spcPct val="100000"/>
              </a:lnSpc>
              <a:spcBef>
                <a:spcPct val="0"/>
              </a:spcBef>
              <a:spcAft>
                <a:spcPct val="0"/>
              </a:spcAft>
              <a:buClrTx/>
              <a:buSzTx/>
              <a:buNone/>
            </a:pPr>
            <a:r>
              <a:rPr lang="en-US" sz="1200" dirty="0"/>
              <a:t>Green Garden Pizza generated a revenue of </a:t>
            </a:r>
            <a:r>
              <a:rPr lang="en-US" sz="1200" b="1" dirty="0"/>
              <a:t>$14K</a:t>
            </a:r>
            <a:r>
              <a:rPr lang="en-US" sz="1200" dirty="0"/>
              <a:t> while ranking 5th lowest in Revenue per Pizza at </a:t>
            </a:r>
            <a:r>
              <a:rPr lang="en-US" sz="1200" b="1" dirty="0"/>
              <a:t>$14</a:t>
            </a:r>
            <a:r>
              <a:rPr lang="en-US" sz="1200" dirty="0"/>
              <a:t>.</a:t>
            </a:r>
            <a:endPar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628650" lvl="1" indent="-171450" eaLnBrk="0" fontAlgn="base" hangingPunct="0">
              <a:lnSpc>
                <a:spcPct val="100000"/>
              </a:lnSpc>
              <a:spcBef>
                <a:spcPct val="0"/>
              </a:spcBef>
              <a:spcAft>
                <a:spcPct val="0"/>
              </a:spcAft>
              <a:buClrTx/>
              <a:buSzTx/>
              <a:buFont typeface="Wingdings" panose="05000000000000000000" pitchFamily="2" charset="2"/>
              <a:buChar char="§"/>
            </a:pPr>
            <a:endParaRPr kumimoji="0" lang="en-US" altLang="en-US" sz="11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b="1" dirty="0"/>
              <a:t>Pepperoni Pizza and Hawaiian Pizza maintained low Revenue per Pizza despite high order volumes</a:t>
            </a:r>
          </a:p>
          <a:p>
            <a:pPr marL="457200" lvl="1" indent="0" eaLnBrk="0" fontAlgn="base" hangingPunct="0">
              <a:lnSpc>
                <a:spcPct val="100000"/>
              </a:lnSpc>
              <a:spcBef>
                <a:spcPct val="0"/>
              </a:spcBef>
              <a:spcAft>
                <a:spcPct val="0"/>
              </a:spcAft>
              <a:buClrTx/>
              <a:buSzTx/>
              <a:buNone/>
            </a:pPr>
            <a:r>
              <a:rPr lang="en-US" sz="1200" dirty="0"/>
              <a:t>Pepperoni Pizza </a:t>
            </a:r>
            <a:r>
              <a:rPr lang="en-US" sz="1200" b="1" dirty="0"/>
              <a:t>($12.47 per Pizza) </a:t>
            </a:r>
            <a:r>
              <a:rPr lang="en-US" sz="1200" dirty="0"/>
              <a:t>and Hawaiian Pizza </a:t>
            </a:r>
            <a:r>
              <a:rPr lang="en-US" sz="1200" b="1" dirty="0"/>
              <a:t>($13.33 per Pizza) </a:t>
            </a:r>
            <a:r>
              <a:rPr lang="en-US" sz="1200" dirty="0"/>
              <a:t>maintained low Revenue per Pizza despite high order volumes</a:t>
            </a:r>
            <a:endParaRPr kumimoji="0" lang="en-US" altLang="en-US" sz="16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540726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a:spLocks noGrp="1"/>
          </p:cNvSpPr>
          <p:nvPr>
            <p:ph type="title"/>
          </p:nvPr>
        </p:nvSpPr>
        <p:spPr>
          <a:xfrm>
            <a:off x="311700" y="0"/>
            <a:ext cx="786075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US" dirty="0"/>
              <a:t>Business Recommendations</a:t>
            </a:r>
            <a:endParaRPr dirty="0"/>
          </a:p>
        </p:txBody>
      </p:sp>
      <p:sp>
        <p:nvSpPr>
          <p:cNvPr id="57" name="Google Shape;57;p3"/>
          <p:cNvSpPr txBox="1">
            <a:spLocks noGrp="1"/>
          </p:cNvSpPr>
          <p:nvPr>
            <p:ph type="body" idx="1"/>
          </p:nvPr>
        </p:nvSpPr>
        <p:spPr>
          <a:xfrm>
            <a:off x="123925" y="572700"/>
            <a:ext cx="8293454" cy="4007464"/>
          </a:xfrm>
          <a:prstGeom prst="rect">
            <a:avLst/>
          </a:prstGeom>
          <a:noFill/>
          <a:ln>
            <a:noFill/>
          </a:ln>
        </p:spPr>
        <p:txBody>
          <a:bodyPr spcFirstLastPara="1" wrap="square" lIns="91425" tIns="91425" rIns="91425" bIns="91425" anchor="t" anchorCtr="0">
            <a:normAutofit fontScale="47500" lnSpcReduction="20000"/>
          </a:bodyPr>
          <a:lstStyle/>
          <a:p>
            <a:pPr marL="342900" lvl="0" algn="l" rtl="0">
              <a:lnSpc>
                <a:spcPct val="115000"/>
              </a:lnSpc>
              <a:spcBef>
                <a:spcPts val="0"/>
              </a:spcBef>
              <a:spcAft>
                <a:spcPts val="1200"/>
              </a:spcAft>
              <a:buSzPts val="1800"/>
              <a:buAutoNum type="arabicPeriod"/>
            </a:pPr>
            <a:r>
              <a:rPr lang="en-US" sz="2300" b="1" dirty="0"/>
              <a:t>Prioritize high-demand products and peak periods</a:t>
            </a:r>
          </a:p>
          <a:p>
            <a:pPr marL="482600" lvl="1" indent="0">
              <a:spcAft>
                <a:spcPts val="1200"/>
              </a:spcAft>
              <a:buSzPts val="1800"/>
              <a:buNone/>
            </a:pPr>
            <a:r>
              <a:rPr lang="en-US" sz="1800" dirty="0"/>
              <a:t>Focus inventory, staffing, promotions, and menu placement on </a:t>
            </a:r>
            <a:r>
              <a:rPr lang="en-US" sz="1800" b="1" dirty="0"/>
              <a:t>Chicken/Meat pizzas, Friday, 12 PM, and 6 PM</a:t>
            </a:r>
            <a:r>
              <a:rPr lang="en-US" sz="1800" dirty="0"/>
              <a:t>, where demand is strongest.</a:t>
            </a:r>
          </a:p>
          <a:p>
            <a:pPr marL="342900" lvl="0" algn="l" rtl="0">
              <a:lnSpc>
                <a:spcPct val="115000"/>
              </a:lnSpc>
              <a:spcBef>
                <a:spcPts val="0"/>
              </a:spcBef>
              <a:spcAft>
                <a:spcPts val="1200"/>
              </a:spcAft>
              <a:buSzPts val="1800"/>
              <a:buAutoNum type="arabicPeriod"/>
            </a:pPr>
            <a:r>
              <a:rPr lang="en-US" sz="2300" b="1" dirty="0"/>
              <a:t>Increase order volume during weaker periods</a:t>
            </a:r>
          </a:p>
          <a:p>
            <a:pPr marL="482600" lvl="1" indent="0">
              <a:spcAft>
                <a:spcPts val="1200"/>
              </a:spcAft>
              <a:buSzPts val="1800"/>
              <a:buNone/>
            </a:pPr>
            <a:r>
              <a:rPr lang="en-US" sz="1800" dirty="0"/>
              <a:t>Target </a:t>
            </a:r>
            <a:r>
              <a:rPr lang="en-US" sz="1800" b="1" dirty="0"/>
              <a:t>October, Sundays, and off-peak hours</a:t>
            </a:r>
            <a:r>
              <a:rPr lang="en-US" sz="1800" dirty="0"/>
              <a:t> with specific promotions, bundles, and traffic-driving campaigns rather than relying mainly on price increases or upselling.</a:t>
            </a:r>
            <a:endParaRPr lang="en-US" sz="1800" b="1" dirty="0"/>
          </a:p>
          <a:p>
            <a:pPr marL="342900" lvl="0" algn="l" rtl="0">
              <a:lnSpc>
                <a:spcPct val="115000"/>
              </a:lnSpc>
              <a:spcBef>
                <a:spcPts val="0"/>
              </a:spcBef>
              <a:spcAft>
                <a:spcPts val="1200"/>
              </a:spcAft>
              <a:buSzPts val="1800"/>
              <a:buAutoNum type="arabicPeriod"/>
            </a:pPr>
            <a:r>
              <a:rPr lang="en-US" sz="2300" b="1" dirty="0"/>
              <a:t>Maximize </a:t>
            </a:r>
            <a:r>
              <a:rPr lang="en-ID" sz="2300" b="1" dirty="0"/>
              <a:t>high-value sales opportunities</a:t>
            </a:r>
          </a:p>
          <a:p>
            <a:pPr marL="482600" lvl="1" indent="0">
              <a:spcAft>
                <a:spcPts val="1200"/>
              </a:spcAft>
              <a:buSzPts val="1800"/>
              <a:buNone/>
            </a:pPr>
            <a:r>
              <a:rPr lang="en-US" sz="1800" dirty="0"/>
              <a:t>Leverage </a:t>
            </a:r>
            <a:r>
              <a:rPr lang="en-US" sz="1800" b="1" dirty="0"/>
              <a:t>Q4 holiday promotions, premium bundles, and Brie </a:t>
            </a:r>
            <a:r>
              <a:rPr lang="en-US" sz="1800" b="1" dirty="0" err="1"/>
              <a:t>Carré’s</a:t>
            </a:r>
            <a:r>
              <a:rPr lang="en-US" sz="1800" b="1" dirty="0"/>
              <a:t> premium positioning</a:t>
            </a:r>
            <a:r>
              <a:rPr lang="en-US" sz="1800" dirty="0"/>
              <a:t>, while testing modest price increases or premium variants for high-volume products like Pepperoni and Hawaiian.</a:t>
            </a:r>
            <a:endParaRPr lang="en-US" sz="1800" b="1" dirty="0"/>
          </a:p>
          <a:p>
            <a:pPr marL="342900" lvl="0" algn="l" rtl="0">
              <a:lnSpc>
                <a:spcPct val="115000"/>
              </a:lnSpc>
              <a:spcBef>
                <a:spcPts val="0"/>
              </a:spcBef>
              <a:spcAft>
                <a:spcPts val="1200"/>
              </a:spcAft>
              <a:buSzPts val="1800"/>
              <a:buAutoNum type="arabicPeriod"/>
            </a:pPr>
            <a:r>
              <a:rPr lang="en-ID" sz="2300" b="1" dirty="0"/>
              <a:t>Replicate proven performance </a:t>
            </a:r>
          </a:p>
          <a:p>
            <a:pPr marL="482600" lvl="1" indent="0">
              <a:spcAft>
                <a:spcPts val="1200"/>
              </a:spcAft>
              <a:buSzPts val="1800"/>
              <a:buNone/>
            </a:pPr>
            <a:r>
              <a:rPr lang="en-US" sz="1800" dirty="0"/>
              <a:t>Use </a:t>
            </a:r>
            <a:r>
              <a:rPr lang="en-US" sz="1800" b="1" dirty="0"/>
              <a:t>July’s sales patterns and June’s product/pricing mix</a:t>
            </a:r>
            <a:r>
              <a:rPr lang="en-US" sz="1800" dirty="0"/>
              <a:t> as benchmarks, applying successful products, pricing, promotions, and timing to improve weaker months</a:t>
            </a:r>
            <a:endParaRPr lang="en-ID" sz="1800" b="1" dirty="0"/>
          </a:p>
          <a:p>
            <a:pPr marL="342900" lvl="0" algn="l" rtl="0">
              <a:lnSpc>
                <a:spcPct val="115000"/>
              </a:lnSpc>
              <a:spcBef>
                <a:spcPts val="0"/>
              </a:spcBef>
              <a:spcAft>
                <a:spcPts val="1200"/>
              </a:spcAft>
              <a:buSzPts val="1800"/>
              <a:buAutoNum type="arabicPeriod"/>
            </a:pPr>
            <a:r>
              <a:rPr lang="en-ID" sz="2300" b="1" dirty="0"/>
              <a:t>Optimize the menu portfolio using multiple performance metrics</a:t>
            </a:r>
          </a:p>
          <a:p>
            <a:pPr marL="482600" lvl="1" indent="0">
              <a:spcAft>
                <a:spcPts val="1200"/>
              </a:spcAft>
              <a:buSzPts val="1800"/>
              <a:buNone/>
            </a:pPr>
            <a:r>
              <a:rPr lang="en-US" sz="1800" dirty="0"/>
              <a:t>Maintain and expand high-volume/high-revenue products such as </a:t>
            </a:r>
            <a:r>
              <a:rPr lang="en-US" sz="1800" b="1" dirty="0"/>
              <a:t>Thai Chicken, Barbecue Chicken, and Classic Deluxe</a:t>
            </a:r>
            <a:r>
              <a:rPr lang="en-US" sz="1800" dirty="0"/>
              <a:t>, while</a:t>
            </a:r>
            <a:r>
              <a:rPr lang="en-US" sz="1800" b="1" dirty="0"/>
              <a:t> </a:t>
            </a:r>
            <a:r>
              <a:rPr lang="en-US" sz="1800" dirty="0"/>
              <a:t>reviewing vegetable-based and consistently weak pizzas, reducing inventory or promotional investment where appropriate, while testing </a:t>
            </a:r>
            <a:r>
              <a:rPr lang="en-US" sz="1800" b="1" dirty="0"/>
              <a:t>repositioning, bundling, or selective removal</a:t>
            </a:r>
            <a:r>
              <a:rPr lang="en-US" sz="1800" dirty="0"/>
              <a:t> before making final menu decisions.</a:t>
            </a:r>
            <a:endParaRPr lang="en-US" sz="1800" b="1" dirty="0"/>
          </a:p>
        </p:txBody>
      </p:sp>
    </p:spTree>
    <p:extLst>
      <p:ext uri="{BB962C8B-B14F-4D97-AF65-F5344CB8AC3E}">
        <p14:creationId xmlns:p14="http://schemas.microsoft.com/office/powerpoint/2010/main" val="1093871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g3eeb0876f63_0_97"/>
          <p:cNvSpPr txBox="1">
            <a:spLocks noGrp="1"/>
          </p:cNvSpPr>
          <p:nvPr>
            <p:ph type="title"/>
          </p:nvPr>
        </p:nvSpPr>
        <p:spPr>
          <a:xfrm>
            <a:off x="1080000" y="-180029"/>
            <a:ext cx="6984000" cy="841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200"/>
              <a:buNone/>
            </a:pPr>
            <a:r>
              <a:rPr lang="en" sz="2500" dirty="0"/>
              <a:t>Interactive Dashboard</a:t>
            </a:r>
            <a:endParaRPr sz="2500" dirty="0"/>
          </a:p>
        </p:txBody>
      </p:sp>
      <p:sp>
        <p:nvSpPr>
          <p:cNvPr id="134" name="Google Shape;134;g3eeb0876f63_0_97"/>
          <p:cNvSpPr txBox="1">
            <a:spLocks noGrp="1"/>
          </p:cNvSpPr>
          <p:nvPr>
            <p:ph type="body" idx="4294967295"/>
          </p:nvPr>
        </p:nvSpPr>
        <p:spPr>
          <a:xfrm>
            <a:off x="873579" y="3865934"/>
            <a:ext cx="7644732" cy="555600"/>
          </a:xfrm>
          <a:prstGeom prst="rect">
            <a:avLst/>
          </a:prstGeom>
          <a:noFill/>
          <a:ln>
            <a:noFill/>
          </a:ln>
        </p:spPr>
        <p:txBody>
          <a:bodyPr spcFirstLastPara="1" wrap="square" lIns="77875" tIns="77875" rIns="77875" bIns="77875" anchor="t" anchorCtr="0">
            <a:noAutofit/>
          </a:bodyPr>
          <a:lstStyle/>
          <a:p>
            <a:pPr marL="0" lvl="0" indent="0" algn="just" rtl="0">
              <a:lnSpc>
                <a:spcPct val="115000"/>
              </a:lnSpc>
              <a:spcBef>
                <a:spcPts val="0"/>
              </a:spcBef>
              <a:spcAft>
                <a:spcPts val="1022"/>
              </a:spcAft>
              <a:buSzPts val="1533"/>
              <a:buNone/>
            </a:pPr>
            <a:r>
              <a:rPr lang="en" sz="1100" dirty="0">
                <a:solidFill>
                  <a:schemeClr val="lt1"/>
                </a:solidFill>
              </a:rPr>
              <a:t>Interactive dashboard allows stakeholder to find out the sales performance by revenue, orders volume, pizza sold quantities, and AOV. The dashboard also allows to filter segments by category and size bracket using dynamic slicers. Link Source: </a:t>
            </a:r>
            <a:endParaRPr sz="1100" dirty="0">
              <a:solidFill>
                <a:schemeClr val="lt1"/>
              </a:solidFill>
            </a:endParaRPr>
          </a:p>
        </p:txBody>
      </p:sp>
      <p:pic>
        <p:nvPicPr>
          <p:cNvPr id="3" name="Picture 2">
            <a:extLst>
              <a:ext uri="{FF2B5EF4-FFF2-40B4-BE49-F238E27FC236}">
                <a16:creationId xmlns:a16="http://schemas.microsoft.com/office/drawing/2014/main" id="{5DEB23C1-C79C-89DE-059B-DF9700535B47}"/>
              </a:ext>
            </a:extLst>
          </p:cNvPr>
          <p:cNvPicPr>
            <a:picLocks noChangeAspect="1"/>
          </p:cNvPicPr>
          <p:nvPr/>
        </p:nvPicPr>
        <p:blipFill>
          <a:blip r:embed="rId3"/>
          <a:stretch>
            <a:fillRect/>
          </a:stretch>
        </p:blipFill>
        <p:spPr>
          <a:xfrm>
            <a:off x="478736" y="449351"/>
            <a:ext cx="8039575" cy="344924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2" name="TextBox 1">
            <a:extLst>
              <a:ext uri="{FF2B5EF4-FFF2-40B4-BE49-F238E27FC236}">
                <a16:creationId xmlns:a16="http://schemas.microsoft.com/office/drawing/2014/main" id="{9C55A28A-0B5D-62F1-CC24-4026568831E1}"/>
              </a:ext>
            </a:extLst>
          </p:cNvPr>
          <p:cNvSpPr txBox="1"/>
          <p:nvPr/>
        </p:nvSpPr>
        <p:spPr>
          <a:xfrm>
            <a:off x="865414" y="1159329"/>
            <a:ext cx="4612822" cy="1994392"/>
          </a:xfrm>
          <a:prstGeom prst="rect">
            <a:avLst/>
          </a:prstGeom>
          <a:noFill/>
        </p:spPr>
        <p:txBody>
          <a:bodyPr wrap="square" rtlCol="0">
            <a:spAutoFit/>
          </a:bodyPr>
          <a:lstStyle/>
          <a:p>
            <a:pPr algn="ctr"/>
            <a:r>
              <a:rPr lang="en-US" sz="4120" b="1" dirty="0">
                <a:solidFill>
                  <a:srgbClr val="52AA5E"/>
                </a:solidFill>
                <a:latin typeface="Algerian" panose="04020705040A02060702" pitchFamily="82" charset="0"/>
                <a:cs typeface="Poppins"/>
                <a:sym typeface="Poppins"/>
              </a:rPr>
              <a:t>TERIMA</a:t>
            </a:r>
            <a:r>
              <a:rPr lang="en-US" dirty="0">
                <a:solidFill>
                  <a:srgbClr val="00B050"/>
                </a:solidFill>
                <a:latin typeface="Algerian" panose="04020705040A02060702" pitchFamily="82" charset="0"/>
              </a:rPr>
              <a:t> </a:t>
            </a:r>
            <a:r>
              <a:rPr lang="en-US" sz="4120" b="1" dirty="0">
                <a:solidFill>
                  <a:srgbClr val="52AA5E"/>
                </a:solidFill>
                <a:latin typeface="Algerian" panose="04020705040A02060702" pitchFamily="82" charset="0"/>
                <a:cs typeface="Poppins"/>
                <a:sym typeface="Poppins"/>
              </a:rPr>
              <a:t>KASIH</a:t>
            </a:r>
          </a:p>
          <a:p>
            <a:pPr algn="ctr"/>
            <a:endParaRPr lang="en-ID" sz="4120" b="1" dirty="0">
              <a:solidFill>
                <a:srgbClr val="52AA5E"/>
              </a:solidFill>
              <a:latin typeface="Palatino Linotype" panose="02040502050505030304" pitchFamily="18" charset="0"/>
              <a:cs typeface="Poppins"/>
              <a:sym typeface="Poppins"/>
            </a:endParaRPr>
          </a:p>
          <a:p>
            <a:pPr algn="ctr"/>
            <a:r>
              <a:rPr lang="zh-CN" altLang="en-US" sz="4120" b="1" dirty="0">
                <a:solidFill>
                  <a:srgbClr val="52AA5E"/>
                </a:solidFill>
                <a:latin typeface="Algerian" panose="04020705040A02060702" pitchFamily="82" charset="0"/>
                <a:cs typeface="Poppins"/>
                <a:sym typeface="Poppins"/>
              </a:rPr>
              <a:t>谢谢</a:t>
            </a:r>
            <a:endParaRPr lang="en-ID" sz="4120" b="1" dirty="0">
              <a:solidFill>
                <a:srgbClr val="52AA5E"/>
              </a:solidFill>
              <a:latin typeface="Algerian" panose="04020705040A02060702" pitchFamily="82" charset="0"/>
              <a:cs typeface="Poppins"/>
              <a:sym typeface="Poppins"/>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796</TotalTime>
  <Words>1977</Words>
  <Application>Microsoft Office PowerPoint</Application>
  <PresentationFormat>On-screen Show (16:9)</PresentationFormat>
  <Paragraphs>263</Paragraphs>
  <Slides>18</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Courier New</vt:lpstr>
      <vt:lpstr>Poppins SemiBold</vt:lpstr>
      <vt:lpstr>Arial</vt:lpstr>
      <vt:lpstr>Wingdings</vt:lpstr>
      <vt:lpstr>Algerian</vt:lpstr>
      <vt:lpstr>Poppins</vt:lpstr>
      <vt:lpstr>Poppins Light</vt:lpstr>
      <vt:lpstr>Palatino Linotype</vt:lpstr>
      <vt:lpstr>Simple Light</vt:lpstr>
      <vt:lpstr>PowerPoint Presentation</vt:lpstr>
      <vt:lpstr>Executive Project Summary</vt:lpstr>
      <vt:lpstr>Intro to Data and its Model Relationship</vt:lpstr>
      <vt:lpstr>KPI Metrics</vt:lpstr>
      <vt:lpstr>Key Findings</vt:lpstr>
      <vt:lpstr>Monthly Performances</vt:lpstr>
      <vt:lpstr>Monthly Performances – Key Insights</vt:lpstr>
      <vt:lpstr>Daily Performances</vt:lpstr>
      <vt:lpstr>Daily Performances – Key Insights</vt:lpstr>
      <vt:lpstr>Hourly Performances</vt:lpstr>
      <vt:lpstr>Hourly Performances – Key Insights</vt:lpstr>
      <vt:lpstr>Top 5 Pizza Performance</vt:lpstr>
      <vt:lpstr>Top 5 Pizza Performance – Key Insights</vt:lpstr>
      <vt:lpstr>Bottom 5 Pizza Performance</vt:lpstr>
      <vt:lpstr>Bottom 5 Pizza Performance – Key Insights</vt:lpstr>
      <vt:lpstr>Business Recommendations</vt:lpstr>
      <vt:lpstr>Interactive Dashboard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Vincent Colin Tionando</cp:lastModifiedBy>
  <cp:revision>17</cp:revision>
  <dcterms:modified xsi:type="dcterms:W3CDTF">2026-10-08T05:04:47Z</dcterms:modified>
</cp:coreProperties>
</file>