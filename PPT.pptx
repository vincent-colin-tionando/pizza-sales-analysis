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0"/>
  </p:notesMasterIdLst>
  <p:sldIdLst>
    <p:sldId id="256" r:id="rId2"/>
    <p:sldId id="257" r:id="rId3"/>
    <p:sldId id="263" r:id="rId4"/>
    <p:sldId id="261" r:id="rId5"/>
    <p:sldId id="259" r:id="rId6"/>
    <p:sldId id="258" r:id="rId7"/>
    <p:sldId id="264" r:id="rId8"/>
    <p:sldId id="265" r:id="rId9"/>
    <p:sldId id="267" r:id="rId10"/>
    <p:sldId id="266" r:id="rId11"/>
    <p:sldId id="268" r:id="rId12"/>
    <p:sldId id="269" r:id="rId13"/>
    <p:sldId id="270" r:id="rId14"/>
    <p:sldId id="271" r:id="rId15"/>
    <p:sldId id="272" r:id="rId16"/>
    <p:sldId id="273" r:id="rId17"/>
    <p:sldId id="274" r:id="rId18"/>
    <p:sldId id="260" r:id="rId19"/>
  </p:sldIdLst>
  <p:sldSz cx="9144000" cy="5143500" type="screen16x9"/>
  <p:notesSz cx="6858000" cy="9144000"/>
  <p:embeddedFontLst>
    <p:embeddedFont>
      <p:font typeface="Algerian" panose="04020705040A02060702" pitchFamily="82" charset="0"/>
      <p:regular r:id="rId21"/>
    </p:embeddedFont>
    <p:embeddedFont>
      <p:font typeface="Palatino Linotype" panose="02040502050505030304" pitchFamily="18" charset="0"/>
      <p:regular r:id="rId22"/>
      <p:bold r:id="rId23"/>
      <p:italic r:id="rId24"/>
      <p:boldItalic r:id="rId25"/>
    </p:embeddedFont>
    <p:embeddedFont>
      <p:font typeface="Poppins" panose="00000500000000000000" pitchFamily="2" charset="0"/>
      <p:regular r:id="rId26"/>
      <p:bold r:id="rId27"/>
      <p:italic r:id="rId28"/>
      <p:boldItalic r:id="rId29"/>
    </p:embeddedFont>
    <p:embeddedFont>
      <p:font typeface="Poppins Light" panose="00000400000000000000" pitchFamily="2" charset="0"/>
      <p:regular r:id="rId30"/>
      <p:bold r:id="rId31"/>
      <p:italic r:id="rId32"/>
      <p:boldItalic r:id="rId33"/>
    </p:embeddedFont>
    <p:embeddedFont>
      <p:font typeface="Poppins SemiBold" panose="00000700000000000000"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8" roundtripDataSignature="AMtx7mjVdrDcdfEWB3ZzYMVTF/2iD1Dk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5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9" Type="http://schemas.openxmlformats.org/officeDocument/2006/relationships/presProps" Target="presProps.xml"/><Relationship Id="rId21" Type="http://schemas.openxmlformats.org/officeDocument/2006/relationships/font" Target="fonts/font1.fntdata"/><Relationship Id="rId34" Type="http://schemas.openxmlformats.org/officeDocument/2006/relationships/font" Target="fonts/font14.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font" Target="fonts/font17.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font" Target="fonts/font1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font" Target="fonts/font1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38" Type="http://customschemas.google.com/relationships/presentationmetadata" Target="metadata"/></Relationships>
</file>

<file path=ppt/charts/_rels/chart1.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Asus\Downloads\Pizza+Place+Sales\Project-EXC%2025-Vincent.xlsx" TargetMode="External"/><Relationship Id="rId2" Type="http://schemas.microsoft.com/office/2011/relationships/chartColorStyle" Target="colors58.xml"/><Relationship Id="rId1" Type="http://schemas.microsoft.com/office/2011/relationships/chartStyle" Target="style5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22"/>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800" b="0" i="0" u="none" strike="noStrike" kern="1200" baseline="0">
                        <a:solidFill>
                          <a:srgbClr val="C00000"/>
                        </a:solidFill>
                        <a:latin typeface="+mn-lt"/>
                        <a:ea typeface="+mn-ea"/>
                        <a:cs typeface="+mn-cs"/>
                      </a:defRPr>
                    </a:pPr>
                    <a:fld id="{C0FB1BDB-EAFF-4CA8-9A82-25D53D46C7BC}" type="CATEGORYNAME">
                      <a:rPr lang="en-US" sz="800">
                        <a:solidFill>
                          <a:srgbClr val="C00000"/>
                        </a:solidFill>
                      </a:rPr>
                      <a:pPr>
                        <a:defRPr sz="800">
                          <a:solidFill>
                            <a:srgbClr val="C00000"/>
                          </a:solidFill>
                        </a:defRPr>
                      </a:pPr>
                      <a:t>[CATEGORY NAME]</a:t>
                    </a:fld>
                    <a:r>
                      <a:rPr lang="en-US" sz="800" baseline="0">
                        <a:solidFill>
                          <a:srgbClr val="C00000"/>
                        </a:solidFill>
                      </a:rPr>
                      <a:t>, </a:t>
                    </a:r>
                    <a:fld id="{53BCD553-8C53-454B-865C-3FB106B46615}" type="VALUE">
                      <a:rPr lang="en-US" sz="800" baseline="0">
                        <a:solidFill>
                          <a:srgbClr val="C00000"/>
                        </a:solidFill>
                      </a:rPr>
                      <a:pPr>
                        <a:defRPr sz="800">
                          <a:solidFill>
                            <a:srgbClr val="C00000"/>
                          </a:solidFill>
                        </a:defRPr>
                      </a:pPr>
                      <a:t>[VALUE]</a:t>
                    </a:fld>
                    <a:endParaRPr lang="en-US" sz="800" baseline="0">
                      <a:solidFill>
                        <a:srgbClr val="C00000"/>
                      </a:solidFill>
                    </a:endParaRPr>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8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800" b="0" i="0" u="none" strike="noStrike" kern="1200" baseline="0">
                        <a:solidFill>
                          <a:srgbClr val="C00000"/>
                        </a:solidFill>
                        <a:latin typeface="+mn-lt"/>
                        <a:ea typeface="+mn-ea"/>
                        <a:cs typeface="+mn-cs"/>
                      </a:defRPr>
                    </a:pPr>
                    <a:fld id="{C31DC01A-1C53-400B-A8DE-4D5D18A097DE}" type="CATEGORYNAME">
                      <a:rPr lang="en-US" sz="800" b="0" i="0" u="none" strike="noStrike" kern="1200" baseline="0">
                        <a:solidFill>
                          <a:srgbClr val="C00000"/>
                        </a:solidFill>
                        <a:latin typeface="+mn-lt"/>
                        <a:ea typeface="+mn-ea"/>
                        <a:cs typeface="+mn-cs"/>
                      </a:rPr>
                      <a:pPr algn="ctr" rtl="0">
                        <a:defRPr lang="en-US" sz="800">
                          <a:solidFill>
                            <a:srgbClr val="C00000"/>
                          </a:solidFill>
                        </a:defRPr>
                      </a:pPr>
                      <a:t>[CATEGORY NAME]</a:t>
                    </a:fld>
                    <a:r>
                      <a:rPr lang="en-US" sz="800" b="0" i="0" u="none" strike="noStrike" kern="1200" baseline="0">
                        <a:solidFill>
                          <a:srgbClr val="C00000"/>
                        </a:solidFill>
                        <a:latin typeface="+mn-lt"/>
                        <a:ea typeface="+mn-ea"/>
                        <a:cs typeface="+mn-cs"/>
                      </a:rPr>
                      <a:t>, </a:t>
                    </a:r>
                    <a:fld id="{FD29F36C-5511-466B-952F-510E897A0614}" type="VALUE">
                      <a:rPr lang="en-US" sz="800" b="0" i="0" u="none" strike="noStrike" kern="1200" baseline="0">
                        <a:solidFill>
                          <a:srgbClr val="C00000"/>
                        </a:solidFill>
                        <a:latin typeface="+mn-lt"/>
                        <a:ea typeface="+mn-ea"/>
                        <a:cs typeface="+mn-cs"/>
                      </a:rPr>
                      <a:pPr algn="ctr" rtl="0">
                        <a:defRPr lang="en-US" sz="800">
                          <a:solidFill>
                            <a:srgbClr val="C00000"/>
                          </a:solidFill>
                        </a:defRPr>
                      </a:pPr>
                      <a:t>[VALUE]</a:t>
                    </a:fld>
                    <a:endParaRPr lang="en-US" sz="800" b="0" i="0" u="none" strike="noStrike" kern="1200" baseline="0">
                      <a:solidFill>
                        <a:srgbClr val="C00000"/>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8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25-Vincent.xlsx]Pivot_Table_Orders!PivotTable2</c:name>
    <c:fmtId val="47"/>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Orders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Pivot_Table_Orders!$B$6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5531-4238-884D-237060372F7F}"/>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5531-4238-884D-237060372F7F}"/>
              </c:ext>
            </c:extLst>
          </c:dPt>
          <c:dLbls>
            <c:dLbl>
              <c:idx val="6"/>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0">
                  <a:spAutoFit/>
                </a:bodyPr>
                <a:lstStyle/>
                <a:p>
                  <a:pPr algn="ctr">
                    <a:defRPr lang="en-US" sz="9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5531-4238-884D-237060372F7F}"/>
                </c:ext>
              </c:extLst>
            </c:dLbl>
            <c:dLbl>
              <c:idx val="9"/>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0">
                  <a:spAutoFit/>
                </a:bodyPr>
                <a:lstStyle/>
                <a:p>
                  <a:pPr algn="ctr">
                    <a:defRPr lang="en-US" sz="9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5531-4238-884D-237060372F7F}"/>
                </c:ext>
              </c:extLst>
            </c:dLbl>
            <c:spPr>
              <a:noFill/>
              <a:ln>
                <a:noFill/>
              </a:ln>
              <a:effectLst/>
            </c:spPr>
            <c:txPr>
              <a:bodyPr rot="0" spcFirstLastPara="1" vertOverflow="ellipsis" vert="horz" wrap="square" lIns="38100" tIns="19050" rIns="38100" bIns="19050" anchor="ctr" anchorCtr="0">
                <a:spAutoFit/>
              </a:bodyPr>
              <a:lstStyle/>
              <a:p>
                <a:pPr algn="ctr">
                  <a:defRPr lang="en-US" sz="9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Pivot_Table_Orders!$A$7:$A$19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Pivot_Table_Orders!$B$7:$B$19</c:f>
              <c:numCache>
                <c:formatCode>_(* #,##0_);_(* \(#,##0\);_(* "-"??_);_(@_)</c:formatCode>
                <c:ptCount val="12"/>
                <c:pt idx="0">
                  <c:v>1845</c:v>
                </c:pt>
                <c:pt idx="1">
                  <c:v>1685</c:v>
                </c:pt>
                <c:pt idx="2">
                  <c:v>1840</c:v>
                </c:pt>
                <c:pt idx="3">
                  <c:v>1799</c:v>
                </c:pt>
                <c:pt idx="4">
                  <c:v>1853</c:v>
                </c:pt>
                <c:pt idx="5">
                  <c:v>1773</c:v>
                </c:pt>
                <c:pt idx="6">
                  <c:v>1935</c:v>
                </c:pt>
                <c:pt idx="7">
                  <c:v>1841</c:v>
                </c:pt>
                <c:pt idx="8">
                  <c:v>1661</c:v>
                </c:pt>
                <c:pt idx="9">
                  <c:v>1646</c:v>
                </c:pt>
                <c:pt idx="10">
                  <c:v>1792</c:v>
                </c:pt>
                <c:pt idx="11">
                  <c:v>1680</c:v>
                </c:pt>
              </c:numCache>
            </c:numRef>
          </c:val>
          <c:smooth val="1"/>
          <c:extLst>
            <c:ext xmlns:c16="http://schemas.microsoft.com/office/drawing/2014/chart" uri="{C3380CC4-5D6E-409C-BE32-E72D297353CC}">
              <c16:uniqueId val="{00000002-5531-4238-884D-237060372F7F}"/>
            </c:ext>
          </c:extLst>
        </c:ser>
        <c:dLbls>
          <c:showLegendKey val="0"/>
          <c:showVal val="0"/>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 #,##0_);_(* \(#,##0\);_(*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25-Vincent.xlsx]Pivot_Table_Quantities!PivotTable2</c:name>
    <c:fmtId val="66"/>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Quantities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Pivot_Table_Quantities!$B$6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8645-4AF1-B699-F1656AF63C79}"/>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8645-4AF1-B699-F1656AF63C79}"/>
              </c:ext>
            </c:extLst>
          </c:dPt>
          <c:dLbls>
            <c:dLbl>
              <c:idx val="6"/>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8645-4AF1-B699-F1656AF63C79}"/>
                </c:ext>
              </c:extLst>
            </c:dLbl>
            <c:dLbl>
              <c:idx val="9"/>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8645-4AF1-B699-F1656AF63C79}"/>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Pivot_Table_Quantities!$A$7:$A$19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Pivot_Table_Quantities!$B$7:$B$19</c:f>
              <c:numCache>
                <c:formatCode>_(* #,##0_);_(* \(#,##0\);_(* "-"??_);_(@_)</c:formatCode>
                <c:ptCount val="12"/>
                <c:pt idx="0">
                  <c:v>4232</c:v>
                </c:pt>
                <c:pt idx="1">
                  <c:v>3961</c:v>
                </c:pt>
                <c:pt idx="2">
                  <c:v>4261</c:v>
                </c:pt>
                <c:pt idx="3">
                  <c:v>4151</c:v>
                </c:pt>
                <c:pt idx="4">
                  <c:v>4328</c:v>
                </c:pt>
                <c:pt idx="5">
                  <c:v>4107</c:v>
                </c:pt>
                <c:pt idx="6">
                  <c:v>4392</c:v>
                </c:pt>
                <c:pt idx="7">
                  <c:v>4168</c:v>
                </c:pt>
                <c:pt idx="8">
                  <c:v>3890</c:v>
                </c:pt>
                <c:pt idx="9">
                  <c:v>3883</c:v>
                </c:pt>
                <c:pt idx="10">
                  <c:v>4266</c:v>
                </c:pt>
                <c:pt idx="11">
                  <c:v>3935</c:v>
                </c:pt>
              </c:numCache>
            </c:numRef>
          </c:val>
          <c:smooth val="1"/>
          <c:extLst>
            <c:ext xmlns:c16="http://schemas.microsoft.com/office/drawing/2014/chart" uri="{C3380CC4-5D6E-409C-BE32-E72D297353CC}">
              <c16:uniqueId val="{00000002-8645-4AF1-B699-F1656AF63C7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 #,##0_);_(* \(#,##0\);_(*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25-Vincent.xlsx]Pivot_Table_AOV!PivotTable2</c:name>
    <c:fmtId val="78"/>
  </c:pivotSource>
  <c:chart>
    <c:title>
      <c:tx>
        <c:rich>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r>
              <a:rPr lang="en-US" sz="1100" b="1">
                <a:solidFill>
                  <a:srgbClr val="FFFF00"/>
                </a:solidFill>
              </a:rPr>
              <a:t>Monthly AOV and Revenue per Pizza</a:t>
            </a:r>
          </a:p>
        </c:rich>
      </c:tx>
      <c:overlay val="0"/>
      <c:spPr>
        <a:noFill/>
        <a:ln>
          <a:noFill/>
        </a:ln>
        <a:effectLst/>
      </c:spPr>
      <c:txPr>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Pivot_Table_AOV!$C$6</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Pivot_Table_AOV!$C$7:$C$19</c:f>
              <c:numCache>
                <c:formatCode>_("$"* #,##0.00_);_("$"* \(#,##0.00\);_("$"* "-"??_);_(@_)</c:formatCode>
                <c:ptCount val="12"/>
                <c:pt idx="0">
                  <c:v>16.491800567107742</c:v>
                </c:pt>
                <c:pt idx="1">
                  <c:v>16.450290330724563</c:v>
                </c:pt>
                <c:pt idx="2">
                  <c:v>16.521262614409757</c:v>
                </c:pt>
                <c:pt idx="3">
                  <c:v>16.559094194170068</c:v>
                </c:pt>
                <c:pt idx="4">
                  <c:v>16.497862754158962</c:v>
                </c:pt>
                <c:pt idx="5">
                  <c:v>16.61314828341855</c:v>
                </c:pt>
                <c:pt idx="6">
                  <c:v>16.520469034608379</c:v>
                </c:pt>
                <c:pt idx="7">
                  <c:v>16.381537907869479</c:v>
                </c:pt>
                <c:pt idx="8">
                  <c:v>16.498727506426736</c:v>
                </c:pt>
                <c:pt idx="9">
                  <c:v>16.489209374195212</c:v>
                </c:pt>
                <c:pt idx="10">
                  <c:v>16.501488513830282</c:v>
                </c:pt>
                <c:pt idx="11">
                  <c:v>16.442477763659468</c:v>
                </c:pt>
              </c:numCache>
            </c:numRef>
          </c:val>
          <c:smooth val="1"/>
          <c:extLst>
            <c:ext xmlns:c16="http://schemas.microsoft.com/office/drawing/2014/chart" uri="{C3380CC4-5D6E-409C-BE32-E72D297353CC}">
              <c16:uniqueId val="{00000000-F5F6-4496-B275-7466C6284DD3}"/>
            </c:ext>
          </c:extLst>
        </c:ser>
        <c:dLbls>
          <c:showLegendKey val="0"/>
          <c:showVal val="0"/>
          <c:showCatName val="0"/>
          <c:showSerName val="0"/>
          <c:showPercent val="0"/>
          <c:showBubbleSize val="0"/>
        </c:dLbls>
        <c:marker val="1"/>
        <c:smooth val="0"/>
        <c:axId val="1479393343"/>
        <c:axId val="1479393823"/>
      </c:lineChart>
      <c:lineChart>
        <c:grouping val="standard"/>
        <c:varyColors val="0"/>
        <c:ser>
          <c:idx val="0"/>
          <c:order val="0"/>
          <c:tx>
            <c:strRef>
              <c:f>Pivot_Table_AOV!$B$6</c:f>
              <c:strCache>
                <c:ptCount val="1"/>
                <c:pt idx="0">
                  <c:v>Revenue per Order (AOV)</c:v>
                </c:pt>
              </c:strCache>
            </c:strRef>
          </c:tx>
          <c:spPr>
            <a:ln w="28575" cap="rnd">
              <a:solidFill>
                <a:schemeClr val="accent1"/>
              </a:solidFill>
              <a:round/>
            </a:ln>
            <a:effectLst/>
          </c:spPr>
          <c:marker>
            <c:symbol val="square"/>
            <c:size val="5"/>
            <c:spPr>
              <a:solidFill>
                <a:srgbClr val="C00000"/>
              </a:solidFill>
              <a:ln w="9525">
                <a:solidFill>
                  <a:schemeClr val="accent1"/>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Pivot_Table_AOV!$B$7:$B$19</c:f>
              <c:numCache>
                <c:formatCode>_("$"* #,##0.00_);_("$"* \(#,##0.00\);_("$"* "-"??_);_(@_)</c:formatCode>
                <c:ptCount val="12"/>
                <c:pt idx="0">
                  <c:v>37.828346883468811</c:v>
                </c:pt>
                <c:pt idx="1">
                  <c:v>38.670385756676559</c:v>
                </c:pt>
                <c:pt idx="2">
                  <c:v>38.259293478260858</c:v>
                </c:pt>
                <c:pt idx="3">
                  <c:v>38.208337965536387</c:v>
                </c:pt>
                <c:pt idx="4">
                  <c:v>38.533594171613593</c:v>
                </c:pt>
                <c:pt idx="5">
                  <c:v>38.482910321488994</c:v>
                </c:pt>
                <c:pt idx="6">
                  <c:v>37.497622739018084</c:v>
                </c:pt>
                <c:pt idx="7">
                  <c:v>37.087588267246055</c:v>
                </c:pt>
                <c:pt idx="8">
                  <c:v>38.639403973509935</c:v>
                </c:pt>
                <c:pt idx="9">
                  <c:v>38.898906439854194</c:v>
                </c:pt>
                <c:pt idx="10">
                  <c:v>39.283119419642844</c:v>
                </c:pt>
                <c:pt idx="11">
                  <c:v>38.512589285714284</c:v>
                </c:pt>
              </c:numCache>
            </c:numRef>
          </c:val>
          <c:smooth val="1"/>
          <c:extLst>
            <c:ext xmlns:c16="http://schemas.microsoft.com/office/drawing/2014/chart" uri="{C3380CC4-5D6E-409C-BE32-E72D297353CC}">
              <c16:uniqueId val="{00000001-F5F6-4496-B275-7466C6284DD3}"/>
            </c:ext>
          </c:extLst>
        </c:ser>
        <c:dLbls>
          <c:showLegendKey val="0"/>
          <c:showVal val="0"/>
          <c:showCatName val="0"/>
          <c:showSerName val="0"/>
          <c:showPercent val="0"/>
          <c:showBubbleSize val="0"/>
        </c:dLbls>
        <c:marker val="1"/>
        <c:smooth val="0"/>
        <c:axId val="981756559"/>
        <c:axId val="981745039"/>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valAx>
        <c:axId val="981745039"/>
        <c:scaling>
          <c:orientation val="minMax"/>
        </c:scaling>
        <c:delete val="0"/>
        <c:axPos val="r"/>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2"/>
                </a:solidFill>
                <a:latin typeface="+mn-lt"/>
                <a:ea typeface="+mn-ea"/>
                <a:cs typeface="+mn-cs"/>
              </a:defRPr>
            </a:pPr>
            <a:endParaRPr lang="en-US"/>
          </a:p>
        </c:txPr>
        <c:crossAx val="981756559"/>
        <c:crosses val="max"/>
        <c:crossBetween val="between"/>
      </c:valAx>
      <c:catAx>
        <c:axId val="981756559"/>
        <c:scaling>
          <c:orientation val="minMax"/>
        </c:scaling>
        <c:delete val="1"/>
        <c:axPos val="b"/>
        <c:numFmt formatCode="General" sourceLinked="1"/>
        <c:majorTickMark val="out"/>
        <c:minorTickMark val="none"/>
        <c:tickLblPos val="nextTo"/>
        <c:crossAx val="98174503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22"/>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25-Vincent.xlsx]Pivot_Table_Orders!PivotTable2</c:name>
    <c:fmtId val="47"/>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Orders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Pivot_Table_Orders!$B$6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5531-4238-884D-237060372F7F}"/>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5531-4238-884D-237060372F7F}"/>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5531-4238-884D-237060372F7F}"/>
                </c:ext>
              </c:extLst>
            </c:dLbl>
            <c:dLbl>
              <c:idx val="9"/>
              <c:layout>
                <c:manualLayout>
                  <c:x val="-0.30247913840010687"/>
                  <c:y val="0.1140224960733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16435468964872041"/>
                      <c:h val="0.29227572847119015"/>
                    </c:manualLayout>
                  </c15:layout>
                </c:ext>
                <c:ext xmlns:c16="http://schemas.microsoft.com/office/drawing/2014/chart" uri="{C3380CC4-5D6E-409C-BE32-E72D297353CC}">
                  <c16:uniqueId val="{00000001-5531-4238-884D-237060372F7F}"/>
                </c:ext>
              </c:extLst>
            </c:dLbl>
            <c:spPr>
              <a:solidFill>
                <a:srgbClr val="C00000"/>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Pivot_Table_Orders!$A$7:$A$19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Pivot_Table_Orders!$B$7:$B$19</c:f>
              <c:numCache>
                <c:formatCode>_(* #,##0_);_(* \(#,##0\);_(* "-"??_);_(@_)</c:formatCode>
                <c:ptCount val="12"/>
                <c:pt idx="0">
                  <c:v>1845</c:v>
                </c:pt>
                <c:pt idx="1">
                  <c:v>1685</c:v>
                </c:pt>
                <c:pt idx="2">
                  <c:v>1840</c:v>
                </c:pt>
                <c:pt idx="3">
                  <c:v>1799</c:v>
                </c:pt>
                <c:pt idx="4">
                  <c:v>1853</c:v>
                </c:pt>
                <c:pt idx="5">
                  <c:v>1773</c:v>
                </c:pt>
                <c:pt idx="6">
                  <c:v>1935</c:v>
                </c:pt>
                <c:pt idx="7">
                  <c:v>1841</c:v>
                </c:pt>
                <c:pt idx="8">
                  <c:v>1661</c:v>
                </c:pt>
                <c:pt idx="9">
                  <c:v>1646</c:v>
                </c:pt>
                <c:pt idx="10">
                  <c:v>1792</c:v>
                </c:pt>
                <c:pt idx="11">
                  <c:v>1680</c:v>
                </c:pt>
              </c:numCache>
            </c:numRef>
          </c:val>
          <c:smooth val="1"/>
          <c:extLst>
            <c:ext xmlns:c16="http://schemas.microsoft.com/office/drawing/2014/chart" uri="{C3380CC4-5D6E-409C-BE32-E72D297353CC}">
              <c16:uniqueId val="{00000002-5531-4238-884D-237060372F7F}"/>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25-Vincent.xlsx]Pivot_Table_Quantities!PivotTable2</c:name>
    <c:fmtId val="66"/>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Quantities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Pivot_Table_Quantities!$B$6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8645-4AF1-B699-F1656AF63C79}"/>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8645-4AF1-B699-F1656AF63C79}"/>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8645-4AF1-B699-F1656AF63C79}"/>
                </c:ext>
              </c:extLst>
            </c:dLbl>
            <c:dLbl>
              <c:idx val="9"/>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8645-4AF1-B699-F1656AF63C79}"/>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Pivot_Table_Quantities!$A$7:$A$19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Pivot_Table_Quantities!$B$7:$B$19</c:f>
              <c:numCache>
                <c:formatCode>_(* #,##0_);_(* \(#,##0\);_(* "-"??_);_(@_)</c:formatCode>
                <c:ptCount val="12"/>
                <c:pt idx="0">
                  <c:v>4232</c:v>
                </c:pt>
                <c:pt idx="1">
                  <c:v>3961</c:v>
                </c:pt>
                <c:pt idx="2">
                  <c:v>4261</c:v>
                </c:pt>
                <c:pt idx="3">
                  <c:v>4151</c:v>
                </c:pt>
                <c:pt idx="4">
                  <c:v>4328</c:v>
                </c:pt>
                <c:pt idx="5">
                  <c:v>4107</c:v>
                </c:pt>
                <c:pt idx="6">
                  <c:v>4392</c:v>
                </c:pt>
                <c:pt idx="7">
                  <c:v>4168</c:v>
                </c:pt>
                <c:pt idx="8">
                  <c:v>3890</c:v>
                </c:pt>
                <c:pt idx="9">
                  <c:v>3883</c:v>
                </c:pt>
                <c:pt idx="10">
                  <c:v>4266</c:v>
                </c:pt>
                <c:pt idx="11">
                  <c:v>3935</c:v>
                </c:pt>
              </c:numCache>
            </c:numRef>
          </c:val>
          <c:smooth val="1"/>
          <c:extLst>
            <c:ext xmlns:c16="http://schemas.microsoft.com/office/drawing/2014/chart" uri="{C3380CC4-5D6E-409C-BE32-E72D297353CC}">
              <c16:uniqueId val="{00000002-8645-4AF1-B699-F1656AF63C7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25-Vincent.xlsx]Pivot_Table_AOV!PivotTable2</c:name>
    <c:fmtId val="78"/>
  </c:pivotSource>
  <c:chart>
    <c:title>
      <c:tx>
        <c:rich>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r>
              <a:rPr lang="en-US" sz="1100" b="1">
                <a:solidFill>
                  <a:srgbClr val="FFFF00"/>
                </a:solidFill>
              </a:rPr>
              <a:t>Monthly AOV and Revenue per Pizza</a:t>
            </a:r>
          </a:p>
        </c:rich>
      </c:tx>
      <c:overlay val="0"/>
      <c:spPr>
        <a:noFill/>
        <a:ln>
          <a:noFill/>
        </a:ln>
        <a:effectLst/>
      </c:spPr>
      <c:txPr>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Pivot_Table_AOV!$C$6</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Pivot_Table_AOV!$C$7:$C$19</c:f>
              <c:numCache>
                <c:formatCode>_("$"* #,##0.00_);_("$"* \(#,##0.00\);_("$"* "-"??_);_(@_)</c:formatCode>
                <c:ptCount val="12"/>
                <c:pt idx="0">
                  <c:v>16.491800567107742</c:v>
                </c:pt>
                <c:pt idx="1">
                  <c:v>16.450290330724563</c:v>
                </c:pt>
                <c:pt idx="2">
                  <c:v>16.521262614409757</c:v>
                </c:pt>
                <c:pt idx="3">
                  <c:v>16.559094194170068</c:v>
                </c:pt>
                <c:pt idx="4">
                  <c:v>16.497862754158962</c:v>
                </c:pt>
                <c:pt idx="5">
                  <c:v>16.61314828341855</c:v>
                </c:pt>
                <c:pt idx="6">
                  <c:v>16.520469034608379</c:v>
                </c:pt>
                <c:pt idx="7">
                  <c:v>16.381537907869479</c:v>
                </c:pt>
                <c:pt idx="8">
                  <c:v>16.498727506426736</c:v>
                </c:pt>
                <c:pt idx="9">
                  <c:v>16.489209374195212</c:v>
                </c:pt>
                <c:pt idx="10">
                  <c:v>16.501488513830282</c:v>
                </c:pt>
                <c:pt idx="11">
                  <c:v>16.442477763659468</c:v>
                </c:pt>
              </c:numCache>
            </c:numRef>
          </c:val>
          <c:smooth val="1"/>
          <c:extLst>
            <c:ext xmlns:c16="http://schemas.microsoft.com/office/drawing/2014/chart" uri="{C3380CC4-5D6E-409C-BE32-E72D297353CC}">
              <c16:uniqueId val="{00000000-F5F6-4496-B275-7466C6284DD3}"/>
            </c:ext>
          </c:extLst>
        </c:ser>
        <c:dLbls>
          <c:showLegendKey val="0"/>
          <c:showVal val="0"/>
          <c:showCatName val="0"/>
          <c:showSerName val="0"/>
          <c:showPercent val="0"/>
          <c:showBubbleSize val="0"/>
        </c:dLbls>
        <c:marker val="1"/>
        <c:smooth val="0"/>
        <c:axId val="1479393343"/>
        <c:axId val="1479393823"/>
      </c:lineChart>
      <c:lineChart>
        <c:grouping val="standard"/>
        <c:varyColors val="0"/>
        <c:ser>
          <c:idx val="0"/>
          <c:order val="0"/>
          <c:tx>
            <c:strRef>
              <c:f>Pivot_Table_AOV!$B$6</c:f>
              <c:strCache>
                <c:ptCount val="1"/>
                <c:pt idx="0">
                  <c:v>Revenue per Order (AOV)</c:v>
                </c:pt>
              </c:strCache>
            </c:strRef>
          </c:tx>
          <c:spPr>
            <a:ln w="28575" cap="rnd">
              <a:solidFill>
                <a:schemeClr val="accent1"/>
              </a:solidFill>
              <a:round/>
            </a:ln>
            <a:effectLst/>
          </c:spPr>
          <c:marker>
            <c:symbol val="square"/>
            <c:size val="5"/>
            <c:spPr>
              <a:solidFill>
                <a:srgbClr val="C00000"/>
              </a:solidFill>
              <a:ln w="9525">
                <a:solidFill>
                  <a:schemeClr val="accent1"/>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Pivot_Table_AOV!$B$7:$B$19</c:f>
              <c:numCache>
                <c:formatCode>_("$"* #,##0.00_);_("$"* \(#,##0.00\);_("$"* "-"??_);_(@_)</c:formatCode>
                <c:ptCount val="12"/>
                <c:pt idx="0">
                  <c:v>37.828346883468811</c:v>
                </c:pt>
                <c:pt idx="1">
                  <c:v>38.670385756676559</c:v>
                </c:pt>
                <c:pt idx="2">
                  <c:v>38.259293478260858</c:v>
                </c:pt>
                <c:pt idx="3">
                  <c:v>38.208337965536387</c:v>
                </c:pt>
                <c:pt idx="4">
                  <c:v>38.533594171613593</c:v>
                </c:pt>
                <c:pt idx="5">
                  <c:v>38.482910321488994</c:v>
                </c:pt>
                <c:pt idx="6">
                  <c:v>37.497622739018084</c:v>
                </c:pt>
                <c:pt idx="7">
                  <c:v>37.087588267246055</c:v>
                </c:pt>
                <c:pt idx="8">
                  <c:v>38.639403973509935</c:v>
                </c:pt>
                <c:pt idx="9">
                  <c:v>38.898906439854194</c:v>
                </c:pt>
                <c:pt idx="10">
                  <c:v>39.283119419642844</c:v>
                </c:pt>
                <c:pt idx="11">
                  <c:v>38.512589285714284</c:v>
                </c:pt>
              </c:numCache>
            </c:numRef>
          </c:val>
          <c:smooth val="1"/>
          <c:extLst>
            <c:ext xmlns:c16="http://schemas.microsoft.com/office/drawing/2014/chart" uri="{C3380CC4-5D6E-409C-BE32-E72D297353CC}">
              <c16:uniqueId val="{00000001-F5F6-4496-B275-7466C6284DD3}"/>
            </c:ext>
          </c:extLst>
        </c:ser>
        <c:dLbls>
          <c:showLegendKey val="0"/>
          <c:showVal val="0"/>
          <c:showCatName val="0"/>
          <c:showSerName val="0"/>
          <c:showPercent val="0"/>
          <c:showBubbleSize val="0"/>
        </c:dLbls>
        <c:marker val="1"/>
        <c:smooth val="0"/>
        <c:axId val="981756559"/>
        <c:axId val="981745039"/>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valAx>
        <c:axId val="981745039"/>
        <c:scaling>
          <c:orientation val="minMax"/>
        </c:scaling>
        <c:delete val="0"/>
        <c:axPos val="r"/>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2"/>
                </a:solidFill>
                <a:latin typeface="+mn-lt"/>
                <a:ea typeface="+mn-ea"/>
                <a:cs typeface="+mn-cs"/>
              </a:defRPr>
            </a:pPr>
            <a:endParaRPr lang="en-US"/>
          </a:p>
        </c:txPr>
        <c:crossAx val="981756559"/>
        <c:crosses val="max"/>
        <c:crossBetween val="between"/>
      </c:valAx>
      <c:catAx>
        <c:axId val="981756559"/>
        <c:scaling>
          <c:orientation val="minMax"/>
        </c:scaling>
        <c:delete val="1"/>
        <c:axPos val="b"/>
        <c:numFmt formatCode="General" sourceLinked="1"/>
        <c:majorTickMark val="out"/>
        <c:minorTickMark val="none"/>
        <c:tickLblPos val="nextTo"/>
        <c:crossAx val="98174503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25-Vincent.xlsx]Pivot_Table_AOV!PivotTable6</c:name>
    <c:fmtId val="45"/>
  </c:pivotSource>
  <c:chart>
    <c:title>
      <c:tx>
        <c:rich>
          <a:bodyPr rot="0" spcFirstLastPara="1" vertOverflow="ellipsis" vert="horz" wrap="square" anchor="ctr" anchorCtr="1"/>
          <a:lstStyle/>
          <a:p>
            <a:pPr>
              <a:defRPr sz="1100" b="0" i="0" u="none" strike="noStrike" kern="1200" spc="0" baseline="0">
                <a:solidFill>
                  <a:schemeClr val="tx1">
                    <a:lumMod val="65000"/>
                    <a:lumOff val="35000"/>
                  </a:schemeClr>
                </a:solidFill>
                <a:latin typeface="+mn-lt"/>
                <a:ea typeface="+mn-ea"/>
                <a:cs typeface="+mn-cs"/>
              </a:defRPr>
            </a:pPr>
            <a:r>
              <a:rPr lang="en-US" sz="1100" b="1">
                <a:solidFill>
                  <a:srgbClr val="FFFF00"/>
                </a:solidFill>
              </a:rPr>
              <a:t>Daily AOV and Revenue</a:t>
            </a:r>
            <a:r>
              <a:rPr lang="en-US" sz="1100" b="1" baseline="0">
                <a:solidFill>
                  <a:srgbClr val="FFFF00"/>
                </a:solidFill>
              </a:rPr>
              <a:t> per Pizza</a:t>
            </a:r>
            <a:endParaRPr lang="en-US" sz="1100" b="1">
              <a:solidFill>
                <a:srgbClr val="FFFF00"/>
              </a:solidFill>
            </a:endParaRPr>
          </a:p>
        </c:rich>
      </c:tx>
      <c:overlay val="0"/>
      <c:spPr>
        <a:noFill/>
        <a:ln>
          <a:noFill/>
        </a:ln>
        <a:effectLst/>
      </c:spPr>
      <c:txPr>
        <a:bodyPr rot="0" spcFirstLastPara="1" vertOverflow="ellipsis" vert="horz" wrap="square" anchor="ctr" anchorCtr="1"/>
        <a:lstStyle/>
        <a:p>
          <a:pPr>
            <a:defRPr sz="11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1"/>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3"/>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4"/>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5"/>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6"/>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7"/>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8"/>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9"/>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0"/>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1"/>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2"/>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3"/>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4"/>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6"/>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7"/>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8"/>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9"/>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0"/>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1"/>
        <c:spPr>
          <a:solidFill>
            <a:srgbClr val="FFFF00"/>
          </a:solidFill>
          <a:ln w="22225">
            <a:solidFill>
              <a:srgbClr val="C00000"/>
            </a:solidFill>
          </a:ln>
          <a:effectLst/>
        </c:spP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0" i="0" u="none" strike="noStrike" kern="1200" baseline="0">
                  <a:solidFill>
                    <a:srgbClr val="FFFF00"/>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2"/>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3"/>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4"/>
        <c:spPr>
          <a:solidFill>
            <a:schemeClr val="accent1"/>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5"/>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6"/>
        <c:spPr>
          <a:solidFill>
            <a:schemeClr val="accent1"/>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7"/>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9"/>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Pivot_Table_AOV!$J$2</c:f>
              <c:strCache>
                <c:ptCount val="1"/>
                <c:pt idx="0">
                  <c:v>Revenue per Order (AOV)</c:v>
                </c:pt>
              </c:strCache>
            </c:strRef>
          </c:tx>
          <c:spPr>
            <a:solidFill>
              <a:schemeClr val="accent1"/>
            </a:solidFill>
            <a:ln w="22225">
              <a:solidFill>
                <a:srgbClr val="A3220D"/>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80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Pivot_Table_AOV!$I$3:$I$9</c:f>
              <c:strCache>
                <c:ptCount val="7"/>
                <c:pt idx="0">
                  <c:v>Monday</c:v>
                </c:pt>
                <c:pt idx="1">
                  <c:v>Tuesday</c:v>
                </c:pt>
                <c:pt idx="2">
                  <c:v>Wednesday</c:v>
                </c:pt>
                <c:pt idx="3">
                  <c:v>Thursday</c:v>
                </c:pt>
                <c:pt idx="4">
                  <c:v>Friday</c:v>
                </c:pt>
                <c:pt idx="5">
                  <c:v>Saturday</c:v>
                </c:pt>
                <c:pt idx="6">
                  <c:v>Sunday</c:v>
                </c:pt>
              </c:strCache>
            </c:strRef>
          </c:cat>
          <c:val>
            <c:numRef>
              <c:f>Pivot_Table_AOV!$J$3:$J$9</c:f>
              <c:numCache>
                <c:formatCode>_("$"* #,##0.00_);_("$"* \(#,##0.00\);_("$"* "-"??_);_(@_)</c:formatCode>
                <c:ptCount val="7"/>
                <c:pt idx="0">
                  <c:v>38.414298496778798</c:v>
                </c:pt>
                <c:pt idx="1">
                  <c:v>38.390110998990899</c:v>
                </c:pt>
                <c:pt idx="2">
                  <c:v>37.833465608465588</c:v>
                </c:pt>
                <c:pt idx="3">
                  <c:v>38.137851188638457</c:v>
                </c:pt>
                <c:pt idx="4">
                  <c:v>38.460684002261154</c:v>
                </c:pt>
                <c:pt idx="5">
                  <c:v>39.006459784673837</c:v>
                </c:pt>
                <c:pt idx="6">
                  <c:v>37.806211890243894</c:v>
                </c:pt>
              </c:numCache>
            </c:numRef>
          </c:val>
          <c:extLst>
            <c:ext xmlns:c16="http://schemas.microsoft.com/office/drawing/2014/chart" uri="{C3380CC4-5D6E-409C-BE32-E72D297353CC}">
              <c16:uniqueId val="{00000000-0260-4726-87B5-942E33397AC2}"/>
            </c:ext>
          </c:extLst>
        </c:ser>
        <c:ser>
          <c:idx val="1"/>
          <c:order val="1"/>
          <c:tx>
            <c:strRef>
              <c:f>Pivot_Table_AOV!$K$2</c:f>
              <c:strCache>
                <c:ptCount val="1"/>
                <c:pt idx="0">
                  <c:v>Revenue per Pizza</c:v>
                </c:pt>
              </c:strCache>
            </c:strRef>
          </c:tx>
          <c:spPr>
            <a:solidFill>
              <a:srgbClr val="FFFF00"/>
            </a:solidFill>
            <a:ln w="22225">
              <a:solidFill>
                <a:srgbClr val="A3220D"/>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800" b="1"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Pivot_Table_AOV!$I$3:$I$9</c:f>
              <c:strCache>
                <c:ptCount val="7"/>
                <c:pt idx="0">
                  <c:v>Monday</c:v>
                </c:pt>
                <c:pt idx="1">
                  <c:v>Tuesday</c:v>
                </c:pt>
                <c:pt idx="2">
                  <c:v>Wednesday</c:v>
                </c:pt>
                <c:pt idx="3">
                  <c:v>Thursday</c:v>
                </c:pt>
                <c:pt idx="4">
                  <c:v>Friday</c:v>
                </c:pt>
                <c:pt idx="5">
                  <c:v>Saturday</c:v>
                </c:pt>
                <c:pt idx="6">
                  <c:v>Sunday</c:v>
                </c:pt>
              </c:strCache>
            </c:strRef>
          </c:cat>
          <c:val>
            <c:numRef>
              <c:f>Pivot_Table_AOV!$K$3:$K$9</c:f>
              <c:numCache>
                <c:formatCode>_("$"* #,##0.00_);_("$"* \(#,##0.00\);_("$"* "-"??_);_(@_)</c:formatCode>
                <c:ptCount val="7"/>
                <c:pt idx="0">
                  <c:v>16.550431765612945</c:v>
                </c:pt>
                <c:pt idx="1">
                  <c:v>16.553125453226968</c:v>
                </c:pt>
                <c:pt idx="2">
                  <c:v>16.471120069104511</c:v>
                </c:pt>
                <c:pt idx="3">
                  <c:v>16.518922171703657</c:v>
                </c:pt>
                <c:pt idx="4">
                  <c:v>16.509815578743019</c:v>
                </c:pt>
                <c:pt idx="5">
                  <c:v>16.439663686107028</c:v>
                </c:pt>
                <c:pt idx="6">
                  <c:v>16.438028169014078</c:v>
                </c:pt>
              </c:numCache>
            </c:numRef>
          </c:val>
          <c:extLst>
            <c:ext xmlns:c16="http://schemas.microsoft.com/office/drawing/2014/chart" uri="{C3380CC4-5D6E-409C-BE32-E72D297353CC}">
              <c16:uniqueId val="{00000001-0260-4726-87B5-942E33397AC2}"/>
            </c:ext>
          </c:extLst>
        </c:ser>
        <c:dLbls>
          <c:dLblPos val="outEnd"/>
          <c:showLegendKey val="0"/>
          <c:showVal val="1"/>
          <c:showCatName val="0"/>
          <c:showSerName val="0"/>
          <c:showPercent val="0"/>
          <c:showBubbleSize val="0"/>
        </c:dLbls>
        <c:gapWidth val="35"/>
        <c:overlap val="-27"/>
        <c:axId val="99726303"/>
        <c:axId val="99722943"/>
      </c:barChart>
      <c:catAx>
        <c:axId val="99726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7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99722943"/>
        <c:crosses val="autoZero"/>
        <c:auto val="1"/>
        <c:lblAlgn val="ctr"/>
        <c:lblOffset val="100"/>
        <c:noMultiLvlLbl val="0"/>
      </c:catAx>
      <c:valAx>
        <c:axId val="99722943"/>
        <c:scaling>
          <c:orientation val="minMax"/>
        </c:scaling>
        <c:delete val="1"/>
        <c:axPos val="l"/>
        <c:numFmt formatCode="_(&quot;$&quot;* #,##0.00_);_(&quot;$&quot;* \(#,##0.00\);_(&quot;$&quot;* &quot;-&quot;??_);_(@_)" sourceLinked="1"/>
        <c:majorTickMark val="none"/>
        <c:minorTickMark val="none"/>
        <c:tickLblPos val="nextTo"/>
        <c:crossAx val="99726303"/>
        <c:crosses val="autoZero"/>
        <c:crossBetween val="between"/>
      </c:valAx>
      <c:spPr>
        <a:noFill/>
        <a:ln>
          <a:solidFill>
            <a:schemeClr val="tx1"/>
          </a:solidFill>
        </a:ln>
        <a:effectLst/>
      </c:spPr>
    </c:plotArea>
    <c:legend>
      <c:legendPos val="t"/>
      <c:legendEntry>
        <c:idx val="0"/>
        <c:txPr>
          <a:bodyPr rot="0" spcFirstLastPara="1" vertOverflow="ellipsis" vert="horz" wrap="square" anchor="ctr" anchorCtr="1"/>
          <a:lstStyle/>
          <a:p>
            <a:pPr>
              <a:defRPr sz="900" b="1" i="0" u="none" strike="noStrike" kern="1200" baseline="0">
                <a:solidFill>
                  <a:schemeClr val="tx1"/>
                </a:solidFill>
                <a:latin typeface="+mn-lt"/>
                <a:ea typeface="+mn-ea"/>
                <a:cs typeface="+mn-cs"/>
              </a:defRPr>
            </a:pPr>
            <a:endParaRPr lang="en-US"/>
          </a:p>
        </c:txPr>
      </c:legendEntry>
      <c:overlay val="0"/>
      <c:spPr>
        <a:noFill/>
        <a:ln>
          <a:noFill/>
        </a:ln>
        <a:effectLst/>
      </c:spPr>
      <c:txPr>
        <a:bodyPr rot="0" spcFirstLastPara="1" vertOverflow="ellipsis" vert="horz" wrap="square" anchor="ctr" anchorCtr="1"/>
        <a:lstStyle/>
        <a:p>
          <a:pPr>
            <a:defRPr sz="900" b="1"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25-Vincent.xlsx]Pivot_Table_Revenue!PivotTable6</c:name>
    <c:fmtId val="14"/>
  </c:pivotSource>
  <c:chart>
    <c:title>
      <c:tx>
        <c:rich>
          <a:bodyPr rot="0" spcFirstLastPara="1" vertOverflow="ellipsis" vert="horz" wrap="square" anchor="ctr" anchorCtr="1"/>
          <a:lstStyle/>
          <a:p>
            <a:pPr>
              <a:defRPr sz="1100" b="0" i="0" u="none" strike="noStrike" kern="1200" spc="0" baseline="0">
                <a:solidFill>
                  <a:schemeClr val="tx1">
                    <a:lumMod val="65000"/>
                    <a:lumOff val="35000"/>
                  </a:schemeClr>
                </a:solidFill>
                <a:latin typeface="+mn-lt"/>
                <a:ea typeface="+mn-ea"/>
                <a:cs typeface="+mn-cs"/>
              </a:defRPr>
            </a:pPr>
            <a:r>
              <a:rPr lang="en-US" sz="1100" b="1">
                <a:solidFill>
                  <a:srgbClr val="FFFF00"/>
                </a:solidFill>
              </a:rPr>
              <a:t>Peak Day</a:t>
            </a:r>
            <a:r>
              <a:rPr lang="en-US" sz="1100" b="1" baseline="0">
                <a:solidFill>
                  <a:srgbClr val="FFFF00"/>
                </a:solidFill>
              </a:rPr>
              <a:t> by Revenue ($)</a:t>
            </a:r>
            <a:endParaRPr lang="en-US" sz="1100" b="1">
              <a:solidFill>
                <a:srgbClr val="FFFF00"/>
              </a:solidFill>
            </a:endParaRPr>
          </a:p>
        </c:rich>
      </c:tx>
      <c:overlay val="0"/>
      <c:spPr>
        <a:noFill/>
        <a:ln>
          <a:noFill/>
        </a:ln>
        <a:effectLst/>
      </c:spPr>
      <c:txPr>
        <a:bodyPr rot="0" spcFirstLastPara="1" vertOverflow="ellipsis" vert="horz" wrap="square" anchor="ctr" anchorCtr="1"/>
        <a:lstStyle/>
        <a:p>
          <a:pPr>
            <a:defRPr sz="11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1"/>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3"/>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4"/>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5"/>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6"/>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7"/>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8"/>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9"/>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0"/>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1"/>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2"/>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3"/>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4"/>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6"/>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7"/>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Pivot_Table_Revenue!$H$15</c:f>
              <c:strCache>
                <c:ptCount val="1"/>
                <c:pt idx="0">
                  <c:v>Total</c:v>
                </c:pt>
              </c:strCache>
            </c:strRef>
          </c:tx>
          <c:spPr>
            <a:solidFill>
              <a:srgbClr val="FFFF00"/>
            </a:solidFill>
            <a:ln w="22225">
              <a:solidFill>
                <a:srgbClr val="A3220D"/>
              </a:solidFill>
            </a:ln>
            <a:effectLst/>
          </c:spPr>
          <c:invertIfNegative val="0"/>
          <c:dPt>
            <c:idx val="0"/>
            <c:invertIfNegative val="0"/>
            <c:bubble3D val="0"/>
            <c:extLst>
              <c:ext xmlns:c16="http://schemas.microsoft.com/office/drawing/2014/chart" uri="{C3380CC4-5D6E-409C-BE32-E72D297353CC}">
                <c16:uniqueId val="{00000000-5518-4355-AD15-E95F5AA18E44}"/>
              </c:ext>
            </c:extLst>
          </c:dPt>
          <c:dPt>
            <c:idx val="1"/>
            <c:invertIfNegative val="0"/>
            <c:bubble3D val="0"/>
            <c:extLst>
              <c:ext xmlns:c16="http://schemas.microsoft.com/office/drawing/2014/chart" uri="{C3380CC4-5D6E-409C-BE32-E72D297353CC}">
                <c16:uniqueId val="{00000001-5518-4355-AD15-E95F5AA18E44}"/>
              </c:ext>
            </c:extLst>
          </c:dPt>
          <c:dPt>
            <c:idx val="2"/>
            <c:invertIfNegative val="0"/>
            <c:bubble3D val="0"/>
            <c:extLst>
              <c:ext xmlns:c16="http://schemas.microsoft.com/office/drawing/2014/chart" uri="{C3380CC4-5D6E-409C-BE32-E72D297353CC}">
                <c16:uniqueId val="{00000002-5518-4355-AD15-E95F5AA18E44}"/>
              </c:ext>
            </c:extLst>
          </c:dPt>
          <c:dPt>
            <c:idx val="3"/>
            <c:invertIfNegative val="0"/>
            <c:bubble3D val="0"/>
            <c:extLst>
              <c:ext xmlns:c16="http://schemas.microsoft.com/office/drawing/2014/chart" uri="{C3380CC4-5D6E-409C-BE32-E72D297353CC}">
                <c16:uniqueId val="{00000003-5518-4355-AD15-E95F5AA18E44}"/>
              </c:ext>
            </c:extLst>
          </c:dPt>
          <c:dPt>
            <c:idx val="4"/>
            <c:invertIfNegative val="0"/>
            <c:bubble3D val="0"/>
            <c:extLst>
              <c:ext xmlns:c16="http://schemas.microsoft.com/office/drawing/2014/chart" uri="{C3380CC4-5D6E-409C-BE32-E72D297353CC}">
                <c16:uniqueId val="{00000004-5518-4355-AD15-E95F5AA18E44}"/>
              </c:ext>
            </c:extLst>
          </c:dPt>
          <c:dPt>
            <c:idx val="5"/>
            <c:invertIfNegative val="0"/>
            <c:bubble3D val="0"/>
            <c:extLst>
              <c:ext xmlns:c16="http://schemas.microsoft.com/office/drawing/2014/chart" uri="{C3380CC4-5D6E-409C-BE32-E72D297353CC}">
                <c16:uniqueId val="{00000005-5518-4355-AD15-E95F5AA18E44}"/>
              </c:ext>
            </c:extLst>
          </c:dPt>
          <c:dPt>
            <c:idx val="6"/>
            <c:invertIfNegative val="0"/>
            <c:bubble3D val="0"/>
            <c:extLst>
              <c:ext xmlns:c16="http://schemas.microsoft.com/office/drawing/2014/chart" uri="{C3380CC4-5D6E-409C-BE32-E72D297353CC}">
                <c16:uniqueId val="{00000006-5518-4355-AD15-E95F5AA18E44}"/>
              </c:ext>
            </c:extLst>
          </c:dPt>
          <c:dLbls>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0">
                  <a:spAutoFit/>
                </a:bodyPr>
                <a:lstStyle/>
                <a:p>
                  <a:pPr algn="ctr" rtl="0">
                    <a:defRPr lang="en-US" sz="800" b="0" i="0" u="none" strike="noStrike" kern="1200" baseline="0">
                      <a:solidFill>
                        <a:srgbClr val="212121">
                          <a:lumMod val="75000"/>
                        </a:srgb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518-4355-AD15-E95F5AA18E44}"/>
                </c:ext>
              </c:extLst>
            </c:dLbl>
            <c:dLbl>
              <c:idx val="1"/>
              <c:layout>
                <c:manualLayout>
                  <c:x val="0"/>
                  <c:y val="0.1490798229385611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518-4355-AD15-E95F5AA18E44}"/>
                </c:ext>
              </c:extLst>
            </c:dLbl>
            <c:dLbl>
              <c:idx val="2"/>
              <c:layout>
                <c:manualLayout>
                  <c:x val="-5.2309937749452115E-17"/>
                  <c:y val="0.35873296461677046"/>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5518-4355-AD15-E95F5AA18E44}"/>
                </c:ext>
              </c:extLst>
            </c:dLbl>
            <c:dLbl>
              <c:idx val="3"/>
              <c:layout>
                <c:manualLayout>
                  <c:x val="0"/>
                  <c:y val="0.1733836363460252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518-4355-AD15-E95F5AA18E44}"/>
                </c:ext>
              </c:extLst>
            </c:dLbl>
            <c:dLbl>
              <c:idx val="4"/>
              <c:layout>
                <c:manualLayout>
                  <c:x val="-6.2815406541026212E-17"/>
                  <c:y val="0.4128974922753557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5518-4355-AD15-E95F5AA18E44}"/>
                </c:ext>
              </c:extLst>
            </c:dLbl>
            <c:dLbl>
              <c:idx val="5"/>
              <c:layout>
                <c:manualLayout>
                  <c:x val="0"/>
                  <c:y val="0.17886547011361759"/>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518-4355-AD15-E95F5AA18E44}"/>
                </c:ext>
              </c:extLst>
            </c:dLbl>
            <c:dLbl>
              <c:idx val="6"/>
              <c:layout>
                <c:manualLayout>
                  <c:x val="1.0461987549890423E-16"/>
                  <c:y val="0.31705184955589349"/>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518-4355-AD15-E95F5AA18E44}"/>
                </c:ext>
              </c:extLst>
            </c:dLbl>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8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Pivot_Table_Revenue!$G$16:$G$22</c:f>
              <c:strCache>
                <c:ptCount val="7"/>
                <c:pt idx="0">
                  <c:v>Monday</c:v>
                </c:pt>
                <c:pt idx="1">
                  <c:v>Tuesday</c:v>
                </c:pt>
                <c:pt idx="2">
                  <c:v>Wednesday</c:v>
                </c:pt>
                <c:pt idx="3">
                  <c:v>Thursday</c:v>
                </c:pt>
                <c:pt idx="4">
                  <c:v>Friday</c:v>
                </c:pt>
                <c:pt idx="5">
                  <c:v>Saturday</c:v>
                </c:pt>
                <c:pt idx="6">
                  <c:v>Sunday</c:v>
                </c:pt>
              </c:strCache>
            </c:strRef>
          </c:cat>
          <c:val>
            <c:numRef>
              <c:f>Pivot_Table_Revenue!$H$16:$H$22</c:f>
              <c:numCache>
                <c:formatCode>_("$"* #,##0.00_);_("$"* \(#,##0.00\);_("$"* "-"??_);_(@_)</c:formatCode>
                <c:ptCount val="7"/>
                <c:pt idx="0">
                  <c:v>107329.54999999996</c:v>
                </c:pt>
                <c:pt idx="1">
                  <c:v>114133.79999999994</c:v>
                </c:pt>
                <c:pt idx="2">
                  <c:v>114408.39999999994</c:v>
                </c:pt>
                <c:pt idx="3">
                  <c:v>123528.49999999996</c:v>
                </c:pt>
                <c:pt idx="4">
                  <c:v>136073.89999999997</c:v>
                </c:pt>
                <c:pt idx="5">
                  <c:v>123182.39999999997</c:v>
                </c:pt>
                <c:pt idx="6">
                  <c:v>99203.499999999971</c:v>
                </c:pt>
              </c:numCache>
            </c:numRef>
          </c:val>
          <c:extLst>
            <c:ext xmlns:c16="http://schemas.microsoft.com/office/drawing/2014/chart" uri="{C3380CC4-5D6E-409C-BE32-E72D297353CC}">
              <c16:uniqueId val="{00000007-5518-4355-AD15-E95F5AA18E44}"/>
            </c:ext>
          </c:extLst>
        </c:ser>
        <c:dLbls>
          <c:dLblPos val="outEnd"/>
          <c:showLegendKey val="0"/>
          <c:showVal val="1"/>
          <c:showCatName val="0"/>
          <c:showSerName val="0"/>
          <c:showPercent val="0"/>
          <c:showBubbleSize val="0"/>
        </c:dLbls>
        <c:gapWidth val="50"/>
        <c:overlap val="-27"/>
        <c:axId val="99726303"/>
        <c:axId val="99722943"/>
      </c:barChart>
      <c:catAx>
        <c:axId val="99726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7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99722943"/>
        <c:crosses val="autoZero"/>
        <c:auto val="1"/>
        <c:lblAlgn val="ctr"/>
        <c:lblOffset val="100"/>
        <c:noMultiLvlLbl val="0"/>
      </c:catAx>
      <c:valAx>
        <c:axId val="99722943"/>
        <c:scaling>
          <c:orientation val="minMax"/>
        </c:scaling>
        <c:delete val="1"/>
        <c:axPos val="l"/>
        <c:numFmt formatCode="_(&quot;$&quot;* #,##0.00_);_(&quot;$&quot;* \(#,##0.00\);_(&quot;$&quot;* &quot;-&quot;??_);_(@_)" sourceLinked="1"/>
        <c:majorTickMark val="none"/>
        <c:minorTickMark val="none"/>
        <c:tickLblPos val="nextTo"/>
        <c:crossAx val="9972630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25-Vincent.xlsx]Pivot_Table_Orders!PivotTable6</c:name>
    <c:fmtId val="2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rgbClr val="FFFF00"/>
                </a:solidFill>
              </a:rPr>
              <a:t>Peak Day</a:t>
            </a:r>
            <a:r>
              <a:rPr lang="en-US" b="1" baseline="0">
                <a:solidFill>
                  <a:srgbClr val="FFFF00"/>
                </a:solidFill>
              </a:rPr>
              <a:t> by Orders</a:t>
            </a:r>
            <a:endParaRPr lang="en-US" b="1">
              <a:solidFill>
                <a:srgbClr val="FFFF00"/>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1"/>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3"/>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4"/>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5"/>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6"/>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7"/>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8"/>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9"/>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0"/>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1"/>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2"/>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3"/>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4"/>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6"/>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7"/>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8"/>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9"/>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0"/>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1"/>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Pivot_Table_Orders!$H$15</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Pivot_Table_Orders!$G$16:$G$22</c:f>
              <c:strCache>
                <c:ptCount val="7"/>
                <c:pt idx="0">
                  <c:v>Monday</c:v>
                </c:pt>
                <c:pt idx="1">
                  <c:v>Tuesday</c:v>
                </c:pt>
                <c:pt idx="2">
                  <c:v>Wednesday</c:v>
                </c:pt>
                <c:pt idx="3">
                  <c:v>Thursday</c:v>
                </c:pt>
                <c:pt idx="4">
                  <c:v>Friday</c:v>
                </c:pt>
                <c:pt idx="5">
                  <c:v>Saturday</c:v>
                </c:pt>
                <c:pt idx="6">
                  <c:v>Sunday</c:v>
                </c:pt>
              </c:strCache>
            </c:strRef>
          </c:cat>
          <c:val>
            <c:numRef>
              <c:f>Pivot_Table_Orders!$H$16:$H$22</c:f>
              <c:numCache>
                <c:formatCode>_(* #,##0_);_(* \(#,##0\);_(* "-"??_);_(@_)</c:formatCode>
                <c:ptCount val="7"/>
                <c:pt idx="0">
                  <c:v>2794</c:v>
                </c:pt>
                <c:pt idx="1">
                  <c:v>2973</c:v>
                </c:pt>
                <c:pt idx="2">
                  <c:v>3024</c:v>
                </c:pt>
                <c:pt idx="3">
                  <c:v>3239</c:v>
                </c:pt>
                <c:pt idx="4">
                  <c:v>3538</c:v>
                </c:pt>
                <c:pt idx="5">
                  <c:v>3158</c:v>
                </c:pt>
                <c:pt idx="6">
                  <c:v>2624</c:v>
                </c:pt>
              </c:numCache>
            </c:numRef>
          </c:val>
          <c:extLst>
            <c:ext xmlns:c16="http://schemas.microsoft.com/office/drawing/2014/chart" uri="{C3380CC4-5D6E-409C-BE32-E72D297353CC}">
              <c16:uniqueId val="{00000000-1CC4-4DF5-88B5-5355DE528B8C}"/>
            </c:ext>
          </c:extLst>
        </c:ser>
        <c:dLbls>
          <c:dLblPos val="outEnd"/>
          <c:showLegendKey val="0"/>
          <c:showVal val="1"/>
          <c:showCatName val="0"/>
          <c:showSerName val="0"/>
          <c:showPercent val="0"/>
          <c:showBubbleSize val="0"/>
        </c:dLbls>
        <c:gapWidth val="50"/>
        <c:overlap val="-27"/>
        <c:axId val="99726303"/>
        <c:axId val="99722943"/>
      </c:barChart>
      <c:catAx>
        <c:axId val="99726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7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99722943"/>
        <c:crosses val="autoZero"/>
        <c:auto val="1"/>
        <c:lblAlgn val="ctr"/>
        <c:lblOffset val="100"/>
        <c:noMultiLvlLbl val="0"/>
      </c:catAx>
      <c:valAx>
        <c:axId val="99722943"/>
        <c:scaling>
          <c:orientation val="minMax"/>
        </c:scaling>
        <c:delete val="1"/>
        <c:axPos val="l"/>
        <c:numFmt formatCode="_(* #,##0_);_(* \(#,##0\);_(* &quot;-&quot;??_);_(@_)" sourceLinked="1"/>
        <c:majorTickMark val="none"/>
        <c:minorTickMark val="none"/>
        <c:tickLblPos val="nextTo"/>
        <c:crossAx val="9972630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25-Vincent.xlsx]Pivot_Table_Quantities!PivotTable6</c:name>
    <c:fmtId val="3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rgbClr val="FFFF00"/>
                </a:solidFill>
              </a:rPr>
              <a:t>Peak Day</a:t>
            </a:r>
            <a:r>
              <a:rPr lang="en-US" b="1" baseline="0">
                <a:solidFill>
                  <a:srgbClr val="FFFF00"/>
                </a:solidFill>
              </a:rPr>
              <a:t> by Quantities</a:t>
            </a:r>
            <a:endParaRPr lang="en-US" b="1">
              <a:solidFill>
                <a:srgbClr val="FFFF00"/>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1"/>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3"/>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4"/>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5"/>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6"/>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7"/>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8"/>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9"/>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0"/>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1"/>
        <c:spPr>
          <a:solidFill>
            <a:srgbClr val="FFFF00"/>
          </a:solidFill>
          <a:ln w="22225">
            <a:solidFill>
              <a:srgbClr val="A3220D"/>
            </a:solidFill>
          </a:ln>
          <a:effectLst/>
        </c:spPr>
        <c:dLbl>
          <c:idx val="0"/>
          <c:layout>
            <c:manualLayout>
              <c:x val="0"/>
              <c:y val="0.3143014887496246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2"/>
        <c:spPr>
          <a:solidFill>
            <a:srgbClr val="FFFF00"/>
          </a:solidFill>
          <a:ln w="22225">
            <a:solidFill>
              <a:srgbClr val="A3220D"/>
            </a:solidFill>
          </a:ln>
          <a:effectLst/>
        </c:spPr>
        <c:dLbl>
          <c:idx val="0"/>
          <c:layout>
            <c:manualLayout>
              <c:x val="0"/>
              <c:y val="0.1490798229385611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3"/>
        <c:spPr>
          <a:solidFill>
            <a:srgbClr val="FFFF00"/>
          </a:solidFill>
          <a:ln w="22225">
            <a:solidFill>
              <a:srgbClr val="A3220D"/>
            </a:solidFill>
          </a:ln>
          <a:effectLst/>
        </c:spPr>
        <c:dLbl>
          <c:idx val="0"/>
          <c:layout>
            <c:manualLayout>
              <c:x val="-5.2309937749452115E-17"/>
              <c:y val="0.358732964616770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4"/>
        <c:spPr>
          <a:solidFill>
            <a:srgbClr val="FFFF00"/>
          </a:solidFill>
          <a:ln w="22225">
            <a:solidFill>
              <a:srgbClr val="A3220D"/>
            </a:solidFill>
          </a:ln>
          <a:effectLst/>
        </c:spPr>
        <c:dLbl>
          <c:idx val="0"/>
          <c:layout>
            <c:manualLayout>
              <c:x val="0"/>
              <c:y val="0.17338363634602522"/>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5"/>
        <c:spPr>
          <a:solidFill>
            <a:srgbClr val="FFFF00"/>
          </a:solidFill>
          <a:ln w="22225">
            <a:solidFill>
              <a:srgbClr val="A3220D"/>
            </a:solidFill>
          </a:ln>
          <a:effectLst/>
        </c:spPr>
        <c:dLbl>
          <c:idx val="0"/>
          <c:layout>
            <c:manualLayout>
              <c:x val="0"/>
              <c:y val="0.46210274987650246"/>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6"/>
        <c:spPr>
          <a:solidFill>
            <a:srgbClr val="FFFF00"/>
          </a:solidFill>
          <a:ln w="22225">
            <a:solidFill>
              <a:srgbClr val="A3220D"/>
            </a:solidFill>
          </a:ln>
          <a:effectLst/>
        </c:spPr>
        <c:dLbl>
          <c:idx val="0"/>
          <c:layout>
            <c:manualLayout>
              <c:x val="0"/>
              <c:y val="0.1788654701136175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7"/>
        <c:spPr>
          <a:solidFill>
            <a:srgbClr val="FFFF00"/>
          </a:solidFill>
          <a:ln w="22225">
            <a:solidFill>
              <a:srgbClr val="A3220D"/>
            </a:solidFill>
          </a:ln>
          <a:effectLst/>
        </c:spPr>
        <c:dLbl>
          <c:idx val="0"/>
          <c:layout>
            <c:manualLayout>
              <c:x val="1.0461987549890423E-16"/>
              <c:y val="0.31705184955589349"/>
            </c:manualLayout>
          </c:layout>
          <c:spPr>
            <a:solidFill>
              <a:sysClr val="window" lastClr="FFFFFF"/>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chemeClr val="accent2">
                      <a:lumMod val="7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8"/>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9"/>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0"/>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1"/>
        <c:spPr>
          <a:solidFill>
            <a:srgbClr val="FFFF00"/>
          </a:solidFill>
          <a:ln w="22225">
            <a:solidFill>
              <a:srgbClr val="C00000"/>
            </a:solidFill>
          </a:ln>
          <a:effectLst/>
        </c:spPr>
      </c:pivotFmt>
      <c:pivotFmt>
        <c:idx val="32"/>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3"/>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Pivot_Table_Quantities!$H$15</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rgbClr val="FFFF0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Pivot_Table_Quantities!$G$16:$G$22</c:f>
              <c:strCache>
                <c:ptCount val="7"/>
                <c:pt idx="0">
                  <c:v>Monday</c:v>
                </c:pt>
                <c:pt idx="1">
                  <c:v>Tuesday</c:v>
                </c:pt>
                <c:pt idx="2">
                  <c:v>Wednesday</c:v>
                </c:pt>
                <c:pt idx="3">
                  <c:v>Thursday</c:v>
                </c:pt>
                <c:pt idx="4">
                  <c:v>Friday</c:v>
                </c:pt>
                <c:pt idx="5">
                  <c:v>Saturday</c:v>
                </c:pt>
                <c:pt idx="6">
                  <c:v>Sunday</c:v>
                </c:pt>
              </c:strCache>
            </c:strRef>
          </c:cat>
          <c:val>
            <c:numRef>
              <c:f>Pivot_Table_Quantities!$H$16:$H$22</c:f>
              <c:numCache>
                <c:formatCode>_(* #,##0_);_(* \(#,##0\);_(* "-"??_);_(@_)</c:formatCode>
                <c:ptCount val="7"/>
                <c:pt idx="0">
                  <c:v>6485</c:v>
                </c:pt>
                <c:pt idx="1">
                  <c:v>6895</c:v>
                </c:pt>
                <c:pt idx="2">
                  <c:v>6946</c:v>
                </c:pt>
                <c:pt idx="3">
                  <c:v>7478</c:v>
                </c:pt>
                <c:pt idx="4">
                  <c:v>8242</c:v>
                </c:pt>
                <c:pt idx="5">
                  <c:v>7493</c:v>
                </c:pt>
                <c:pt idx="6">
                  <c:v>6035</c:v>
                </c:pt>
              </c:numCache>
            </c:numRef>
          </c:val>
          <c:extLst>
            <c:ext xmlns:c16="http://schemas.microsoft.com/office/drawing/2014/chart" uri="{C3380CC4-5D6E-409C-BE32-E72D297353CC}">
              <c16:uniqueId val="{00000000-6371-450F-AB6E-CAA0D0A3388D}"/>
            </c:ext>
          </c:extLst>
        </c:ser>
        <c:dLbls>
          <c:dLblPos val="outEnd"/>
          <c:showLegendKey val="0"/>
          <c:showVal val="1"/>
          <c:showCatName val="0"/>
          <c:showSerName val="0"/>
          <c:showPercent val="0"/>
          <c:showBubbleSize val="0"/>
        </c:dLbls>
        <c:gapWidth val="50"/>
        <c:overlap val="-27"/>
        <c:axId val="99726303"/>
        <c:axId val="99722943"/>
      </c:barChart>
      <c:catAx>
        <c:axId val="99726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7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99722943"/>
        <c:crosses val="autoZero"/>
        <c:auto val="1"/>
        <c:lblAlgn val="ctr"/>
        <c:lblOffset val="100"/>
        <c:noMultiLvlLbl val="0"/>
      </c:catAx>
      <c:valAx>
        <c:axId val="99722943"/>
        <c:scaling>
          <c:orientation val="minMax"/>
        </c:scaling>
        <c:delete val="1"/>
        <c:axPos val="l"/>
        <c:numFmt formatCode="_(* #,##0_);_(* \(#,##0\);_(* &quot;-&quot;??_);_(@_)" sourceLinked="1"/>
        <c:majorTickMark val="none"/>
        <c:minorTickMark val="none"/>
        <c:tickLblPos val="nextTo"/>
        <c:crossAx val="99726303"/>
        <c:crosses val="autoZero"/>
        <c:crossBetween val="between"/>
      </c:valAx>
      <c:spPr>
        <a:solidFill>
          <a:schemeClr val="accent4">
            <a:lumMod val="60000"/>
            <a:lumOff val="40000"/>
          </a:schemeClr>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22"/>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25-Vincent.xlsx]Pivot_Table_Orders!PivotTable2</c:name>
    <c:fmtId val="47"/>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Orders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Pivot_Table_Orders!$B$6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5531-4238-884D-237060372F7F}"/>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5531-4238-884D-237060372F7F}"/>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5531-4238-884D-237060372F7F}"/>
                </c:ext>
              </c:extLst>
            </c:dLbl>
            <c:dLbl>
              <c:idx val="9"/>
              <c:layout>
                <c:manualLayout>
                  <c:x val="-0.30247913840010687"/>
                  <c:y val="0.1140224960733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16435468964872041"/>
                      <c:h val="0.29227572847119015"/>
                    </c:manualLayout>
                  </c15:layout>
                </c:ext>
                <c:ext xmlns:c16="http://schemas.microsoft.com/office/drawing/2014/chart" uri="{C3380CC4-5D6E-409C-BE32-E72D297353CC}">
                  <c16:uniqueId val="{00000001-5531-4238-884D-237060372F7F}"/>
                </c:ext>
              </c:extLst>
            </c:dLbl>
            <c:spPr>
              <a:solidFill>
                <a:srgbClr val="C00000"/>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Pivot_Table_Orders!$A$7:$A$19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Pivot_Table_Orders!$B$7:$B$19</c:f>
              <c:numCache>
                <c:formatCode>_(* #,##0_);_(* \(#,##0\);_(* "-"??_);_(@_)</c:formatCode>
                <c:ptCount val="12"/>
                <c:pt idx="0">
                  <c:v>1845</c:v>
                </c:pt>
                <c:pt idx="1">
                  <c:v>1685</c:v>
                </c:pt>
                <c:pt idx="2">
                  <c:v>1840</c:v>
                </c:pt>
                <c:pt idx="3">
                  <c:v>1799</c:v>
                </c:pt>
                <c:pt idx="4">
                  <c:v>1853</c:v>
                </c:pt>
                <c:pt idx="5">
                  <c:v>1773</c:v>
                </c:pt>
                <c:pt idx="6">
                  <c:v>1935</c:v>
                </c:pt>
                <c:pt idx="7">
                  <c:v>1841</c:v>
                </c:pt>
                <c:pt idx="8">
                  <c:v>1661</c:v>
                </c:pt>
                <c:pt idx="9">
                  <c:v>1646</c:v>
                </c:pt>
                <c:pt idx="10">
                  <c:v>1792</c:v>
                </c:pt>
                <c:pt idx="11">
                  <c:v>1680</c:v>
                </c:pt>
              </c:numCache>
            </c:numRef>
          </c:val>
          <c:smooth val="1"/>
          <c:extLst>
            <c:ext xmlns:c16="http://schemas.microsoft.com/office/drawing/2014/chart" uri="{C3380CC4-5D6E-409C-BE32-E72D297353CC}">
              <c16:uniqueId val="{00000002-5531-4238-884D-237060372F7F}"/>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25-Vincent.xlsx]Pivot_Table_Quantities!PivotTable2</c:name>
    <c:fmtId val="66"/>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Quantities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Pivot_Table_Quantities!$B$6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8645-4AF1-B699-F1656AF63C79}"/>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8645-4AF1-B699-F1656AF63C79}"/>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8645-4AF1-B699-F1656AF63C79}"/>
                </c:ext>
              </c:extLst>
            </c:dLbl>
            <c:dLbl>
              <c:idx val="9"/>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8645-4AF1-B699-F1656AF63C79}"/>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Pivot_Table_Quantities!$A$7:$A$19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Pivot_Table_Quantities!$B$7:$B$19</c:f>
              <c:numCache>
                <c:formatCode>_(* #,##0_);_(* \(#,##0\);_(* "-"??_);_(@_)</c:formatCode>
                <c:ptCount val="12"/>
                <c:pt idx="0">
                  <c:v>4232</c:v>
                </c:pt>
                <c:pt idx="1">
                  <c:v>3961</c:v>
                </c:pt>
                <c:pt idx="2">
                  <c:v>4261</c:v>
                </c:pt>
                <c:pt idx="3">
                  <c:v>4151</c:v>
                </c:pt>
                <c:pt idx="4">
                  <c:v>4328</c:v>
                </c:pt>
                <c:pt idx="5">
                  <c:v>4107</c:v>
                </c:pt>
                <c:pt idx="6">
                  <c:v>4392</c:v>
                </c:pt>
                <c:pt idx="7">
                  <c:v>4168</c:v>
                </c:pt>
                <c:pt idx="8">
                  <c:v>3890</c:v>
                </c:pt>
                <c:pt idx="9">
                  <c:v>3883</c:v>
                </c:pt>
                <c:pt idx="10">
                  <c:v>4266</c:v>
                </c:pt>
                <c:pt idx="11">
                  <c:v>3935</c:v>
                </c:pt>
              </c:numCache>
            </c:numRef>
          </c:val>
          <c:smooth val="1"/>
          <c:extLst>
            <c:ext xmlns:c16="http://schemas.microsoft.com/office/drawing/2014/chart" uri="{C3380CC4-5D6E-409C-BE32-E72D297353CC}">
              <c16:uniqueId val="{00000002-8645-4AF1-B699-F1656AF63C7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25-Vincent.xlsx]Pivot_Table_AOV!PivotTable2</c:name>
    <c:fmtId val="78"/>
  </c:pivotSource>
  <c:chart>
    <c:title>
      <c:tx>
        <c:rich>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r>
              <a:rPr lang="en-US" sz="1100" b="1">
                <a:solidFill>
                  <a:srgbClr val="FFFF00"/>
                </a:solidFill>
              </a:rPr>
              <a:t>Monthly AOV and Revenue per Pizza</a:t>
            </a:r>
          </a:p>
        </c:rich>
      </c:tx>
      <c:overlay val="0"/>
      <c:spPr>
        <a:noFill/>
        <a:ln>
          <a:noFill/>
        </a:ln>
        <a:effectLst/>
      </c:spPr>
      <c:txPr>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Pivot_Table_AOV!$C$6</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Pivot_Table_AOV!$C$7:$C$19</c:f>
              <c:numCache>
                <c:formatCode>_("$"* #,##0.00_);_("$"* \(#,##0.00\);_("$"* "-"??_);_(@_)</c:formatCode>
                <c:ptCount val="12"/>
                <c:pt idx="0">
                  <c:v>16.491800567107742</c:v>
                </c:pt>
                <c:pt idx="1">
                  <c:v>16.450290330724563</c:v>
                </c:pt>
                <c:pt idx="2">
                  <c:v>16.521262614409757</c:v>
                </c:pt>
                <c:pt idx="3">
                  <c:v>16.559094194170068</c:v>
                </c:pt>
                <c:pt idx="4">
                  <c:v>16.497862754158962</c:v>
                </c:pt>
                <c:pt idx="5">
                  <c:v>16.61314828341855</c:v>
                </c:pt>
                <c:pt idx="6">
                  <c:v>16.520469034608379</c:v>
                </c:pt>
                <c:pt idx="7">
                  <c:v>16.381537907869479</c:v>
                </c:pt>
                <c:pt idx="8">
                  <c:v>16.498727506426736</c:v>
                </c:pt>
                <c:pt idx="9">
                  <c:v>16.489209374195212</c:v>
                </c:pt>
                <c:pt idx="10">
                  <c:v>16.501488513830282</c:v>
                </c:pt>
                <c:pt idx="11">
                  <c:v>16.442477763659468</c:v>
                </c:pt>
              </c:numCache>
            </c:numRef>
          </c:val>
          <c:smooth val="1"/>
          <c:extLst>
            <c:ext xmlns:c16="http://schemas.microsoft.com/office/drawing/2014/chart" uri="{C3380CC4-5D6E-409C-BE32-E72D297353CC}">
              <c16:uniqueId val="{00000000-F5F6-4496-B275-7466C6284DD3}"/>
            </c:ext>
          </c:extLst>
        </c:ser>
        <c:dLbls>
          <c:showLegendKey val="0"/>
          <c:showVal val="0"/>
          <c:showCatName val="0"/>
          <c:showSerName val="0"/>
          <c:showPercent val="0"/>
          <c:showBubbleSize val="0"/>
        </c:dLbls>
        <c:marker val="1"/>
        <c:smooth val="0"/>
        <c:axId val="1479393343"/>
        <c:axId val="1479393823"/>
      </c:lineChart>
      <c:lineChart>
        <c:grouping val="standard"/>
        <c:varyColors val="0"/>
        <c:ser>
          <c:idx val="0"/>
          <c:order val="0"/>
          <c:tx>
            <c:strRef>
              <c:f>Pivot_Table_AOV!$B$6</c:f>
              <c:strCache>
                <c:ptCount val="1"/>
                <c:pt idx="0">
                  <c:v>Revenue per Order (AOV)</c:v>
                </c:pt>
              </c:strCache>
            </c:strRef>
          </c:tx>
          <c:spPr>
            <a:ln w="28575" cap="rnd">
              <a:solidFill>
                <a:schemeClr val="accent1"/>
              </a:solidFill>
              <a:round/>
            </a:ln>
            <a:effectLst/>
          </c:spPr>
          <c:marker>
            <c:symbol val="square"/>
            <c:size val="5"/>
            <c:spPr>
              <a:solidFill>
                <a:srgbClr val="C00000"/>
              </a:solidFill>
              <a:ln w="9525">
                <a:solidFill>
                  <a:schemeClr val="accent1"/>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Pivot_Table_AOV!$B$7:$B$19</c:f>
              <c:numCache>
                <c:formatCode>_("$"* #,##0.00_);_("$"* \(#,##0.00\);_("$"* "-"??_);_(@_)</c:formatCode>
                <c:ptCount val="12"/>
                <c:pt idx="0">
                  <c:v>37.828346883468811</c:v>
                </c:pt>
                <c:pt idx="1">
                  <c:v>38.670385756676559</c:v>
                </c:pt>
                <c:pt idx="2">
                  <c:v>38.259293478260858</c:v>
                </c:pt>
                <c:pt idx="3">
                  <c:v>38.208337965536387</c:v>
                </c:pt>
                <c:pt idx="4">
                  <c:v>38.533594171613593</c:v>
                </c:pt>
                <c:pt idx="5">
                  <c:v>38.482910321488994</c:v>
                </c:pt>
                <c:pt idx="6">
                  <c:v>37.497622739018084</c:v>
                </c:pt>
                <c:pt idx="7">
                  <c:v>37.087588267246055</c:v>
                </c:pt>
                <c:pt idx="8">
                  <c:v>38.639403973509935</c:v>
                </c:pt>
                <c:pt idx="9">
                  <c:v>38.898906439854194</c:v>
                </c:pt>
                <c:pt idx="10">
                  <c:v>39.283119419642844</c:v>
                </c:pt>
                <c:pt idx="11">
                  <c:v>38.512589285714284</c:v>
                </c:pt>
              </c:numCache>
            </c:numRef>
          </c:val>
          <c:smooth val="1"/>
          <c:extLst>
            <c:ext xmlns:c16="http://schemas.microsoft.com/office/drawing/2014/chart" uri="{C3380CC4-5D6E-409C-BE32-E72D297353CC}">
              <c16:uniqueId val="{00000001-F5F6-4496-B275-7466C6284DD3}"/>
            </c:ext>
          </c:extLst>
        </c:ser>
        <c:dLbls>
          <c:showLegendKey val="0"/>
          <c:showVal val="0"/>
          <c:showCatName val="0"/>
          <c:showSerName val="0"/>
          <c:showPercent val="0"/>
          <c:showBubbleSize val="0"/>
        </c:dLbls>
        <c:marker val="1"/>
        <c:smooth val="0"/>
        <c:axId val="981756559"/>
        <c:axId val="981745039"/>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valAx>
        <c:axId val="981745039"/>
        <c:scaling>
          <c:orientation val="minMax"/>
        </c:scaling>
        <c:delete val="0"/>
        <c:axPos val="r"/>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2"/>
                </a:solidFill>
                <a:latin typeface="+mn-lt"/>
                <a:ea typeface="+mn-ea"/>
                <a:cs typeface="+mn-cs"/>
              </a:defRPr>
            </a:pPr>
            <a:endParaRPr lang="en-US"/>
          </a:p>
        </c:txPr>
        <c:crossAx val="981756559"/>
        <c:crosses val="max"/>
        <c:crossBetween val="between"/>
      </c:valAx>
      <c:catAx>
        <c:axId val="981756559"/>
        <c:scaling>
          <c:orientation val="minMax"/>
        </c:scaling>
        <c:delete val="1"/>
        <c:axPos val="b"/>
        <c:numFmt formatCode="General" sourceLinked="1"/>
        <c:majorTickMark val="out"/>
        <c:minorTickMark val="none"/>
        <c:tickLblPos val="nextTo"/>
        <c:crossAx val="98174503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25-Vincent.xlsx]Pivot_Table_AOV!PivotTable4</c:name>
    <c:fmtId val="62"/>
  </c:pivotSource>
  <c:chart>
    <c:title>
      <c:tx>
        <c:rich>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r>
              <a:rPr lang="en-US" sz="1100" b="0">
                <a:ln>
                  <a:solidFill>
                    <a:srgbClr val="FFFF00"/>
                  </a:solidFill>
                </a:ln>
                <a:solidFill>
                  <a:srgbClr val="FFFF00"/>
                </a:solidFill>
              </a:rPr>
              <a:t>Hourly AOV and Revenue</a:t>
            </a:r>
            <a:r>
              <a:rPr lang="en-US" sz="1100" b="0" baseline="0">
                <a:ln>
                  <a:solidFill>
                    <a:srgbClr val="FFFF00"/>
                  </a:solidFill>
                </a:ln>
                <a:solidFill>
                  <a:srgbClr val="FFFF00"/>
                </a:solidFill>
              </a:rPr>
              <a:t> per Pizza</a:t>
            </a:r>
            <a:endParaRPr lang="en-US" sz="1100" b="0">
              <a:ln>
                <a:solidFill>
                  <a:srgbClr val="FFFF00"/>
                </a:solidFill>
              </a:ln>
              <a:solidFill>
                <a:srgbClr val="FFFF00"/>
              </a:solidFill>
            </a:endParaRPr>
          </a:p>
        </c:rich>
      </c:tx>
      <c:overlay val="0"/>
      <c:spPr>
        <a:noFill/>
        <a:ln>
          <a:noFill/>
        </a:ln>
        <a:effectLst/>
      </c:spPr>
      <c:txPr>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6691085918447815"/>
              <c:y val="-9.841051520229368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1.1333322477906806E-16"/>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9"/>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1"/>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2"/>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3"/>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4"/>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5"/>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7"/>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1"/>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3"/>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Pivot_Table_AOV!$K$12</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Pivot_Table_AOV!$I$13:$I$27</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Pivot_Table_AOV!$K$13:$K$27</c:f>
              <c:numCache>
                <c:formatCode>_("$"* #,##0.00_);_("$"* \(#,##0.00\);_("$"* "-"??_);_(@_)</c:formatCode>
                <c:ptCount val="15"/>
                <c:pt idx="0">
                  <c:v>20.75</c:v>
                </c:pt>
                <c:pt idx="1">
                  <c:v>16.869444444444444</c:v>
                </c:pt>
                <c:pt idx="2">
                  <c:v>16.472067448680349</c:v>
                </c:pt>
                <c:pt idx="3">
                  <c:v>16.510906139315221</c:v>
                </c:pt>
                <c:pt idx="4">
                  <c:v>16.539170435053791</c:v>
                </c:pt>
                <c:pt idx="5">
                  <c:v>16.385662884029891</c:v>
                </c:pt>
                <c:pt idx="6">
                  <c:v>16.477705223880594</c:v>
                </c:pt>
                <c:pt idx="7">
                  <c:v>16.526397735314923</c:v>
                </c:pt>
                <c:pt idx="8">
                  <c:v>16.549117251966987</c:v>
                </c:pt>
                <c:pt idx="9">
                  <c:v>16.484557873361634</c:v>
                </c:pt>
                <c:pt idx="10">
                  <c:v>16.48408987743985</c:v>
                </c:pt>
                <c:pt idx="11">
                  <c:v>16.472948500282968</c:v>
                </c:pt>
                <c:pt idx="12">
                  <c:v>16.514656188605109</c:v>
                </c:pt>
                <c:pt idx="13">
                  <c:v>16.461147186147187</c:v>
                </c:pt>
                <c:pt idx="14">
                  <c:v>16.490441176470586</c:v>
                </c:pt>
              </c:numCache>
            </c:numRef>
          </c:val>
          <c:smooth val="1"/>
          <c:extLst>
            <c:ext xmlns:c16="http://schemas.microsoft.com/office/drawing/2014/chart" uri="{C3380CC4-5D6E-409C-BE32-E72D297353CC}">
              <c16:uniqueId val="{00000000-C5AB-42CB-8529-AA3B6AB96F7C}"/>
            </c:ext>
          </c:extLst>
        </c:ser>
        <c:dLbls>
          <c:showLegendKey val="0"/>
          <c:showVal val="0"/>
          <c:showCatName val="0"/>
          <c:showSerName val="0"/>
          <c:showPercent val="0"/>
          <c:showBubbleSize val="0"/>
        </c:dLbls>
        <c:marker val="1"/>
        <c:smooth val="0"/>
        <c:axId val="1484510303"/>
        <c:axId val="1484509343"/>
      </c:lineChart>
      <c:lineChart>
        <c:grouping val="standard"/>
        <c:varyColors val="0"/>
        <c:ser>
          <c:idx val="0"/>
          <c:order val="0"/>
          <c:tx>
            <c:strRef>
              <c:f>Pivot_Table_AOV!$J$12</c:f>
              <c:strCache>
                <c:ptCount val="1"/>
                <c:pt idx="0">
                  <c:v>Revenue per Order (AOV)</c:v>
                </c:pt>
              </c:strCache>
            </c:strRef>
          </c:tx>
          <c:spPr>
            <a:ln w="28575" cap="rnd">
              <a:solidFill>
                <a:schemeClr val="accent1"/>
              </a:solidFill>
              <a:round/>
            </a:ln>
            <a:effectLst/>
          </c:spPr>
          <c:marker>
            <c:symbol val="square"/>
            <c:size val="6"/>
            <c:spPr>
              <a:solidFill>
                <a:srgbClr val="C00000"/>
              </a:solidFill>
              <a:ln w="9525">
                <a:solidFill>
                  <a:schemeClr val="accent1"/>
                </a:solidFill>
              </a:ln>
              <a:effectLst/>
            </c:spPr>
          </c:marker>
          <c:cat>
            <c:strRef>
              <c:f>Pivot_Table_AOV!$I$13:$I$27</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Pivot_Table_AOV!$J$13:$J$27</c:f>
              <c:numCache>
                <c:formatCode>_("$"* #,##0.00_);_("$"* \(#,##0.00\);_("$"* "-"??_);_(@_)</c:formatCode>
                <c:ptCount val="15"/>
                <c:pt idx="0">
                  <c:v>83</c:v>
                </c:pt>
                <c:pt idx="1">
                  <c:v>37.956249999999997</c:v>
                </c:pt>
                <c:pt idx="2">
                  <c:v>36.503493095044675</c:v>
                </c:pt>
                <c:pt idx="3">
                  <c:v>44.395992063492038</c:v>
                </c:pt>
                <c:pt idx="4">
                  <c:v>43.203951120162913</c:v>
                </c:pt>
                <c:pt idx="5">
                  <c:v>40.218342391304347</c:v>
                </c:pt>
                <c:pt idx="6">
                  <c:v>36.098297002724784</c:v>
                </c:pt>
                <c:pt idx="7">
                  <c:v>36.487187499999983</c:v>
                </c:pt>
                <c:pt idx="8">
                  <c:v>36.916716609589031</c:v>
                </c:pt>
                <c:pt idx="9">
                  <c:v>37.222530220925378</c:v>
                </c:pt>
                <c:pt idx="10">
                  <c:v>36.151767048282714</c:v>
                </c:pt>
                <c:pt idx="11">
                  <c:v>35.45395858708892</c:v>
                </c:pt>
                <c:pt idx="12">
                  <c:v>35.083305509181976</c:v>
                </c:pt>
                <c:pt idx="13">
                  <c:v>34.411990950226247</c:v>
                </c:pt>
                <c:pt idx="14">
                  <c:v>40.04821428571428</c:v>
                </c:pt>
              </c:numCache>
            </c:numRef>
          </c:val>
          <c:smooth val="0"/>
          <c:extLst>
            <c:ext xmlns:c16="http://schemas.microsoft.com/office/drawing/2014/chart" uri="{C3380CC4-5D6E-409C-BE32-E72D297353CC}">
              <c16:uniqueId val="{00000001-C5AB-42CB-8529-AA3B6AB96F7C}"/>
            </c:ext>
          </c:extLst>
        </c:ser>
        <c:dLbls>
          <c:showLegendKey val="0"/>
          <c:showVal val="0"/>
          <c:showCatName val="0"/>
          <c:showSerName val="0"/>
          <c:showPercent val="0"/>
          <c:showBubbleSize val="0"/>
        </c:dLbls>
        <c:marker val="1"/>
        <c:smooth val="0"/>
        <c:axId val="340500543"/>
        <c:axId val="1460048879"/>
      </c:lineChart>
      <c:catAx>
        <c:axId val="1484510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9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84509343"/>
        <c:crosses val="autoZero"/>
        <c:auto val="1"/>
        <c:lblAlgn val="ctr"/>
        <c:lblOffset val="100"/>
        <c:noMultiLvlLbl val="0"/>
      </c:catAx>
      <c:valAx>
        <c:axId val="1484509343"/>
        <c:scaling>
          <c:orientation val="minMax"/>
          <c:min val="0"/>
        </c:scaling>
        <c:delete val="0"/>
        <c:axPos val="l"/>
        <c:numFmt formatCode="_(&quot;$&quot;* #,##0.00_);_(&quot;$&quot;* \(#,##0.0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800" b="1" i="0" u="none" strike="noStrike" kern="1200" baseline="0">
                <a:solidFill>
                  <a:srgbClr val="FFFF00"/>
                </a:solidFill>
                <a:latin typeface="+mn-lt"/>
                <a:ea typeface="+mn-ea"/>
                <a:cs typeface="+mn-cs"/>
              </a:defRPr>
            </a:pPr>
            <a:endParaRPr lang="en-US"/>
          </a:p>
        </c:txPr>
        <c:crossAx val="1484510303"/>
        <c:crosses val="autoZero"/>
        <c:crossBetween val="between"/>
      </c:valAx>
      <c:valAx>
        <c:axId val="1460048879"/>
        <c:scaling>
          <c:orientation val="minMax"/>
        </c:scaling>
        <c:delete val="0"/>
        <c:axPos val="r"/>
        <c:numFmt formatCode="_(&quot;$&quot;* #,##0.00_);_(&quot;$&quot;* \(#,##0.0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800" b="1" i="0" u="none" strike="noStrike" kern="1200" baseline="0">
                <a:solidFill>
                  <a:schemeClr val="tx2"/>
                </a:solidFill>
                <a:latin typeface="+mn-lt"/>
                <a:ea typeface="+mn-ea"/>
                <a:cs typeface="+mn-cs"/>
              </a:defRPr>
            </a:pPr>
            <a:endParaRPr lang="en-US"/>
          </a:p>
        </c:txPr>
        <c:crossAx val="340500543"/>
        <c:crosses val="max"/>
        <c:crossBetween val="between"/>
      </c:valAx>
      <c:catAx>
        <c:axId val="340500543"/>
        <c:scaling>
          <c:orientation val="minMax"/>
        </c:scaling>
        <c:delete val="1"/>
        <c:axPos val="b"/>
        <c:numFmt formatCode="General" sourceLinked="1"/>
        <c:majorTickMark val="out"/>
        <c:minorTickMark val="none"/>
        <c:tickLblPos val="nextTo"/>
        <c:crossAx val="146004887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lang="en-US"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25-Vincent.xlsx]Pivot_Table_Quantities!PivotTable3</c:name>
    <c:fmtId val="51"/>
  </c:pivotSource>
  <c:chart>
    <c:title>
      <c:tx>
        <c:rich>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r>
              <a:rPr lang="en-US" sz="1100" b="0">
                <a:ln>
                  <a:solidFill>
                    <a:srgbClr val="FFFF00"/>
                  </a:solidFill>
                </a:ln>
                <a:solidFill>
                  <a:srgbClr val="FFFF00"/>
                </a:solidFill>
              </a:rPr>
              <a:t>Peak Hour by Quantities</a:t>
            </a:r>
          </a:p>
        </c:rich>
      </c:tx>
      <c:overlay val="0"/>
      <c:spPr>
        <a:noFill/>
        <a:ln>
          <a:noFill/>
        </a:ln>
        <a:effectLst/>
      </c:spPr>
      <c:txPr>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6691085918447815"/>
              <c:y val="-9.841051520229368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1.1333322477906806E-16"/>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9"/>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1"/>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2"/>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3"/>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4"/>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5"/>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7"/>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Pivot_Table_Quantities!$E$6</c:f>
              <c:strCache>
                <c:ptCount val="1"/>
                <c:pt idx="0">
                  <c:v>Total</c:v>
                </c:pt>
              </c:strCache>
            </c:strRef>
          </c:tx>
          <c:spPr>
            <a:ln w="28575" cap="rnd">
              <a:solidFill>
                <a:srgbClr val="FFFF00"/>
              </a:solidFill>
              <a:round/>
            </a:ln>
            <a:effectLst/>
          </c:spPr>
          <c:marker>
            <c:symbol val="circle"/>
            <c:size val="5"/>
            <c:spPr>
              <a:solidFill>
                <a:srgbClr val="A3220D"/>
              </a:solidFill>
              <a:ln w="12700">
                <a:solidFill>
                  <a:srgbClr val="C00000"/>
                </a:solidFill>
              </a:ln>
              <a:effectLst/>
            </c:spPr>
          </c:marker>
          <c:dPt>
            <c:idx val="3"/>
            <c:marker>
              <c:symbol val="circle"/>
              <c:size val="5"/>
              <c:spPr>
                <a:solidFill>
                  <a:srgbClr val="A3220D"/>
                </a:solidFill>
                <a:ln w="12700">
                  <a:solidFill>
                    <a:srgbClr val="C00000"/>
                  </a:solidFill>
                </a:ln>
                <a:effectLst/>
              </c:spPr>
            </c:marker>
            <c:bubble3D val="0"/>
            <c:extLst>
              <c:ext xmlns:c16="http://schemas.microsoft.com/office/drawing/2014/chart" uri="{C3380CC4-5D6E-409C-BE32-E72D297353CC}">
                <c16:uniqueId val="{00000000-F1F4-4BC7-B1A7-BF01BD1CEBCB}"/>
              </c:ext>
            </c:extLst>
          </c:dPt>
          <c:dPt>
            <c:idx val="9"/>
            <c:marker>
              <c:symbol val="circle"/>
              <c:size val="5"/>
              <c:spPr>
                <a:solidFill>
                  <a:srgbClr val="A3220D"/>
                </a:solidFill>
                <a:ln w="12700">
                  <a:solidFill>
                    <a:srgbClr val="C00000"/>
                  </a:solidFill>
                </a:ln>
                <a:effectLst/>
              </c:spPr>
            </c:marker>
            <c:bubble3D val="0"/>
            <c:extLst>
              <c:ext xmlns:c16="http://schemas.microsoft.com/office/drawing/2014/chart" uri="{C3380CC4-5D6E-409C-BE32-E72D297353CC}">
                <c16:uniqueId val="{00000001-F1F4-4BC7-B1A7-BF01BD1CEBCB}"/>
              </c:ext>
            </c:extLst>
          </c:dPt>
          <c:dLbls>
            <c:dLbl>
              <c:idx val="3"/>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9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F1F4-4BC7-B1A7-BF01BD1CEBCB}"/>
                </c:ext>
              </c:extLst>
            </c:dLbl>
            <c:dLbl>
              <c:idx val="9"/>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F1F4-4BC7-B1A7-BF01BD1CEBCB}"/>
                </c:ext>
              </c:extLst>
            </c:dLbl>
            <c:spPr>
              <a:noFill/>
              <a:ln>
                <a:noFill/>
              </a:ln>
              <a:effectLst/>
            </c:spPr>
            <c:txPr>
              <a:bodyPr rot="0" spcFirstLastPara="1" vertOverflow="ellipsis" vert="horz" wrap="square" lIns="38100" tIns="19050" rIns="38100" bIns="19050" anchor="ctr" anchorCtr="0">
                <a:spAutoFit/>
              </a:bodyPr>
              <a:lstStyle/>
              <a:p>
                <a:pPr algn="ctr">
                  <a:defRPr lang="en-US" sz="9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Pivot_Table_Quantities!$D$7:$D$21</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Pivot_Table_Quantities!$E$7:$E$21</c:f>
              <c:numCache>
                <c:formatCode>_(* #,##0_);_(* \(#,##0\);_(* "-"??_);_(@_)</c:formatCode>
                <c:ptCount val="15"/>
                <c:pt idx="0">
                  <c:v>4</c:v>
                </c:pt>
                <c:pt idx="1">
                  <c:v>18</c:v>
                </c:pt>
                <c:pt idx="2">
                  <c:v>2728</c:v>
                </c:pt>
                <c:pt idx="3">
                  <c:v>6776</c:v>
                </c:pt>
                <c:pt idx="4">
                  <c:v>6413</c:v>
                </c:pt>
                <c:pt idx="5">
                  <c:v>3613</c:v>
                </c:pt>
                <c:pt idx="6">
                  <c:v>3216</c:v>
                </c:pt>
                <c:pt idx="7">
                  <c:v>4239</c:v>
                </c:pt>
                <c:pt idx="8">
                  <c:v>5211</c:v>
                </c:pt>
                <c:pt idx="9">
                  <c:v>5417</c:v>
                </c:pt>
                <c:pt idx="10">
                  <c:v>4406</c:v>
                </c:pt>
                <c:pt idx="11">
                  <c:v>3534</c:v>
                </c:pt>
                <c:pt idx="12">
                  <c:v>2545</c:v>
                </c:pt>
                <c:pt idx="13">
                  <c:v>1386</c:v>
                </c:pt>
                <c:pt idx="14">
                  <c:v>68</c:v>
                </c:pt>
              </c:numCache>
            </c:numRef>
          </c:val>
          <c:smooth val="1"/>
          <c:extLst>
            <c:ext xmlns:c16="http://schemas.microsoft.com/office/drawing/2014/chart" uri="{C3380CC4-5D6E-409C-BE32-E72D297353CC}">
              <c16:uniqueId val="{00000002-F1F4-4BC7-B1A7-BF01BD1CEBCB}"/>
            </c:ext>
          </c:extLst>
        </c:ser>
        <c:dLbls>
          <c:showLegendKey val="0"/>
          <c:showVal val="0"/>
          <c:showCatName val="0"/>
          <c:showSerName val="0"/>
          <c:showPercent val="0"/>
          <c:showBubbleSize val="0"/>
        </c:dLbls>
        <c:marker val="1"/>
        <c:smooth val="0"/>
        <c:axId val="1484510303"/>
        <c:axId val="1484509343"/>
      </c:lineChart>
      <c:catAx>
        <c:axId val="1484510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10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84509343"/>
        <c:crosses val="autoZero"/>
        <c:auto val="1"/>
        <c:lblAlgn val="ctr"/>
        <c:lblOffset val="100"/>
        <c:noMultiLvlLbl val="0"/>
      </c:catAx>
      <c:valAx>
        <c:axId val="1484509343"/>
        <c:scaling>
          <c:orientation val="minMax"/>
          <c:min val="0"/>
        </c:scaling>
        <c:delete val="0"/>
        <c:axPos val="l"/>
        <c:numFmt formatCode="_(* #,##0_);_(* \(#,##0\);_(*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900" b="1" i="0" u="none" strike="noStrike" kern="1200" baseline="0">
                <a:solidFill>
                  <a:srgbClr val="FFFF00"/>
                </a:solidFill>
                <a:latin typeface="+mn-lt"/>
                <a:ea typeface="+mn-ea"/>
                <a:cs typeface="+mn-cs"/>
              </a:defRPr>
            </a:pPr>
            <a:endParaRPr lang="en-US"/>
          </a:p>
        </c:txPr>
        <c:crossAx val="148451030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25-Vincent.xlsx]Pivot_Table_Orders!PivotTable3</c:name>
    <c:fmtId val="34"/>
  </c:pivotSource>
  <c:chart>
    <c:title>
      <c:tx>
        <c:rich>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r>
              <a:rPr lang="en-US" sz="1100" b="0">
                <a:ln>
                  <a:solidFill>
                    <a:srgbClr val="FFFF00"/>
                  </a:solidFill>
                </a:ln>
                <a:solidFill>
                  <a:srgbClr val="FFFF00"/>
                </a:solidFill>
              </a:rPr>
              <a:t>Peak Hour by Orders</a:t>
            </a:r>
          </a:p>
        </c:rich>
      </c:tx>
      <c:overlay val="0"/>
      <c:spPr>
        <a:noFill/>
        <a:ln>
          <a:noFill/>
        </a:ln>
        <a:effectLst/>
      </c:spPr>
      <c:txPr>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7927462653147652"/>
              <c:y val="-9.225985800215033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7927462653147652"/>
              <c:y val="-9.225985800215033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2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2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7927462653147652"/>
              <c:y val="-9.225985800215033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2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s>
    <c:plotArea>
      <c:layout/>
      <c:lineChart>
        <c:grouping val="standard"/>
        <c:varyColors val="0"/>
        <c:ser>
          <c:idx val="0"/>
          <c:order val="0"/>
          <c:tx>
            <c:strRef>
              <c:f>Pivot_Table_Orders!$E$6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3"/>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24F5-4979-BF44-49B785EE6646}"/>
              </c:ext>
            </c:extLst>
          </c:dPt>
          <c:dPt>
            <c:idx val="4"/>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24F5-4979-BF44-49B785EE6646}"/>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2-24F5-4979-BF44-49B785EE6646}"/>
              </c:ext>
            </c:extLst>
          </c:dPt>
          <c:dPt>
            <c:idx val="10"/>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3-24F5-4979-BF44-49B785EE6646}"/>
              </c:ext>
            </c:extLst>
          </c:dPt>
          <c:dLbls>
            <c:dLbl>
              <c:idx val="3"/>
              <c:layout>
                <c:manualLayout>
                  <c:x val="-0.17927462653147652"/>
                  <c:y val="-9.225985800215033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9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24F5-4979-BF44-49B785EE6646}"/>
                </c:ext>
              </c:extLst>
            </c:dLbl>
            <c:dLbl>
              <c:idx val="9"/>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9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2-24F5-4979-BF44-49B785EE6646}"/>
                </c:ext>
              </c:extLst>
            </c:dLbl>
            <c:spPr>
              <a:noFill/>
              <a:ln>
                <a:noFill/>
              </a:ln>
              <a:effectLst/>
            </c:spPr>
            <c:txPr>
              <a:bodyPr rot="0" spcFirstLastPara="1" vertOverflow="ellipsis" vert="horz" wrap="square" lIns="38100" tIns="19050" rIns="38100" bIns="19050" anchor="ctr" anchorCtr="0">
                <a:spAutoFit/>
              </a:bodyPr>
              <a:lstStyle/>
              <a:p>
                <a:pPr algn="ctr">
                  <a:defRPr lang="en-US" sz="9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Pivot_Table_Orders!$D$7:$D$21</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Pivot_Table_Orders!$E$7:$E$21</c:f>
              <c:numCache>
                <c:formatCode>_(* #,##0_);_(* \(#,##0\);_(* "-"??_);_(@_)</c:formatCode>
                <c:ptCount val="15"/>
                <c:pt idx="0">
                  <c:v>1</c:v>
                </c:pt>
                <c:pt idx="1">
                  <c:v>8</c:v>
                </c:pt>
                <c:pt idx="2">
                  <c:v>1231</c:v>
                </c:pt>
                <c:pt idx="3">
                  <c:v>2520</c:v>
                </c:pt>
                <c:pt idx="4">
                  <c:v>2455</c:v>
                </c:pt>
                <c:pt idx="5">
                  <c:v>1472</c:v>
                </c:pt>
                <c:pt idx="6">
                  <c:v>1468</c:v>
                </c:pt>
                <c:pt idx="7">
                  <c:v>1920</c:v>
                </c:pt>
                <c:pt idx="8">
                  <c:v>2336</c:v>
                </c:pt>
                <c:pt idx="9">
                  <c:v>2399</c:v>
                </c:pt>
                <c:pt idx="10">
                  <c:v>2009</c:v>
                </c:pt>
                <c:pt idx="11">
                  <c:v>1642</c:v>
                </c:pt>
                <c:pt idx="12">
                  <c:v>1198</c:v>
                </c:pt>
                <c:pt idx="13">
                  <c:v>663</c:v>
                </c:pt>
                <c:pt idx="14">
                  <c:v>28</c:v>
                </c:pt>
              </c:numCache>
            </c:numRef>
          </c:val>
          <c:smooth val="1"/>
          <c:extLst>
            <c:ext xmlns:c16="http://schemas.microsoft.com/office/drawing/2014/chart" uri="{C3380CC4-5D6E-409C-BE32-E72D297353CC}">
              <c16:uniqueId val="{00000004-24F5-4979-BF44-49B785EE6646}"/>
            </c:ext>
          </c:extLst>
        </c:ser>
        <c:dLbls>
          <c:showLegendKey val="0"/>
          <c:showVal val="0"/>
          <c:showCatName val="0"/>
          <c:showSerName val="0"/>
          <c:showPercent val="0"/>
          <c:showBubbleSize val="0"/>
        </c:dLbls>
        <c:marker val="1"/>
        <c:smooth val="0"/>
        <c:axId val="1484510303"/>
        <c:axId val="1484509343"/>
      </c:lineChart>
      <c:catAx>
        <c:axId val="1484510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9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84509343"/>
        <c:crosses val="autoZero"/>
        <c:auto val="1"/>
        <c:lblAlgn val="ctr"/>
        <c:lblOffset val="100"/>
        <c:noMultiLvlLbl val="0"/>
      </c:catAx>
      <c:valAx>
        <c:axId val="1484509343"/>
        <c:scaling>
          <c:orientation val="minMax"/>
          <c:min val="0"/>
        </c:scaling>
        <c:delete val="0"/>
        <c:axPos val="l"/>
        <c:numFmt formatCode="_(* #,##0_);_(* \(#,##0\);_(*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900" b="1" i="0" u="none" strike="noStrike" kern="1200" baseline="0">
                <a:solidFill>
                  <a:srgbClr val="FFFF00"/>
                </a:solidFill>
                <a:latin typeface="+mn-lt"/>
                <a:ea typeface="+mn-ea"/>
                <a:cs typeface="+mn-cs"/>
              </a:defRPr>
            </a:pPr>
            <a:endParaRPr lang="en-US"/>
          </a:p>
        </c:txPr>
        <c:crossAx val="148451030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9"/>
  </c:pivotSource>
  <c:chart>
    <c:title>
      <c:tx>
        <c:rich>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r>
              <a:rPr lang="en-US" sz="11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9DBD-47D6-B629-A851886BB27B}"/>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9DBD-47D6-B629-A851886BB27B}"/>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rgbClr val="C00000"/>
                        </a:solidFill>
                        <a:latin typeface="+mn-lt"/>
                        <a:ea typeface="+mn-ea"/>
                        <a:cs typeface="+mn-cs"/>
                      </a:defRPr>
                    </a:pPr>
                    <a:fld id="{C0FB1BDB-EAFF-4CA8-9A82-25D53D46C7BC}" type="CATEGORYNAME">
                      <a:rPr lang="en-US" sz="900">
                        <a:solidFill>
                          <a:srgbClr val="C00000"/>
                        </a:solidFill>
                      </a:rPr>
                      <a:pPr>
                        <a:defRPr>
                          <a:solidFill>
                            <a:srgbClr val="C00000"/>
                          </a:solidFill>
                        </a:defRPr>
                      </a:pPr>
                      <a:t>[CATEGORY NAME]</a:t>
                    </a:fld>
                    <a:r>
                      <a:rPr lang="en-US" sz="900" baseline="0">
                        <a:solidFill>
                          <a:srgbClr val="C00000"/>
                        </a:solidFill>
                      </a:rPr>
                      <a:t>, </a:t>
                    </a:r>
                    <a:fld id="{53BCD553-8C53-454B-865C-3FB106B46615}" type="VALUE">
                      <a:rPr lang="en-US" sz="900" baseline="0">
                        <a:solidFill>
                          <a:srgbClr val="C00000"/>
                        </a:solidFill>
                      </a:rPr>
                      <a:pPr>
                        <a:defRPr>
                          <a:solidFill>
                            <a:srgbClr val="C00000"/>
                          </a:solidFill>
                        </a:defRPr>
                      </a:pPr>
                      <a:t>[VALUE]</a:t>
                    </a:fld>
                    <a:endParaRPr lang="en-US" sz="900" baseline="0">
                      <a:solidFill>
                        <a:srgbClr val="C00000"/>
                      </a:solidFill>
                    </a:endParaRPr>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rgbClr val="C00000"/>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9DBD-47D6-B629-A851886BB27B}"/>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rgbClr val="C00000"/>
                        </a:solidFill>
                        <a:latin typeface="+mn-lt"/>
                        <a:ea typeface="+mn-ea"/>
                        <a:cs typeface="+mn-cs"/>
                      </a:defRPr>
                    </a:pPr>
                    <a:fld id="{C31DC01A-1C53-400B-A8DE-4D5D18A097DE}" type="CATEGORYNAME">
                      <a:rPr lang="en-US" sz="900" b="0" i="0" u="none" strike="noStrike" kern="1200" baseline="0">
                        <a:solidFill>
                          <a:srgbClr val="C00000"/>
                        </a:solidFill>
                        <a:latin typeface="+mn-lt"/>
                        <a:ea typeface="+mn-ea"/>
                        <a:cs typeface="+mn-cs"/>
                      </a:rPr>
                      <a:pPr algn="ctr" rtl="0">
                        <a:defRPr lang="en-US">
                          <a:solidFill>
                            <a:srgbClr val="C00000"/>
                          </a:solidFill>
                        </a:defRPr>
                      </a:pPr>
                      <a:t>[CATEGORY NAME]</a:t>
                    </a:fld>
                    <a:r>
                      <a:rPr lang="en-US" sz="900" b="0" i="0" u="none" strike="noStrike" kern="1200" baseline="0">
                        <a:solidFill>
                          <a:srgbClr val="C00000"/>
                        </a:solidFill>
                        <a:latin typeface="+mn-lt"/>
                        <a:ea typeface="+mn-ea"/>
                        <a:cs typeface="+mn-cs"/>
                      </a:rPr>
                      <a:t>, </a:t>
                    </a:r>
                    <a:fld id="{FD29F36C-5511-466B-952F-510E897A0614}" type="VALUE">
                      <a:rPr lang="en-US" sz="900" b="0" i="0" u="none" strike="noStrike" kern="1200" baseline="0">
                        <a:solidFill>
                          <a:srgbClr val="C00000"/>
                        </a:solidFill>
                        <a:latin typeface="+mn-lt"/>
                        <a:ea typeface="+mn-ea"/>
                        <a:cs typeface="+mn-cs"/>
                      </a:rPr>
                      <a:pPr algn="ctr" rtl="0">
                        <a:defRPr lang="en-US">
                          <a:solidFill>
                            <a:srgbClr val="C00000"/>
                          </a:solidFill>
                        </a:defRPr>
                      </a:pPr>
                      <a:t>[VALUE]</a:t>
                    </a:fld>
                    <a:endParaRPr lang="en-US" sz="900" b="0" i="0" u="none" strike="noStrike" kern="1200" baseline="0">
                      <a:solidFill>
                        <a:srgbClr val="C00000"/>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rgbClr val="C00000"/>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9DBD-47D6-B629-A851886BB27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C00000"/>
                    </a:solidFill>
                    <a:latin typeface="+mn-lt"/>
                    <a:ea typeface="+mn-ea"/>
                    <a:cs typeface="+mn-cs"/>
                  </a:defRPr>
                </a:pPr>
                <a:endParaRPr lang="en-US"/>
              </a:p>
            </c:txPr>
            <c:dLblPos val="l"/>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9DBD-47D6-B629-A851886BB27B}"/>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25-Vincent.xlsx]Pivot_Table_Revenue!PivotTable3</c:name>
    <c:fmtId val="15"/>
  </c:pivotSource>
  <c:chart>
    <c:title>
      <c:tx>
        <c:rich>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r>
              <a:rPr lang="en-US" sz="1100" b="0">
                <a:ln>
                  <a:solidFill>
                    <a:srgbClr val="FFFF00"/>
                  </a:solidFill>
                </a:ln>
                <a:solidFill>
                  <a:srgbClr val="FFFF00"/>
                </a:solidFill>
              </a:rPr>
              <a:t>Peak Hour by Revenue ($)</a:t>
            </a:r>
          </a:p>
        </c:rich>
      </c:tx>
      <c:overlay val="0"/>
      <c:spPr>
        <a:noFill/>
        <a:ln>
          <a:noFill/>
        </a:ln>
        <a:effectLst/>
      </c:spPr>
      <c:txPr>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layout>
            <c:manualLayout>
              <c:x val="-1.1333322477906806E-16"/>
              <c:y val="-8.6109200802007013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layout>
            <c:manualLayout>
              <c:x val="-0.21636592857247167"/>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50" b="0" i="0" u="none" strike="noStrike" kern="1200" baseline="0">
                  <a:solidFill>
                    <a:schemeClr val="accent2">
                      <a:lumMod val="75000"/>
                    </a:schemeClr>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1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layout>
            <c:manualLayout>
              <c:x val="-0.21636592857247167"/>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50" b="0" i="0" u="none" strike="noStrike" kern="1200" baseline="0">
                  <a:solidFill>
                    <a:schemeClr val="accent2">
                      <a:lumMod val="75000"/>
                    </a:schemeClr>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1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layout>
            <c:manualLayout>
              <c:x val="-1.1333322477906806E-16"/>
              <c:y val="-8.6109200802007013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layout>
            <c:manualLayout>
              <c:x val="-0.21636592857247167"/>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50" b="0" i="0" u="none" strike="noStrike" kern="1200" baseline="0">
                  <a:solidFill>
                    <a:schemeClr val="accent2">
                      <a:lumMod val="75000"/>
                    </a:schemeClr>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layout>
            <c:manualLayout>
              <c:x val="-1.1333322477906806E-16"/>
              <c:y val="-8.6109200802007013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pivotFmt>
    </c:pivotFmts>
    <c:plotArea>
      <c:layout/>
      <c:lineChart>
        <c:grouping val="standard"/>
        <c:varyColors val="0"/>
        <c:ser>
          <c:idx val="0"/>
          <c:order val="0"/>
          <c:tx>
            <c:strRef>
              <c:f>Pivot_Table_Revenue!$E$6</c:f>
              <c:strCache>
                <c:ptCount val="1"/>
                <c:pt idx="0">
                  <c:v>Total</c:v>
                </c:pt>
              </c:strCache>
            </c:strRef>
          </c:tx>
          <c:spPr>
            <a:ln w="28575" cap="rnd">
              <a:solidFill>
                <a:srgbClr val="FFFF00"/>
              </a:solidFill>
              <a:round/>
            </a:ln>
            <a:effectLst/>
          </c:spPr>
          <c:marker>
            <c:symbol val="circle"/>
            <c:size val="5"/>
            <c:spPr>
              <a:solidFill>
                <a:srgbClr val="C00000">
                  <a:alpha val="99000"/>
                </a:srgbClr>
              </a:solidFill>
              <a:ln w="9525">
                <a:solidFill>
                  <a:srgbClr val="A3220D"/>
                </a:solidFill>
              </a:ln>
              <a:effectLst/>
            </c:spPr>
          </c:marker>
          <c:dPt>
            <c:idx val="0"/>
            <c:marker>
              <c:symbol val="circle"/>
              <c:size val="5"/>
              <c:spPr>
                <a:solidFill>
                  <a:srgbClr val="C00000">
                    <a:alpha val="99000"/>
                  </a:srgbClr>
                </a:solidFill>
                <a:ln w="9525">
                  <a:solidFill>
                    <a:srgbClr val="A3220D"/>
                  </a:solidFill>
                </a:ln>
                <a:effectLst/>
              </c:spPr>
            </c:marker>
            <c:bubble3D val="0"/>
            <c:extLst>
              <c:ext xmlns:c16="http://schemas.microsoft.com/office/drawing/2014/chart" uri="{C3380CC4-5D6E-409C-BE32-E72D297353CC}">
                <c16:uniqueId val="{00000000-C7DA-493A-82C0-0BA826B7BF7A}"/>
              </c:ext>
            </c:extLst>
          </c:dPt>
          <c:dPt>
            <c:idx val="3"/>
            <c:marker>
              <c:symbol val="circle"/>
              <c:size val="5"/>
              <c:spPr>
                <a:solidFill>
                  <a:srgbClr val="C00000">
                    <a:alpha val="99000"/>
                  </a:srgbClr>
                </a:solidFill>
                <a:ln w="9525">
                  <a:solidFill>
                    <a:srgbClr val="A3220D"/>
                  </a:solidFill>
                </a:ln>
                <a:effectLst/>
              </c:spPr>
            </c:marker>
            <c:bubble3D val="0"/>
            <c:extLst>
              <c:ext xmlns:c16="http://schemas.microsoft.com/office/drawing/2014/chart" uri="{C3380CC4-5D6E-409C-BE32-E72D297353CC}">
                <c16:uniqueId val="{00000001-C7DA-493A-82C0-0BA826B7BF7A}"/>
              </c:ext>
            </c:extLst>
          </c:dPt>
          <c:dPt>
            <c:idx val="4"/>
            <c:marker>
              <c:symbol val="circle"/>
              <c:size val="5"/>
              <c:spPr>
                <a:solidFill>
                  <a:srgbClr val="C00000">
                    <a:alpha val="99000"/>
                  </a:srgbClr>
                </a:solidFill>
                <a:ln w="9525">
                  <a:solidFill>
                    <a:srgbClr val="A3220D"/>
                  </a:solidFill>
                </a:ln>
                <a:effectLst/>
              </c:spPr>
            </c:marker>
            <c:bubble3D val="0"/>
            <c:extLst>
              <c:ext xmlns:c16="http://schemas.microsoft.com/office/drawing/2014/chart" uri="{C3380CC4-5D6E-409C-BE32-E72D297353CC}">
                <c16:uniqueId val="{00000002-C7DA-493A-82C0-0BA826B7BF7A}"/>
              </c:ext>
            </c:extLst>
          </c:dPt>
          <c:dPt>
            <c:idx val="9"/>
            <c:marker>
              <c:symbol val="circle"/>
              <c:size val="5"/>
              <c:spPr>
                <a:solidFill>
                  <a:srgbClr val="C00000">
                    <a:alpha val="99000"/>
                  </a:srgbClr>
                </a:solidFill>
                <a:ln w="9525">
                  <a:solidFill>
                    <a:srgbClr val="A3220D"/>
                  </a:solidFill>
                </a:ln>
                <a:effectLst/>
              </c:spPr>
            </c:marker>
            <c:bubble3D val="0"/>
            <c:extLst>
              <c:ext xmlns:c16="http://schemas.microsoft.com/office/drawing/2014/chart" uri="{C3380CC4-5D6E-409C-BE32-E72D297353CC}">
                <c16:uniqueId val="{00000003-C7DA-493A-82C0-0BA826B7BF7A}"/>
              </c:ext>
            </c:extLst>
          </c:dPt>
          <c:dPt>
            <c:idx val="10"/>
            <c:marker>
              <c:symbol val="circle"/>
              <c:size val="5"/>
              <c:spPr>
                <a:solidFill>
                  <a:srgbClr val="C00000">
                    <a:alpha val="99000"/>
                  </a:srgbClr>
                </a:solidFill>
                <a:ln w="9525">
                  <a:solidFill>
                    <a:srgbClr val="A3220D"/>
                  </a:solidFill>
                </a:ln>
                <a:effectLst/>
              </c:spPr>
            </c:marker>
            <c:bubble3D val="0"/>
            <c:extLst>
              <c:ext xmlns:c16="http://schemas.microsoft.com/office/drawing/2014/chart" uri="{C3380CC4-5D6E-409C-BE32-E72D297353CC}">
                <c16:uniqueId val="{00000004-C7DA-493A-82C0-0BA826B7BF7A}"/>
              </c:ext>
            </c:extLst>
          </c:dPt>
          <c:dLbls>
            <c:dLbl>
              <c:idx val="3"/>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lang="en-US" sz="8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C7DA-493A-82C0-0BA826B7BF7A}"/>
                </c:ext>
              </c:extLst>
            </c:dLbl>
            <c:dLbl>
              <c:idx val="9"/>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lang="en-US" sz="8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3-C7DA-493A-82C0-0BA826B7BF7A}"/>
                </c:ext>
              </c:extLst>
            </c:dLbl>
            <c:spPr>
              <a:noFill/>
              <a:ln>
                <a:noFill/>
              </a:ln>
              <a:effectLst/>
            </c:spPr>
            <c:txPr>
              <a:bodyPr rot="0" spcFirstLastPara="1" vertOverflow="ellipsis" vert="horz" wrap="square" lIns="38100" tIns="19050" rIns="38100" bIns="19050" anchor="ctr" anchorCtr="1">
                <a:spAutoFit/>
              </a:bodyPr>
              <a:lstStyle/>
              <a:p>
                <a:pPr>
                  <a:defRPr lang="en-US" sz="8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Pivot_Table_Revenue!$D$7:$D$21</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Pivot_Table_Revenue!$E$7:$E$21</c:f>
              <c:numCache>
                <c:formatCode>_("$"* #,##0.00_);_("$"* \(#,##0.00\);_("$"* "-"??_);_(@_)</c:formatCode>
                <c:ptCount val="15"/>
                <c:pt idx="0">
                  <c:v>83</c:v>
                </c:pt>
                <c:pt idx="1">
                  <c:v>303.64999999999998</c:v>
                </c:pt>
                <c:pt idx="2">
                  <c:v>44935.799999999996</c:v>
                </c:pt>
                <c:pt idx="3">
                  <c:v>111877.89999999994</c:v>
                </c:pt>
                <c:pt idx="4">
                  <c:v>106065.69999999995</c:v>
                </c:pt>
                <c:pt idx="5">
                  <c:v>59201.4</c:v>
                </c:pt>
                <c:pt idx="6">
                  <c:v>52992.299999999988</c:v>
                </c:pt>
                <c:pt idx="7">
                  <c:v>70055.399999999965</c:v>
                </c:pt>
                <c:pt idx="8">
                  <c:v>86237.449999999968</c:v>
                </c:pt>
                <c:pt idx="9">
                  <c:v>89296.849999999977</c:v>
                </c:pt>
                <c:pt idx="10">
                  <c:v>72628.89999999998</c:v>
                </c:pt>
                <c:pt idx="11">
                  <c:v>58215.4</c:v>
                </c:pt>
                <c:pt idx="12">
                  <c:v>42029.8</c:v>
                </c:pt>
                <c:pt idx="13">
                  <c:v>22815.15</c:v>
                </c:pt>
                <c:pt idx="14">
                  <c:v>1121.3499999999999</c:v>
                </c:pt>
              </c:numCache>
            </c:numRef>
          </c:val>
          <c:smooth val="1"/>
          <c:extLst>
            <c:ext xmlns:c16="http://schemas.microsoft.com/office/drawing/2014/chart" uri="{C3380CC4-5D6E-409C-BE32-E72D297353CC}">
              <c16:uniqueId val="{00000005-C7DA-493A-82C0-0BA826B7BF7A}"/>
            </c:ext>
          </c:extLst>
        </c:ser>
        <c:dLbls>
          <c:showLegendKey val="0"/>
          <c:showVal val="0"/>
          <c:showCatName val="0"/>
          <c:showSerName val="0"/>
          <c:showPercent val="0"/>
          <c:showBubbleSize val="0"/>
        </c:dLbls>
        <c:marker val="1"/>
        <c:smooth val="0"/>
        <c:axId val="1484510303"/>
        <c:axId val="1484509343"/>
      </c:lineChart>
      <c:catAx>
        <c:axId val="1484510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9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84509343"/>
        <c:crosses val="autoZero"/>
        <c:auto val="1"/>
        <c:lblAlgn val="ctr"/>
        <c:lblOffset val="100"/>
        <c:noMultiLvlLbl val="0"/>
      </c:catAx>
      <c:valAx>
        <c:axId val="1484509343"/>
        <c:scaling>
          <c:orientation val="minMax"/>
          <c:max val="140000"/>
          <c:min val="0"/>
        </c:scaling>
        <c:delete val="0"/>
        <c:axPos val="l"/>
        <c:numFmt formatCode="_(&quot;$&quot;* #,##0_);_(&quot;$&quot;* \(#,##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900" b="1" i="0" u="none" strike="noStrike" kern="1200" baseline="0">
                <a:solidFill>
                  <a:srgbClr val="FFFF00"/>
                </a:solidFill>
                <a:latin typeface="+mn-lt"/>
                <a:ea typeface="+mn-ea"/>
                <a:cs typeface="+mn-cs"/>
              </a:defRPr>
            </a:pPr>
            <a:endParaRPr lang="en-US"/>
          </a:p>
        </c:txPr>
        <c:crossAx val="1484510303"/>
        <c:crosses val="autoZero"/>
        <c:crossBetween val="between"/>
        <c:majorUnit val="20000"/>
        <c:minorUnit val="4000"/>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22"/>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25-Vincent.xlsx]Pivot_Table_Orders!PivotTable2</c:name>
    <c:fmtId val="47"/>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Orders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Pivot_Table_Orders!$B$6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5531-4238-884D-237060372F7F}"/>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5531-4238-884D-237060372F7F}"/>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5531-4238-884D-237060372F7F}"/>
                </c:ext>
              </c:extLst>
            </c:dLbl>
            <c:dLbl>
              <c:idx val="9"/>
              <c:layout>
                <c:manualLayout>
                  <c:x val="-0.30247913840010687"/>
                  <c:y val="0.1140224960733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16435468964872041"/>
                      <c:h val="0.29227572847119015"/>
                    </c:manualLayout>
                  </c15:layout>
                </c:ext>
                <c:ext xmlns:c16="http://schemas.microsoft.com/office/drawing/2014/chart" uri="{C3380CC4-5D6E-409C-BE32-E72D297353CC}">
                  <c16:uniqueId val="{00000001-5531-4238-884D-237060372F7F}"/>
                </c:ext>
              </c:extLst>
            </c:dLbl>
            <c:spPr>
              <a:solidFill>
                <a:srgbClr val="C00000"/>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Pivot_Table_Orders!$A$7:$A$19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Pivot_Table_Orders!$B$7:$B$19</c:f>
              <c:numCache>
                <c:formatCode>_(* #,##0_);_(* \(#,##0\);_(* "-"??_);_(@_)</c:formatCode>
                <c:ptCount val="12"/>
                <c:pt idx="0">
                  <c:v>1845</c:v>
                </c:pt>
                <c:pt idx="1">
                  <c:v>1685</c:v>
                </c:pt>
                <c:pt idx="2">
                  <c:v>1840</c:v>
                </c:pt>
                <c:pt idx="3">
                  <c:v>1799</c:v>
                </c:pt>
                <c:pt idx="4">
                  <c:v>1853</c:v>
                </c:pt>
                <c:pt idx="5">
                  <c:v>1773</c:v>
                </c:pt>
                <c:pt idx="6">
                  <c:v>1935</c:v>
                </c:pt>
                <c:pt idx="7">
                  <c:v>1841</c:v>
                </c:pt>
                <c:pt idx="8">
                  <c:v>1661</c:v>
                </c:pt>
                <c:pt idx="9">
                  <c:v>1646</c:v>
                </c:pt>
                <c:pt idx="10">
                  <c:v>1792</c:v>
                </c:pt>
                <c:pt idx="11">
                  <c:v>1680</c:v>
                </c:pt>
              </c:numCache>
            </c:numRef>
          </c:val>
          <c:smooth val="1"/>
          <c:extLst>
            <c:ext xmlns:c16="http://schemas.microsoft.com/office/drawing/2014/chart" uri="{C3380CC4-5D6E-409C-BE32-E72D297353CC}">
              <c16:uniqueId val="{00000002-5531-4238-884D-237060372F7F}"/>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25-Vincent.xlsx]Pivot_Table_Quantities!PivotTable2</c:name>
    <c:fmtId val="66"/>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Quantities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Pivot_Table_Quantities!$B$6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8645-4AF1-B699-F1656AF63C79}"/>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8645-4AF1-B699-F1656AF63C79}"/>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8645-4AF1-B699-F1656AF63C79}"/>
                </c:ext>
              </c:extLst>
            </c:dLbl>
            <c:dLbl>
              <c:idx val="9"/>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8645-4AF1-B699-F1656AF63C79}"/>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Pivot_Table_Quantities!$A$7:$A$19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Pivot_Table_Quantities!$B$7:$B$19</c:f>
              <c:numCache>
                <c:formatCode>_(* #,##0_);_(* \(#,##0\);_(* "-"??_);_(@_)</c:formatCode>
                <c:ptCount val="12"/>
                <c:pt idx="0">
                  <c:v>4232</c:v>
                </c:pt>
                <c:pt idx="1">
                  <c:v>3961</c:v>
                </c:pt>
                <c:pt idx="2">
                  <c:v>4261</c:v>
                </c:pt>
                <c:pt idx="3">
                  <c:v>4151</c:v>
                </c:pt>
                <c:pt idx="4">
                  <c:v>4328</c:v>
                </c:pt>
                <c:pt idx="5">
                  <c:v>4107</c:v>
                </c:pt>
                <c:pt idx="6">
                  <c:v>4392</c:v>
                </c:pt>
                <c:pt idx="7">
                  <c:v>4168</c:v>
                </c:pt>
                <c:pt idx="8">
                  <c:v>3890</c:v>
                </c:pt>
                <c:pt idx="9">
                  <c:v>3883</c:v>
                </c:pt>
                <c:pt idx="10">
                  <c:v>4266</c:v>
                </c:pt>
                <c:pt idx="11">
                  <c:v>3935</c:v>
                </c:pt>
              </c:numCache>
            </c:numRef>
          </c:val>
          <c:smooth val="1"/>
          <c:extLst>
            <c:ext xmlns:c16="http://schemas.microsoft.com/office/drawing/2014/chart" uri="{C3380CC4-5D6E-409C-BE32-E72D297353CC}">
              <c16:uniqueId val="{00000002-8645-4AF1-B699-F1656AF63C7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25-Vincent.xlsx]Pivot_Table_AOV!PivotTable2</c:name>
    <c:fmtId val="78"/>
  </c:pivotSource>
  <c:chart>
    <c:title>
      <c:tx>
        <c:rich>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r>
              <a:rPr lang="en-US" sz="1100" b="1">
                <a:solidFill>
                  <a:srgbClr val="FFFF00"/>
                </a:solidFill>
              </a:rPr>
              <a:t>Monthly AOV and Revenue per Pizza</a:t>
            </a:r>
          </a:p>
        </c:rich>
      </c:tx>
      <c:overlay val="0"/>
      <c:spPr>
        <a:noFill/>
        <a:ln>
          <a:noFill/>
        </a:ln>
        <a:effectLst/>
      </c:spPr>
      <c:txPr>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Pivot_Table_AOV!$C$6</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Pivot_Table_AOV!$C$7:$C$19</c:f>
              <c:numCache>
                <c:formatCode>_("$"* #,##0.00_);_("$"* \(#,##0.00\);_("$"* "-"??_);_(@_)</c:formatCode>
                <c:ptCount val="12"/>
                <c:pt idx="0">
                  <c:v>16.491800567107742</c:v>
                </c:pt>
                <c:pt idx="1">
                  <c:v>16.450290330724563</c:v>
                </c:pt>
                <c:pt idx="2">
                  <c:v>16.521262614409757</c:v>
                </c:pt>
                <c:pt idx="3">
                  <c:v>16.559094194170068</c:v>
                </c:pt>
                <c:pt idx="4">
                  <c:v>16.497862754158962</c:v>
                </c:pt>
                <c:pt idx="5">
                  <c:v>16.61314828341855</c:v>
                </c:pt>
                <c:pt idx="6">
                  <c:v>16.520469034608379</c:v>
                </c:pt>
                <c:pt idx="7">
                  <c:v>16.381537907869479</c:v>
                </c:pt>
                <c:pt idx="8">
                  <c:v>16.498727506426736</c:v>
                </c:pt>
                <c:pt idx="9">
                  <c:v>16.489209374195212</c:v>
                </c:pt>
                <c:pt idx="10">
                  <c:v>16.501488513830282</c:v>
                </c:pt>
                <c:pt idx="11">
                  <c:v>16.442477763659468</c:v>
                </c:pt>
              </c:numCache>
            </c:numRef>
          </c:val>
          <c:smooth val="1"/>
          <c:extLst>
            <c:ext xmlns:c16="http://schemas.microsoft.com/office/drawing/2014/chart" uri="{C3380CC4-5D6E-409C-BE32-E72D297353CC}">
              <c16:uniqueId val="{00000000-F5F6-4496-B275-7466C6284DD3}"/>
            </c:ext>
          </c:extLst>
        </c:ser>
        <c:dLbls>
          <c:showLegendKey val="0"/>
          <c:showVal val="0"/>
          <c:showCatName val="0"/>
          <c:showSerName val="0"/>
          <c:showPercent val="0"/>
          <c:showBubbleSize val="0"/>
        </c:dLbls>
        <c:marker val="1"/>
        <c:smooth val="0"/>
        <c:axId val="1479393343"/>
        <c:axId val="1479393823"/>
      </c:lineChart>
      <c:lineChart>
        <c:grouping val="standard"/>
        <c:varyColors val="0"/>
        <c:ser>
          <c:idx val="0"/>
          <c:order val="0"/>
          <c:tx>
            <c:strRef>
              <c:f>Pivot_Table_AOV!$B$6</c:f>
              <c:strCache>
                <c:ptCount val="1"/>
                <c:pt idx="0">
                  <c:v>Revenue per Order (AOV)</c:v>
                </c:pt>
              </c:strCache>
            </c:strRef>
          </c:tx>
          <c:spPr>
            <a:ln w="28575" cap="rnd">
              <a:solidFill>
                <a:schemeClr val="accent1"/>
              </a:solidFill>
              <a:round/>
            </a:ln>
            <a:effectLst/>
          </c:spPr>
          <c:marker>
            <c:symbol val="square"/>
            <c:size val="5"/>
            <c:spPr>
              <a:solidFill>
                <a:srgbClr val="C00000"/>
              </a:solidFill>
              <a:ln w="9525">
                <a:solidFill>
                  <a:schemeClr val="accent1"/>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Pivot_Table_AOV!$B$7:$B$19</c:f>
              <c:numCache>
                <c:formatCode>_("$"* #,##0.00_);_("$"* \(#,##0.00\);_("$"* "-"??_);_(@_)</c:formatCode>
                <c:ptCount val="12"/>
                <c:pt idx="0">
                  <c:v>37.828346883468811</c:v>
                </c:pt>
                <c:pt idx="1">
                  <c:v>38.670385756676559</c:v>
                </c:pt>
                <c:pt idx="2">
                  <c:v>38.259293478260858</c:v>
                </c:pt>
                <c:pt idx="3">
                  <c:v>38.208337965536387</c:v>
                </c:pt>
                <c:pt idx="4">
                  <c:v>38.533594171613593</c:v>
                </c:pt>
                <c:pt idx="5">
                  <c:v>38.482910321488994</c:v>
                </c:pt>
                <c:pt idx="6">
                  <c:v>37.497622739018084</c:v>
                </c:pt>
                <c:pt idx="7">
                  <c:v>37.087588267246055</c:v>
                </c:pt>
                <c:pt idx="8">
                  <c:v>38.639403973509935</c:v>
                </c:pt>
                <c:pt idx="9">
                  <c:v>38.898906439854194</c:v>
                </c:pt>
                <c:pt idx="10">
                  <c:v>39.283119419642844</c:v>
                </c:pt>
                <c:pt idx="11">
                  <c:v>38.512589285714284</c:v>
                </c:pt>
              </c:numCache>
            </c:numRef>
          </c:val>
          <c:smooth val="1"/>
          <c:extLst>
            <c:ext xmlns:c16="http://schemas.microsoft.com/office/drawing/2014/chart" uri="{C3380CC4-5D6E-409C-BE32-E72D297353CC}">
              <c16:uniqueId val="{00000001-F5F6-4496-B275-7466C6284DD3}"/>
            </c:ext>
          </c:extLst>
        </c:ser>
        <c:dLbls>
          <c:showLegendKey val="0"/>
          <c:showVal val="0"/>
          <c:showCatName val="0"/>
          <c:showSerName val="0"/>
          <c:showPercent val="0"/>
          <c:showBubbleSize val="0"/>
        </c:dLbls>
        <c:marker val="1"/>
        <c:smooth val="0"/>
        <c:axId val="981756559"/>
        <c:axId val="981745039"/>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valAx>
        <c:axId val="981745039"/>
        <c:scaling>
          <c:orientation val="minMax"/>
        </c:scaling>
        <c:delete val="0"/>
        <c:axPos val="r"/>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2"/>
                </a:solidFill>
                <a:latin typeface="+mn-lt"/>
                <a:ea typeface="+mn-ea"/>
                <a:cs typeface="+mn-cs"/>
              </a:defRPr>
            </a:pPr>
            <a:endParaRPr lang="en-US"/>
          </a:p>
        </c:txPr>
        <c:crossAx val="981756559"/>
        <c:crosses val="max"/>
        <c:crossBetween val="between"/>
      </c:valAx>
      <c:catAx>
        <c:axId val="981756559"/>
        <c:scaling>
          <c:orientation val="minMax"/>
        </c:scaling>
        <c:delete val="1"/>
        <c:axPos val="b"/>
        <c:numFmt formatCode="General" sourceLinked="1"/>
        <c:majorTickMark val="out"/>
        <c:minorTickMark val="none"/>
        <c:tickLblPos val="nextTo"/>
        <c:crossAx val="98174503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25-Vincent.xlsx]Pivot_Table_AOV!PivotTable4</c:name>
    <c:fmtId val="62"/>
  </c:pivotSource>
  <c:chart>
    <c:title>
      <c:tx>
        <c:rich>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r>
              <a:rPr lang="en-US" sz="1100" b="0">
                <a:ln>
                  <a:solidFill>
                    <a:srgbClr val="FFFF00"/>
                  </a:solidFill>
                </a:ln>
                <a:solidFill>
                  <a:srgbClr val="FFFF00"/>
                </a:solidFill>
              </a:rPr>
              <a:t>Hourly AOV and Revenue</a:t>
            </a:r>
            <a:r>
              <a:rPr lang="en-US" sz="1100" b="0" baseline="0">
                <a:ln>
                  <a:solidFill>
                    <a:srgbClr val="FFFF00"/>
                  </a:solidFill>
                </a:ln>
                <a:solidFill>
                  <a:srgbClr val="FFFF00"/>
                </a:solidFill>
              </a:rPr>
              <a:t> per Pizza</a:t>
            </a:r>
            <a:endParaRPr lang="en-US" sz="1100" b="0">
              <a:ln>
                <a:solidFill>
                  <a:srgbClr val="FFFF00"/>
                </a:solidFill>
              </a:ln>
              <a:solidFill>
                <a:srgbClr val="FFFF00"/>
              </a:solidFill>
            </a:endParaRPr>
          </a:p>
        </c:rich>
      </c:tx>
      <c:overlay val="0"/>
      <c:spPr>
        <a:noFill/>
        <a:ln>
          <a:noFill/>
        </a:ln>
        <a:effectLst/>
      </c:spPr>
      <c:txPr>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6691085918447815"/>
              <c:y val="-9.841051520229368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1.1333322477906806E-16"/>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9"/>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1"/>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2"/>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3"/>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4"/>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5"/>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7"/>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1"/>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3"/>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Pivot_Table_AOV!$K$12</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Pivot_Table_AOV!$I$13:$I$27</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Pivot_Table_AOV!$K$13:$K$27</c:f>
              <c:numCache>
                <c:formatCode>_("$"* #,##0.00_);_("$"* \(#,##0.00\);_("$"* "-"??_);_(@_)</c:formatCode>
                <c:ptCount val="15"/>
                <c:pt idx="0">
                  <c:v>20.75</c:v>
                </c:pt>
                <c:pt idx="1">
                  <c:v>16.869444444444444</c:v>
                </c:pt>
                <c:pt idx="2">
                  <c:v>16.472067448680349</c:v>
                </c:pt>
                <c:pt idx="3">
                  <c:v>16.510906139315221</c:v>
                </c:pt>
                <c:pt idx="4">
                  <c:v>16.539170435053791</c:v>
                </c:pt>
                <c:pt idx="5">
                  <c:v>16.385662884029891</c:v>
                </c:pt>
                <c:pt idx="6">
                  <c:v>16.477705223880594</c:v>
                </c:pt>
                <c:pt idx="7">
                  <c:v>16.526397735314923</c:v>
                </c:pt>
                <c:pt idx="8">
                  <c:v>16.549117251966987</c:v>
                </c:pt>
                <c:pt idx="9">
                  <c:v>16.484557873361634</c:v>
                </c:pt>
                <c:pt idx="10">
                  <c:v>16.48408987743985</c:v>
                </c:pt>
                <c:pt idx="11">
                  <c:v>16.472948500282968</c:v>
                </c:pt>
                <c:pt idx="12">
                  <c:v>16.514656188605109</c:v>
                </c:pt>
                <c:pt idx="13">
                  <c:v>16.461147186147187</c:v>
                </c:pt>
                <c:pt idx="14">
                  <c:v>16.490441176470586</c:v>
                </c:pt>
              </c:numCache>
            </c:numRef>
          </c:val>
          <c:smooth val="1"/>
          <c:extLst>
            <c:ext xmlns:c16="http://schemas.microsoft.com/office/drawing/2014/chart" uri="{C3380CC4-5D6E-409C-BE32-E72D297353CC}">
              <c16:uniqueId val="{00000000-C5AB-42CB-8529-AA3B6AB96F7C}"/>
            </c:ext>
          </c:extLst>
        </c:ser>
        <c:dLbls>
          <c:showLegendKey val="0"/>
          <c:showVal val="0"/>
          <c:showCatName val="0"/>
          <c:showSerName val="0"/>
          <c:showPercent val="0"/>
          <c:showBubbleSize val="0"/>
        </c:dLbls>
        <c:marker val="1"/>
        <c:smooth val="0"/>
        <c:axId val="1484510303"/>
        <c:axId val="1484509343"/>
      </c:lineChart>
      <c:lineChart>
        <c:grouping val="standard"/>
        <c:varyColors val="0"/>
        <c:ser>
          <c:idx val="0"/>
          <c:order val="0"/>
          <c:tx>
            <c:strRef>
              <c:f>Pivot_Table_AOV!$J$12</c:f>
              <c:strCache>
                <c:ptCount val="1"/>
                <c:pt idx="0">
                  <c:v>Revenue per Order (AOV)</c:v>
                </c:pt>
              </c:strCache>
            </c:strRef>
          </c:tx>
          <c:spPr>
            <a:ln w="28575" cap="rnd">
              <a:solidFill>
                <a:schemeClr val="accent1"/>
              </a:solidFill>
              <a:round/>
            </a:ln>
            <a:effectLst/>
          </c:spPr>
          <c:marker>
            <c:symbol val="square"/>
            <c:size val="6"/>
            <c:spPr>
              <a:solidFill>
                <a:srgbClr val="C00000"/>
              </a:solidFill>
              <a:ln w="9525">
                <a:solidFill>
                  <a:schemeClr val="accent1"/>
                </a:solidFill>
              </a:ln>
              <a:effectLst/>
            </c:spPr>
          </c:marker>
          <c:cat>
            <c:strRef>
              <c:f>Pivot_Table_AOV!$I$13:$I$27</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Pivot_Table_AOV!$J$13:$J$27</c:f>
              <c:numCache>
                <c:formatCode>_("$"* #,##0.00_);_("$"* \(#,##0.00\);_("$"* "-"??_);_(@_)</c:formatCode>
                <c:ptCount val="15"/>
                <c:pt idx="0">
                  <c:v>83</c:v>
                </c:pt>
                <c:pt idx="1">
                  <c:v>37.956249999999997</c:v>
                </c:pt>
                <c:pt idx="2">
                  <c:v>36.503493095044675</c:v>
                </c:pt>
                <c:pt idx="3">
                  <c:v>44.395992063492038</c:v>
                </c:pt>
                <c:pt idx="4">
                  <c:v>43.203951120162913</c:v>
                </c:pt>
                <c:pt idx="5">
                  <c:v>40.218342391304347</c:v>
                </c:pt>
                <c:pt idx="6">
                  <c:v>36.098297002724784</c:v>
                </c:pt>
                <c:pt idx="7">
                  <c:v>36.487187499999983</c:v>
                </c:pt>
                <c:pt idx="8">
                  <c:v>36.916716609589031</c:v>
                </c:pt>
                <c:pt idx="9">
                  <c:v>37.222530220925378</c:v>
                </c:pt>
                <c:pt idx="10">
                  <c:v>36.151767048282714</c:v>
                </c:pt>
                <c:pt idx="11">
                  <c:v>35.45395858708892</c:v>
                </c:pt>
                <c:pt idx="12">
                  <c:v>35.083305509181976</c:v>
                </c:pt>
                <c:pt idx="13">
                  <c:v>34.411990950226247</c:v>
                </c:pt>
                <c:pt idx="14">
                  <c:v>40.04821428571428</c:v>
                </c:pt>
              </c:numCache>
            </c:numRef>
          </c:val>
          <c:smooth val="0"/>
          <c:extLst>
            <c:ext xmlns:c16="http://schemas.microsoft.com/office/drawing/2014/chart" uri="{C3380CC4-5D6E-409C-BE32-E72D297353CC}">
              <c16:uniqueId val="{00000001-C5AB-42CB-8529-AA3B6AB96F7C}"/>
            </c:ext>
          </c:extLst>
        </c:ser>
        <c:dLbls>
          <c:showLegendKey val="0"/>
          <c:showVal val="0"/>
          <c:showCatName val="0"/>
          <c:showSerName val="0"/>
          <c:showPercent val="0"/>
          <c:showBubbleSize val="0"/>
        </c:dLbls>
        <c:marker val="1"/>
        <c:smooth val="0"/>
        <c:axId val="340500543"/>
        <c:axId val="1460048879"/>
      </c:lineChart>
      <c:catAx>
        <c:axId val="1484510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9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84509343"/>
        <c:crosses val="autoZero"/>
        <c:auto val="1"/>
        <c:lblAlgn val="ctr"/>
        <c:lblOffset val="100"/>
        <c:noMultiLvlLbl val="0"/>
      </c:catAx>
      <c:valAx>
        <c:axId val="1484509343"/>
        <c:scaling>
          <c:orientation val="minMax"/>
          <c:min val="0"/>
        </c:scaling>
        <c:delete val="0"/>
        <c:axPos val="l"/>
        <c:numFmt formatCode="_(&quot;$&quot;* #,##0.00_);_(&quot;$&quot;* \(#,##0.0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800" b="1" i="0" u="none" strike="noStrike" kern="1200" baseline="0">
                <a:solidFill>
                  <a:srgbClr val="FFFF00"/>
                </a:solidFill>
                <a:latin typeface="+mn-lt"/>
                <a:ea typeface="+mn-ea"/>
                <a:cs typeface="+mn-cs"/>
              </a:defRPr>
            </a:pPr>
            <a:endParaRPr lang="en-US"/>
          </a:p>
        </c:txPr>
        <c:crossAx val="1484510303"/>
        <c:crosses val="autoZero"/>
        <c:crossBetween val="between"/>
      </c:valAx>
      <c:valAx>
        <c:axId val="1460048879"/>
        <c:scaling>
          <c:orientation val="minMax"/>
        </c:scaling>
        <c:delete val="0"/>
        <c:axPos val="r"/>
        <c:numFmt formatCode="_(&quot;$&quot;* #,##0.00_);_(&quot;$&quot;* \(#,##0.0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800" b="1" i="0" u="none" strike="noStrike" kern="1200" baseline="0">
                <a:solidFill>
                  <a:schemeClr val="tx2"/>
                </a:solidFill>
                <a:latin typeface="+mn-lt"/>
                <a:ea typeface="+mn-ea"/>
                <a:cs typeface="+mn-cs"/>
              </a:defRPr>
            </a:pPr>
            <a:endParaRPr lang="en-US"/>
          </a:p>
        </c:txPr>
        <c:crossAx val="340500543"/>
        <c:crosses val="max"/>
        <c:crossBetween val="between"/>
      </c:valAx>
      <c:catAx>
        <c:axId val="340500543"/>
        <c:scaling>
          <c:orientation val="minMax"/>
        </c:scaling>
        <c:delete val="1"/>
        <c:axPos val="b"/>
        <c:numFmt formatCode="General" sourceLinked="1"/>
        <c:majorTickMark val="out"/>
        <c:minorTickMark val="none"/>
        <c:tickLblPos val="nextTo"/>
        <c:crossAx val="146004887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lang="en-US"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25-Vincent.xlsx]Pivot_Table_Revenue!PivotTable4</c:name>
    <c:fmtId val="16"/>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dirty="0">
                <a:solidFill>
                  <a:srgbClr val="FFFF00"/>
                </a:solidFill>
                <a:latin typeface="+mn-lt"/>
                <a:ea typeface="+mn-ea"/>
                <a:cs typeface="+mn-cs"/>
              </a:rPr>
              <a:t>Top 5 Pizzas by Revenue ($)</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Pivot_Table_Revenue!$H$6</c:f>
              <c:strCache>
                <c:ptCount val="1"/>
                <c:pt idx="0">
                  <c:v>Total</c:v>
                </c:pt>
              </c:strCache>
            </c:strRef>
          </c:tx>
          <c:spPr>
            <a:solidFill>
              <a:srgbClr val="FFFF00"/>
            </a:solidFill>
            <a:ln w="22225">
              <a:solidFill>
                <a:srgbClr val="A3220D"/>
              </a:solidFill>
            </a:ln>
            <a:effectLst/>
          </c:spPr>
          <c:invertIfNegative val="0"/>
          <c:dLbls>
            <c:spPr>
              <a:solidFill>
                <a:srgbClr val="C00000"/>
              </a:solidFill>
              <a:ln>
                <a:noFill/>
              </a:ln>
              <a:effectLst/>
            </c:spPr>
            <c:txPr>
              <a:bodyPr rot="0" spcFirstLastPara="1" vertOverflow="ellipsis" vert="horz" wrap="square" anchor="ctr" anchorCtr="0"/>
              <a:lstStyle/>
              <a:p>
                <a:pPr algn="ct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Pivot_Table_Revenue!$G$7:$G$11</c:f>
              <c:strCache>
                <c:ptCount val="5"/>
                <c:pt idx="0">
                  <c:v>The Spicy Italian Pizza</c:v>
                </c:pt>
                <c:pt idx="1">
                  <c:v>The Classic Deluxe Pizza</c:v>
                </c:pt>
                <c:pt idx="2">
                  <c:v>The California Chicken Pizza</c:v>
                </c:pt>
                <c:pt idx="3">
                  <c:v>The Barbecue Chicken Pizza</c:v>
                </c:pt>
                <c:pt idx="4">
                  <c:v>The Thai Chicken Pizza</c:v>
                </c:pt>
              </c:strCache>
            </c:strRef>
          </c:cat>
          <c:val>
            <c:numRef>
              <c:f>Pivot_Table_Revenue!$H$7:$H$11</c:f>
              <c:numCache>
                <c:formatCode>_("$"* #,##0.00_);_("$"* \(#,##0.00\);_("$"* "-"??_);_(@_)</c:formatCode>
                <c:ptCount val="5"/>
                <c:pt idx="0">
                  <c:v>34831.25</c:v>
                </c:pt>
                <c:pt idx="1">
                  <c:v>38180.5</c:v>
                </c:pt>
                <c:pt idx="2">
                  <c:v>41409.5</c:v>
                </c:pt>
                <c:pt idx="3">
                  <c:v>42768</c:v>
                </c:pt>
                <c:pt idx="4">
                  <c:v>43434.25</c:v>
                </c:pt>
              </c:numCache>
            </c:numRef>
          </c:val>
          <c:extLst>
            <c:ext xmlns:c16="http://schemas.microsoft.com/office/drawing/2014/chart" uri="{C3380CC4-5D6E-409C-BE32-E72D297353CC}">
              <c16:uniqueId val="{00000000-5F4B-4206-8379-8D393C82501F}"/>
            </c:ext>
          </c:extLst>
        </c:ser>
        <c:dLbls>
          <c:showLegendKey val="0"/>
          <c:showVal val="0"/>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quot;$&quot;* #,##0.00_);_(&quot;$&quot;* \(#,##0.00\);_(&quot;$&quot;*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25-Vincent.xlsx]Pivot_Table_Orders!PivotTable4</c:name>
    <c:fmtId val="17"/>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Top 5 Pizzas by Orders</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Pivot_Table_Orders!$H$6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Pivot_Table_Orders!$G$7:$G$11</c:f>
              <c:strCache>
                <c:ptCount val="5"/>
                <c:pt idx="0">
                  <c:v>The Thai Chicken Pizza</c:v>
                </c:pt>
                <c:pt idx="1">
                  <c:v>The Barbecue Chicken Pizza</c:v>
                </c:pt>
                <c:pt idx="2">
                  <c:v>The Pepperoni Pizza</c:v>
                </c:pt>
                <c:pt idx="3">
                  <c:v>The Hawaiian Pizza</c:v>
                </c:pt>
                <c:pt idx="4">
                  <c:v>The Classic Deluxe Pizza</c:v>
                </c:pt>
              </c:strCache>
            </c:strRef>
          </c:cat>
          <c:val>
            <c:numRef>
              <c:f>Pivot_Table_Orders!$H$7:$H$11</c:f>
              <c:numCache>
                <c:formatCode>_(* #,##0_);_(* \(#,##0\);_(* "-"??_);_(@_)</c:formatCode>
                <c:ptCount val="5"/>
                <c:pt idx="0">
                  <c:v>2225</c:v>
                </c:pt>
                <c:pt idx="1">
                  <c:v>2273</c:v>
                </c:pt>
                <c:pt idx="2">
                  <c:v>2278</c:v>
                </c:pt>
                <c:pt idx="3">
                  <c:v>2280</c:v>
                </c:pt>
                <c:pt idx="4">
                  <c:v>2329</c:v>
                </c:pt>
              </c:numCache>
            </c:numRef>
          </c:val>
          <c:extLst>
            <c:ext xmlns:c16="http://schemas.microsoft.com/office/drawing/2014/chart" uri="{C3380CC4-5D6E-409C-BE32-E72D297353CC}">
              <c16:uniqueId val="{00000000-4181-4028-8C70-B0D76007C9FB}"/>
            </c:ext>
          </c:extLst>
        </c:ser>
        <c:dLbls>
          <c:showLegendKey val="0"/>
          <c:showVal val="0"/>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 #,##0_);_(* \(#,##0\);_(*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25-Vincent.xlsx]Pivot_Table_Quantities!PivotTable4</c:name>
    <c:fmtId val="28"/>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Top 5 Pizzas by Quantities</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Pivot_Table_Quantities!$H$6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Pivot_Table_Quantities!$G$7:$G$11</c:f>
              <c:strCache>
                <c:ptCount val="5"/>
                <c:pt idx="0">
                  <c:v>The Thai Chicken Pizza</c:v>
                </c:pt>
                <c:pt idx="1">
                  <c:v>The Pepperoni Pizza</c:v>
                </c:pt>
                <c:pt idx="2">
                  <c:v>The Hawaiian Pizza</c:v>
                </c:pt>
                <c:pt idx="3">
                  <c:v>The Barbecue Chicken Pizza</c:v>
                </c:pt>
                <c:pt idx="4">
                  <c:v>The Classic Deluxe Pizza</c:v>
                </c:pt>
              </c:strCache>
            </c:strRef>
          </c:cat>
          <c:val>
            <c:numRef>
              <c:f>Pivot_Table_Quantities!$H$7:$H$11</c:f>
              <c:numCache>
                <c:formatCode>_(* #,##0_);_(* \(#,##0\);_(* "-"??_);_(@_)</c:formatCode>
                <c:ptCount val="5"/>
                <c:pt idx="0">
                  <c:v>2371</c:v>
                </c:pt>
                <c:pt idx="1">
                  <c:v>2418</c:v>
                </c:pt>
                <c:pt idx="2">
                  <c:v>2422</c:v>
                </c:pt>
                <c:pt idx="3">
                  <c:v>2432</c:v>
                </c:pt>
                <c:pt idx="4">
                  <c:v>2453</c:v>
                </c:pt>
              </c:numCache>
            </c:numRef>
          </c:val>
          <c:extLst>
            <c:ext xmlns:c16="http://schemas.microsoft.com/office/drawing/2014/chart" uri="{C3380CC4-5D6E-409C-BE32-E72D297353CC}">
              <c16:uniqueId val="{00000000-6AB3-42CD-B37A-3685D8482082}"/>
            </c:ext>
          </c:extLst>
        </c:ser>
        <c:dLbls>
          <c:showLegendKey val="0"/>
          <c:showVal val="0"/>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 #,##0_);_(* \(#,##0\);_(*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25-Vincent.xlsx]Pivot_Table_AOV!PivotTable5</c:name>
    <c:fmtId val="65"/>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Top 5 Pizzas by Revenue per Pizza</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2"/>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Pivot_Table_AOV!$F$6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Pivot_Table_AOV!$E$7:$E$12</c:f>
              <c:strCache>
                <c:ptCount val="5"/>
                <c:pt idx="0">
                  <c:v>The Southwest Chicken Pizza</c:v>
                </c:pt>
                <c:pt idx="1">
                  <c:v>The Thai Chicken Pizza</c:v>
                </c:pt>
                <c:pt idx="2">
                  <c:v>The Five Cheese Pizza</c:v>
                </c:pt>
                <c:pt idx="3">
                  <c:v>The Greek Pizza</c:v>
                </c:pt>
                <c:pt idx="4">
                  <c:v>The Brie Carre Pizza</c:v>
                </c:pt>
              </c:strCache>
            </c:strRef>
          </c:cat>
          <c:val>
            <c:numRef>
              <c:f>Pivot_Table_AOV!$F$7:$F$12</c:f>
              <c:numCache>
                <c:formatCode>_("$"* #,##0.00_);_("$"* \(#,##0.00\);_("$"* "-"??_);_(@_)</c:formatCode>
                <c:ptCount val="5"/>
                <c:pt idx="0">
                  <c:v>18.104199269692227</c:v>
                </c:pt>
                <c:pt idx="1">
                  <c:v>18.31895824546605</c:v>
                </c:pt>
                <c:pt idx="2">
                  <c:v>18.5</c:v>
                </c:pt>
                <c:pt idx="3">
                  <c:v>20.038098591549311</c:v>
                </c:pt>
                <c:pt idx="4">
                  <c:v>23.649999999999984</c:v>
                </c:pt>
              </c:numCache>
            </c:numRef>
          </c:val>
          <c:extLst>
            <c:ext xmlns:c16="http://schemas.microsoft.com/office/drawing/2014/chart" uri="{C3380CC4-5D6E-409C-BE32-E72D297353CC}">
              <c16:uniqueId val="{00000000-1953-4F1A-A56C-38A59A1427B7}"/>
            </c:ext>
          </c:extLst>
        </c:ser>
        <c:dLbls>
          <c:dLblPos val="ctr"/>
          <c:showLegendKey val="0"/>
          <c:showVal val="1"/>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quot;$&quot;* #,##0.00_);_(&quot;$&quot;* \(#,##0.00\);_(&quot;$&quot;*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22"/>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25-Vincent.xlsx]Pivot_Table_Revenue!PivotTable2</c:name>
    <c:fmtId val="-1"/>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Revenue ($)</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sz="900" baseline="0"/>
                  <a:t>, </a:t>
                </a:r>
                <a:fld id="{53BCD553-8C53-454B-865C-3FB106B46615}" type="VALUE">
                  <a:rPr lang="en-US" sz="900"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s>
    <c:plotArea>
      <c:layout/>
      <c:lineChart>
        <c:grouping val="standard"/>
        <c:varyColors val="0"/>
        <c:ser>
          <c:idx val="0"/>
          <c:order val="0"/>
          <c:tx>
            <c:strRef>
              <c:f>Pivot_Table_Revenue!$B$6</c:f>
              <c:strCache>
                <c:ptCount val="1"/>
                <c:pt idx="0">
                  <c:v>Total</c:v>
                </c:pt>
              </c:strCache>
            </c:strRef>
          </c:tx>
          <c:spPr>
            <a:ln w="28575" cap="rnd">
              <a:solidFill>
                <a:srgbClr val="FFFF00"/>
              </a:solidFill>
              <a:round/>
            </a:ln>
            <a:effectLst/>
          </c:spPr>
          <c:marker>
            <c:symbol val="circle"/>
            <c:size val="6"/>
            <c:spPr>
              <a:solidFill>
                <a:srgbClr val="A3220D"/>
              </a:solidFill>
              <a:ln w="9525">
                <a:solidFill>
                  <a:srgbClr val="A3220D"/>
                </a:solidFill>
              </a:ln>
              <a:effectLst/>
            </c:spPr>
          </c:marker>
          <c:dPt>
            <c:idx val="6"/>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0-3546-41C6-9568-ACE011080E29}"/>
              </c:ext>
            </c:extLst>
          </c:dPt>
          <c:dPt>
            <c:idx val="9"/>
            <c:marker>
              <c:symbol val="circle"/>
              <c:size val="6"/>
              <c:spPr>
                <a:solidFill>
                  <a:srgbClr val="A3220D"/>
                </a:solidFill>
                <a:ln w="9525">
                  <a:solidFill>
                    <a:srgbClr val="A3220D"/>
                  </a:solidFill>
                </a:ln>
                <a:effectLst/>
              </c:spPr>
            </c:marker>
            <c:bubble3D val="0"/>
            <c:extLst>
              <c:ext xmlns:c16="http://schemas.microsoft.com/office/drawing/2014/chart" uri="{C3380CC4-5D6E-409C-BE32-E72D297353CC}">
                <c16:uniqueId val="{00000001-3546-41C6-9568-ACE011080E29}"/>
              </c:ext>
            </c:extLst>
          </c:dPt>
          <c:dLbls>
            <c:dLbl>
              <c:idx val="6"/>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sz="900">
                        <a:solidFill>
                          <a:schemeClr val="accent2">
                            <a:lumMod val="75000"/>
                          </a:schemeClr>
                        </a:solidFill>
                      </a:rPr>
                      <a:pPr>
                        <a:defRPr/>
                      </a:pPr>
                      <a:t>[CATEGORY NAME]</a:t>
                    </a:fld>
                    <a:r>
                      <a:rPr lang="en-US" sz="900" baseline="0"/>
                      <a:t>, </a:t>
                    </a:r>
                    <a:fld id="{53BCD553-8C53-454B-865C-3FB106B46615}" type="VALUE">
                      <a:rPr lang="en-US" sz="900" baseline="0">
                        <a:solidFill>
                          <a:schemeClr val="accent2">
                            <a:lumMod val="75000"/>
                          </a:schemeClr>
                        </a:solidFill>
                      </a:rPr>
                      <a:pPr>
                        <a:defRPr/>
                      </a:pPr>
                      <a:t>[VALUE]</a:t>
                    </a:fld>
                    <a:endParaRPr lang="en-US" sz="900"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0-3546-41C6-9568-ACE011080E29}"/>
                </c:ext>
              </c:extLst>
            </c:dLbl>
            <c:dLbl>
              <c:idx val="9"/>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a:solidFill>
                            <a:schemeClr val="accent2">
                              <a:lumMod val="75000"/>
                            </a:schemeClr>
                          </a:solidFill>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546-41C6-9568-ACE011080E2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Pivot_Table_Revenue!$A$7:$A$19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Pivot_Table_Revenue!$B$7:$B$19</c:f>
              <c:numCache>
                <c:formatCode>_("$"* #,##0.00_);_("$"* \(#,##0.00\);_("$"* "-"??_);_(@_)</c:formatCode>
                <c:ptCount val="12"/>
                <c:pt idx="0">
                  <c:v>69793.299999999959</c:v>
                </c:pt>
                <c:pt idx="1">
                  <c:v>65159.6</c:v>
                </c:pt>
                <c:pt idx="2">
                  <c:v>70397.099999999977</c:v>
                </c:pt>
                <c:pt idx="3">
                  <c:v>68736.799999999959</c:v>
                </c:pt>
                <c:pt idx="4">
                  <c:v>71402.749999999985</c:v>
                </c:pt>
                <c:pt idx="5">
                  <c:v>68230.199999999983</c:v>
                </c:pt>
                <c:pt idx="6">
                  <c:v>72557.899999999994</c:v>
                </c:pt>
                <c:pt idx="7">
                  <c:v>68278.249999999985</c:v>
                </c:pt>
                <c:pt idx="8">
                  <c:v>64180.05</c:v>
                </c:pt>
                <c:pt idx="9">
                  <c:v>64027.600000000006</c:v>
                </c:pt>
                <c:pt idx="10">
                  <c:v>70395.349999999977</c:v>
                </c:pt>
                <c:pt idx="11">
                  <c:v>64701.15</c:v>
                </c:pt>
              </c:numCache>
            </c:numRef>
          </c:val>
          <c:smooth val="1"/>
          <c:extLst>
            <c:ext xmlns:c16="http://schemas.microsoft.com/office/drawing/2014/chart" uri="{C3380CC4-5D6E-409C-BE32-E72D297353CC}">
              <c16:uniqueId val="{00000002-3546-41C6-9568-ACE011080E2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quot;$&quot;* #,##0.00_);_(&quot;$&quot;* \(#,##0.00\);_(&quot;$&quot;* &quot;-&quot;??_);_(@_)" sourceLinked="1"/>
        <c:majorTickMark val="out"/>
        <c:minorTickMark val="none"/>
        <c:tickLblPos val="nextTo"/>
        <c:crossAx val="147939334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25-Vincent.xlsx]Pivot_Table_Orders!PivotTable2</c:name>
    <c:fmtId val="47"/>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Orders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Pivot_Table_Orders!$B$6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5531-4238-884D-237060372F7F}"/>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5531-4238-884D-237060372F7F}"/>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5531-4238-884D-237060372F7F}"/>
                </c:ext>
              </c:extLst>
            </c:dLbl>
            <c:dLbl>
              <c:idx val="9"/>
              <c:layout>
                <c:manualLayout>
                  <c:x val="-0.30247913840010687"/>
                  <c:y val="0.1140224960733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16435468964872041"/>
                      <c:h val="0.29227572847119015"/>
                    </c:manualLayout>
                  </c15:layout>
                </c:ext>
                <c:ext xmlns:c16="http://schemas.microsoft.com/office/drawing/2014/chart" uri="{C3380CC4-5D6E-409C-BE32-E72D297353CC}">
                  <c16:uniqueId val="{00000001-5531-4238-884D-237060372F7F}"/>
                </c:ext>
              </c:extLst>
            </c:dLbl>
            <c:spPr>
              <a:solidFill>
                <a:srgbClr val="C00000"/>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rgbClr val="C00000"/>
                    </a:solidFill>
                    <a:latin typeface="+mn-lt"/>
                    <a:ea typeface="+mn-ea"/>
                    <a:cs typeface="+mn-cs"/>
                  </a:defRPr>
                </a:pPr>
                <a:endParaRPr lang="en-US"/>
              </a:p>
            </c:txPr>
            <c:dLblPos val="l"/>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Pivot_Table_Orders!$A$7:$A$19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Pivot_Table_Orders!$B$7:$B$19</c:f>
              <c:numCache>
                <c:formatCode>_(* #,##0_);_(* \(#,##0\);_(* "-"??_);_(@_)</c:formatCode>
                <c:ptCount val="12"/>
                <c:pt idx="0">
                  <c:v>1845</c:v>
                </c:pt>
                <c:pt idx="1">
                  <c:v>1685</c:v>
                </c:pt>
                <c:pt idx="2">
                  <c:v>1840</c:v>
                </c:pt>
                <c:pt idx="3">
                  <c:v>1799</c:v>
                </c:pt>
                <c:pt idx="4">
                  <c:v>1853</c:v>
                </c:pt>
                <c:pt idx="5">
                  <c:v>1773</c:v>
                </c:pt>
                <c:pt idx="6">
                  <c:v>1935</c:v>
                </c:pt>
                <c:pt idx="7">
                  <c:v>1841</c:v>
                </c:pt>
                <c:pt idx="8">
                  <c:v>1661</c:v>
                </c:pt>
                <c:pt idx="9">
                  <c:v>1646</c:v>
                </c:pt>
                <c:pt idx="10">
                  <c:v>1792</c:v>
                </c:pt>
                <c:pt idx="11">
                  <c:v>1680</c:v>
                </c:pt>
              </c:numCache>
            </c:numRef>
          </c:val>
          <c:smooth val="1"/>
          <c:extLst>
            <c:ext xmlns:c16="http://schemas.microsoft.com/office/drawing/2014/chart" uri="{C3380CC4-5D6E-409C-BE32-E72D297353CC}">
              <c16:uniqueId val="{00000002-5531-4238-884D-237060372F7F}"/>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25-Vincent.xlsx]Pivot_Table_Quantities!PivotTable2</c:name>
    <c:fmtId val="66"/>
  </c:pivotSource>
  <c:chart>
    <c:title>
      <c:tx>
        <c:rich>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r>
              <a:rPr lang="en-US" sz="1400" b="1">
                <a:solidFill>
                  <a:srgbClr val="FFFF00"/>
                </a:solidFill>
              </a:rPr>
              <a:t>Peak Month by Quantities</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s>
    <c:plotArea>
      <c:layout/>
      <c:lineChart>
        <c:grouping val="standard"/>
        <c:varyColors val="0"/>
        <c:ser>
          <c:idx val="0"/>
          <c:order val="0"/>
          <c:tx>
            <c:strRef>
              <c:f>Pivot_Table_Quantities!$B$6</c:f>
              <c:strCache>
                <c:ptCount val="1"/>
                <c:pt idx="0">
                  <c:v>Total</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dPt>
            <c:idx val="6"/>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0-8645-4AF1-B699-F1656AF63C79}"/>
              </c:ext>
            </c:extLst>
          </c:dPt>
          <c:dPt>
            <c:idx val="9"/>
            <c:marker>
              <c:symbol val="circle"/>
              <c:size val="5"/>
              <c:spPr>
                <a:solidFill>
                  <a:srgbClr val="C00000"/>
                </a:solidFill>
                <a:ln w="9525">
                  <a:solidFill>
                    <a:srgbClr val="C00000"/>
                  </a:solidFill>
                </a:ln>
                <a:effectLst/>
              </c:spPr>
            </c:marker>
            <c:bubble3D val="0"/>
            <c:extLst>
              <c:ext xmlns:c16="http://schemas.microsoft.com/office/drawing/2014/chart" uri="{C3380CC4-5D6E-409C-BE32-E72D297353CC}">
                <c16:uniqueId val="{00000001-8645-4AF1-B699-F1656AF63C79}"/>
              </c:ext>
            </c:extLst>
          </c:dPt>
          <c:dLbls>
            <c:dLbl>
              <c:idx val="6"/>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0-8645-4AF1-B699-F1656AF63C79}"/>
                </c:ext>
              </c:extLst>
            </c:dLbl>
            <c:dLbl>
              <c:idx val="9"/>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 xmlns:c16="http://schemas.microsoft.com/office/drawing/2014/chart" uri="{C3380CC4-5D6E-409C-BE32-E72D297353CC}">
                  <c16:uniqueId val="{00000001-8645-4AF1-B699-F1656AF63C79}"/>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0"/>
              </c:ext>
            </c:extLst>
          </c:dLbls>
          <c:cat>
            <c:strRef>
              <c:f>Pivot_Table_Quantities!$A$7:$A$19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Pivot_Table_Quantities!$B$7:$B$19</c:f>
              <c:numCache>
                <c:formatCode>_(* #,##0_);_(* \(#,##0\);_(* "-"??_);_(@_)</c:formatCode>
                <c:ptCount val="12"/>
                <c:pt idx="0">
                  <c:v>4232</c:v>
                </c:pt>
                <c:pt idx="1">
                  <c:v>3961</c:v>
                </c:pt>
                <c:pt idx="2">
                  <c:v>4261</c:v>
                </c:pt>
                <c:pt idx="3">
                  <c:v>4151</c:v>
                </c:pt>
                <c:pt idx="4">
                  <c:v>4328</c:v>
                </c:pt>
                <c:pt idx="5">
                  <c:v>4107</c:v>
                </c:pt>
                <c:pt idx="6">
                  <c:v>4392</c:v>
                </c:pt>
                <c:pt idx="7">
                  <c:v>4168</c:v>
                </c:pt>
                <c:pt idx="8">
                  <c:v>3890</c:v>
                </c:pt>
                <c:pt idx="9">
                  <c:v>3883</c:v>
                </c:pt>
                <c:pt idx="10">
                  <c:v>4266</c:v>
                </c:pt>
                <c:pt idx="11">
                  <c:v>3935</c:v>
                </c:pt>
              </c:numCache>
            </c:numRef>
          </c:val>
          <c:smooth val="1"/>
          <c:extLst>
            <c:ext xmlns:c16="http://schemas.microsoft.com/office/drawing/2014/chart" uri="{C3380CC4-5D6E-409C-BE32-E72D297353CC}">
              <c16:uniqueId val="{00000002-8645-4AF1-B699-F1656AF63C79}"/>
            </c:ext>
          </c:extLst>
        </c:ser>
        <c:dLbls>
          <c:dLblPos val="t"/>
          <c:showLegendKey val="0"/>
          <c:showVal val="1"/>
          <c:showCatName val="0"/>
          <c:showSerName val="0"/>
          <c:showPercent val="0"/>
          <c:showBubbleSize val="0"/>
        </c:dLbls>
        <c:marker val="1"/>
        <c:smooth val="0"/>
        <c:axId val="1479393343"/>
        <c:axId val="1479393823"/>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1"/>
        <c:axPos val="l"/>
        <c:numFmt formatCode="_(* #,##0_);_(* \(#,##0\);_(* &quot;-&quot;??_);_(@_)" sourceLinked="1"/>
        <c:majorTickMark val="out"/>
        <c:minorTickMark val="none"/>
        <c:tickLblPos val="nextTo"/>
        <c:crossAx val="147939334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25-Vincent.xlsx]Pivot_Table_AOV!PivotTable2</c:name>
    <c:fmtId val="78"/>
  </c:pivotSource>
  <c:chart>
    <c:title>
      <c:tx>
        <c:rich>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r>
              <a:rPr lang="en-US" sz="1100" b="1">
                <a:solidFill>
                  <a:srgbClr val="FFFF00"/>
                </a:solidFill>
              </a:rPr>
              <a:t>Monthly AOV and Revenue per Pizza</a:t>
            </a:r>
          </a:p>
        </c:rich>
      </c:tx>
      <c:overlay val="0"/>
      <c:spPr>
        <a:noFill/>
        <a:ln>
          <a:noFill/>
        </a:ln>
        <a:effectLst/>
      </c:spPr>
      <c:txPr>
        <a:bodyPr rot="0" spcFirstLastPara="1" vertOverflow="ellipsis" vert="horz" wrap="square" anchor="ctr" anchorCtr="1"/>
        <a:lstStyle/>
        <a:p>
          <a:pPr>
            <a:defRPr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rgbClr val="FFFF00"/>
            </a:solidFill>
            <a:round/>
          </a:ln>
          <a:effectLst/>
        </c:spPr>
        <c:marker>
          <c:symbol val="circle"/>
          <c:size val="6"/>
          <c:spPr>
            <a:solidFill>
              <a:srgbClr val="FFFF00"/>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b"/>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1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1"/>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2"/>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pivotFmt>
      <c:pivotFmt>
        <c:idx val="23"/>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4"/>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5"/>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7"/>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28"/>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accent2">
                      <a:lumMod val="75000"/>
                    </a:schemeClr>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fld id="{C0FB1BDB-EAFF-4CA8-9A82-25D53D46C7BC}" type="CATEGORYNAME">
                  <a:rPr lang="en-US">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[CATEGORY NAME]</a:t>
                </a:fld>
                <a:r>
                  <a:rPr lang="en-US" baseline="0"/>
                  <a:t>, </a:t>
                </a:r>
                <a:fld id="{53BCD553-8C53-454B-865C-3FB106B46615}" type="VALUE">
                  <a:rPr lang="en-US" baseline="0">
                    <a:solidFill>
                      <a:schemeClr val="accent2">
                        <a:lumMod val="75000"/>
                      </a:schemeClr>
                    </a:solidFill>
                  </a:rPr>
                  <a:pPr>
                    <a:defRPr sz="900" b="0" i="0" u="none" strike="noStrike" kern="1200" baseline="0">
                      <a:solidFill>
                        <a:schemeClr val="dk1">
                          <a:lumMod val="65000"/>
                          <a:lumOff val="35000"/>
                        </a:schemeClr>
                      </a:solidFill>
                      <a:latin typeface="+mn-lt"/>
                      <a:ea typeface="+mn-ea"/>
                      <a:cs typeface="+mn-cs"/>
                    </a:defRPr>
                  </a:pPr>
                  <a:t>[VALUE]</a:t>
                </a:fld>
                <a:endParaRPr lang="en-US" baseline="0"/>
              </a:p>
            </c:rich>
          </c:tx>
          <c:spPr>
            <a:solidFill>
              <a:sysClr val="window" lastClr="FFFFFF"/>
            </a:solidFill>
            <a:ln>
              <a:solidFill>
                <a:srgbClr val="C00000"/>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0"/>
        <c:spPr>
          <a:solidFill>
            <a:schemeClr val="accent1"/>
          </a:solidFill>
          <a:ln w="28575" cap="rnd">
            <a:solidFill>
              <a:srgbClr val="FFFF00"/>
            </a:solidFill>
            <a:round/>
          </a:ln>
          <a:effectLst/>
        </c:spPr>
        <c:marker>
          <c:symbol val="circle"/>
          <c:size val="6"/>
          <c:spPr>
            <a:solidFill>
              <a:srgbClr val="A3220D"/>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fld id="{C31DC01A-1C53-400B-A8DE-4D5D18A097DE}" type="CATEGORYNAM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[CATEGORY NAME]</a:t>
                </a:fld>
                <a:r>
                  <a:rPr lang="en-US" sz="900" b="0" i="0" u="none" strike="noStrike" kern="1200" baseline="0">
                    <a:solidFill>
                      <a:schemeClr val="accent2">
                        <a:lumMod val="75000"/>
                      </a:schemeClr>
                    </a:solidFill>
                    <a:latin typeface="+mn-lt"/>
                    <a:ea typeface="+mn-ea"/>
                    <a:cs typeface="+mn-cs"/>
                  </a:rPr>
                  <a:t>, </a:t>
                </a:r>
                <a:fld id="{FD29F36C-5511-466B-952F-510E897A0614}" type="VALUE">
                  <a:rPr lang="en-US" sz="900" b="0" i="0" u="none" strike="noStrike" kern="1200" baseline="0">
                    <a:solidFill>
                      <a:schemeClr val="accent2">
                        <a:lumMod val="75000"/>
                      </a:schemeClr>
                    </a:solidFill>
                    <a:latin typeface="+mn-lt"/>
                    <a:ea typeface="+mn-ea"/>
                    <a:cs typeface="+mn-cs"/>
                  </a:rPr>
                  <a:pPr algn="ctr" rtl="0">
                    <a:defRPr lang="en-US" sz="900" b="0" i="0" u="none" strike="noStrike" kern="1200" baseline="0">
                      <a:solidFill>
                        <a:schemeClr val="accent2">
                          <a:lumMod val="75000"/>
                        </a:schemeClr>
                      </a:solidFill>
                      <a:latin typeface="+mn-lt"/>
                      <a:ea typeface="+mn-ea"/>
                      <a:cs typeface="+mn-cs"/>
                    </a:defRPr>
                  </a:pPr>
                  <a:t>[VALUE]</a:t>
                </a:fld>
                <a:endParaRPr lang="en-US" sz="900" b="0" i="0" u="none" strike="noStrike" kern="1200" baseline="0">
                  <a:solidFill>
                    <a:schemeClr val="accent2">
                      <a:lumMod val="75000"/>
                    </a:schemeClr>
                  </a:solidFill>
                  <a:latin typeface="+mn-lt"/>
                  <a:ea typeface="+mn-ea"/>
                  <a:cs typeface="+mn-cs"/>
                </a:endParaRPr>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9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31"/>
        <c:spPr>
          <a:solidFill>
            <a:schemeClr val="accent1"/>
          </a:solidFill>
          <a:ln w="28575" cap="rnd">
            <a:solidFill>
              <a:srgbClr val="FFFF00"/>
            </a:solidFill>
            <a:round/>
          </a:ln>
          <a:effectLst/>
        </c:spPr>
        <c:marker>
          <c:symbol val="circle"/>
          <c:size val="5"/>
          <c:spPr>
            <a:solidFill>
              <a:srgbClr val="C00000"/>
            </a:solidFill>
            <a:ln w="1587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2"/>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5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3"/>
        <c:dLbl>
          <c:idx val="0"/>
          <c:layout>
            <c:manualLayout>
              <c:x val="-7.2200020444024751E-2"/>
              <c:y val="0.1134132757334779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50" b="0" i="0" u="none" strike="noStrike" kern="1200" baseline="0">
                  <a:solidFill>
                    <a:schemeClr val="accent2">
                      <a:lumMod val="75000"/>
                    </a:schemeClr>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7.8381904117523937E-2"/>
              <c:y val="0.1195639329336213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9"/>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1"/>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3"/>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4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5.6745311260276772E-2"/>
              <c:y val="0.12571459013376468"/>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dLblPos val="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square"/>
          <c:size val="5"/>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Pivot_Table_AOV!$C$6</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Pivot_Table_AOV!$C$7:$C$19</c:f>
              <c:numCache>
                <c:formatCode>_("$"* #,##0.00_);_("$"* \(#,##0.00\);_("$"* "-"??_);_(@_)</c:formatCode>
                <c:ptCount val="12"/>
                <c:pt idx="0">
                  <c:v>16.491800567107742</c:v>
                </c:pt>
                <c:pt idx="1">
                  <c:v>16.450290330724563</c:v>
                </c:pt>
                <c:pt idx="2">
                  <c:v>16.521262614409757</c:v>
                </c:pt>
                <c:pt idx="3">
                  <c:v>16.559094194170068</c:v>
                </c:pt>
                <c:pt idx="4">
                  <c:v>16.497862754158962</c:v>
                </c:pt>
                <c:pt idx="5">
                  <c:v>16.61314828341855</c:v>
                </c:pt>
                <c:pt idx="6">
                  <c:v>16.520469034608379</c:v>
                </c:pt>
                <c:pt idx="7">
                  <c:v>16.381537907869479</c:v>
                </c:pt>
                <c:pt idx="8">
                  <c:v>16.498727506426736</c:v>
                </c:pt>
                <c:pt idx="9">
                  <c:v>16.489209374195212</c:v>
                </c:pt>
                <c:pt idx="10">
                  <c:v>16.501488513830282</c:v>
                </c:pt>
                <c:pt idx="11">
                  <c:v>16.442477763659468</c:v>
                </c:pt>
              </c:numCache>
            </c:numRef>
          </c:val>
          <c:smooth val="1"/>
          <c:extLst>
            <c:ext xmlns:c16="http://schemas.microsoft.com/office/drawing/2014/chart" uri="{C3380CC4-5D6E-409C-BE32-E72D297353CC}">
              <c16:uniqueId val="{00000000-F5F6-4496-B275-7466C6284DD3}"/>
            </c:ext>
          </c:extLst>
        </c:ser>
        <c:dLbls>
          <c:showLegendKey val="0"/>
          <c:showVal val="0"/>
          <c:showCatName val="0"/>
          <c:showSerName val="0"/>
          <c:showPercent val="0"/>
          <c:showBubbleSize val="0"/>
        </c:dLbls>
        <c:marker val="1"/>
        <c:smooth val="0"/>
        <c:axId val="1479393343"/>
        <c:axId val="1479393823"/>
      </c:lineChart>
      <c:lineChart>
        <c:grouping val="standard"/>
        <c:varyColors val="0"/>
        <c:ser>
          <c:idx val="0"/>
          <c:order val="0"/>
          <c:tx>
            <c:strRef>
              <c:f>Pivot_Table_AOV!$B$6</c:f>
              <c:strCache>
                <c:ptCount val="1"/>
                <c:pt idx="0">
                  <c:v>Revenue per Order (AOV)</c:v>
                </c:pt>
              </c:strCache>
            </c:strRef>
          </c:tx>
          <c:spPr>
            <a:ln w="28575" cap="rnd">
              <a:solidFill>
                <a:schemeClr val="accent1"/>
              </a:solidFill>
              <a:round/>
            </a:ln>
            <a:effectLst/>
          </c:spPr>
          <c:marker>
            <c:symbol val="square"/>
            <c:size val="5"/>
            <c:spPr>
              <a:solidFill>
                <a:srgbClr val="C00000"/>
              </a:solidFill>
              <a:ln w="9525">
                <a:solidFill>
                  <a:schemeClr val="accent1"/>
                </a:solidFill>
              </a:ln>
              <a:effectLst/>
            </c:spPr>
          </c:marker>
          <c:cat>
            <c:strRef>
              <c:f>Pivot_Table_AOV!$A$7:$A$19</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Pivot_Table_AOV!$B$7:$B$19</c:f>
              <c:numCache>
                <c:formatCode>_("$"* #,##0.00_);_("$"* \(#,##0.00\);_("$"* "-"??_);_(@_)</c:formatCode>
                <c:ptCount val="12"/>
                <c:pt idx="0">
                  <c:v>37.828346883468811</c:v>
                </c:pt>
                <c:pt idx="1">
                  <c:v>38.670385756676559</c:v>
                </c:pt>
                <c:pt idx="2">
                  <c:v>38.259293478260858</c:v>
                </c:pt>
                <c:pt idx="3">
                  <c:v>38.208337965536387</c:v>
                </c:pt>
                <c:pt idx="4">
                  <c:v>38.533594171613593</c:v>
                </c:pt>
                <c:pt idx="5">
                  <c:v>38.482910321488994</c:v>
                </c:pt>
                <c:pt idx="6">
                  <c:v>37.497622739018084</c:v>
                </c:pt>
                <c:pt idx="7">
                  <c:v>37.087588267246055</c:v>
                </c:pt>
                <c:pt idx="8">
                  <c:v>38.639403973509935</c:v>
                </c:pt>
                <c:pt idx="9">
                  <c:v>38.898906439854194</c:v>
                </c:pt>
                <c:pt idx="10">
                  <c:v>39.283119419642844</c:v>
                </c:pt>
                <c:pt idx="11">
                  <c:v>38.512589285714284</c:v>
                </c:pt>
              </c:numCache>
            </c:numRef>
          </c:val>
          <c:smooth val="1"/>
          <c:extLst>
            <c:ext xmlns:c16="http://schemas.microsoft.com/office/drawing/2014/chart" uri="{C3380CC4-5D6E-409C-BE32-E72D297353CC}">
              <c16:uniqueId val="{00000001-F5F6-4496-B275-7466C6284DD3}"/>
            </c:ext>
          </c:extLst>
        </c:ser>
        <c:dLbls>
          <c:showLegendKey val="0"/>
          <c:showVal val="0"/>
          <c:showCatName val="0"/>
          <c:showSerName val="0"/>
          <c:showPercent val="0"/>
          <c:showBubbleSize val="0"/>
        </c:dLbls>
        <c:marker val="1"/>
        <c:smooth val="0"/>
        <c:axId val="981756559"/>
        <c:axId val="981745039"/>
      </c:lineChart>
      <c:catAx>
        <c:axId val="147939334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79393823"/>
        <c:crosses val="autoZero"/>
        <c:auto val="1"/>
        <c:lblAlgn val="ctr"/>
        <c:lblOffset val="100"/>
        <c:noMultiLvlLbl val="0"/>
      </c:catAx>
      <c:valAx>
        <c:axId val="1479393823"/>
        <c:scaling>
          <c:orientation val="minMax"/>
        </c:scaling>
        <c:delete val="0"/>
        <c:axPos val="l"/>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FFFF00"/>
                </a:solidFill>
                <a:latin typeface="+mn-lt"/>
                <a:ea typeface="+mn-ea"/>
                <a:cs typeface="+mn-cs"/>
              </a:defRPr>
            </a:pPr>
            <a:endParaRPr lang="en-US"/>
          </a:p>
        </c:txPr>
        <c:crossAx val="1479393343"/>
        <c:crosses val="autoZero"/>
        <c:crossBetween val="between"/>
      </c:valAx>
      <c:valAx>
        <c:axId val="981745039"/>
        <c:scaling>
          <c:orientation val="minMax"/>
        </c:scaling>
        <c:delete val="0"/>
        <c:axPos val="r"/>
        <c:numFmt formatCode="_(&quot;$&quot;* #,##0.00_);_(&quot;$&quot;* \(#,##0.00\);_(&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2"/>
                </a:solidFill>
                <a:latin typeface="+mn-lt"/>
                <a:ea typeface="+mn-ea"/>
                <a:cs typeface="+mn-cs"/>
              </a:defRPr>
            </a:pPr>
            <a:endParaRPr lang="en-US"/>
          </a:p>
        </c:txPr>
        <c:crossAx val="981756559"/>
        <c:crosses val="max"/>
        <c:crossBetween val="between"/>
      </c:valAx>
      <c:catAx>
        <c:axId val="981756559"/>
        <c:scaling>
          <c:orientation val="minMax"/>
        </c:scaling>
        <c:delete val="1"/>
        <c:axPos val="b"/>
        <c:numFmt formatCode="General" sourceLinked="1"/>
        <c:majorTickMark val="out"/>
        <c:minorTickMark val="none"/>
        <c:tickLblPos val="nextTo"/>
        <c:crossAx val="98174503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25-Vincent.xlsx]Pivot_Table_AOV!PivotTable4</c:name>
    <c:fmtId val="62"/>
  </c:pivotSource>
  <c:chart>
    <c:title>
      <c:tx>
        <c:rich>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r>
              <a:rPr lang="en-US" sz="1100" b="0">
                <a:ln>
                  <a:solidFill>
                    <a:srgbClr val="FFFF00"/>
                  </a:solidFill>
                </a:ln>
                <a:solidFill>
                  <a:srgbClr val="FFFF00"/>
                </a:solidFill>
              </a:rPr>
              <a:t>Hourly AOV and Revenue</a:t>
            </a:r>
            <a:r>
              <a:rPr lang="en-US" sz="1100" b="0" baseline="0">
                <a:ln>
                  <a:solidFill>
                    <a:srgbClr val="FFFF00"/>
                  </a:solidFill>
                </a:ln>
                <a:solidFill>
                  <a:srgbClr val="FFFF00"/>
                </a:solidFill>
              </a:rPr>
              <a:t> per Pizza</a:t>
            </a:r>
            <a:endParaRPr lang="en-US" sz="1100" b="0">
              <a:ln>
                <a:solidFill>
                  <a:srgbClr val="FFFF00"/>
                </a:solidFill>
              </a:ln>
              <a:solidFill>
                <a:srgbClr val="FFFF00"/>
              </a:solidFill>
            </a:endParaRPr>
          </a:p>
        </c:rich>
      </c:tx>
      <c:overlay val="0"/>
      <c:spPr>
        <a:noFill/>
        <a:ln>
          <a:noFill/>
        </a:ln>
        <a:effectLst/>
      </c:spPr>
      <c:txPr>
        <a:bodyPr rot="0" spcFirstLastPara="1" vertOverflow="ellipsis" vert="horz" wrap="square" anchor="ctr" anchorCtr="1"/>
        <a:lstStyle/>
        <a:p>
          <a:pPr>
            <a:defRPr lang="en-US" sz="1100" b="1" i="0" u="none" strike="noStrike" kern="1200" spc="0" baseline="0">
              <a:ln>
                <a:solidFill>
                  <a:schemeClr val="bg1">
                    <a:lumMod val="95000"/>
                  </a:schemeClr>
                </a:solidFill>
              </a:ln>
              <a:solidFill>
                <a:srgbClr val="FFFF00"/>
              </a:solidFill>
              <a:latin typeface="+mn-lt"/>
              <a:ea typeface="+mn-ea"/>
              <a:cs typeface="+mn-cs"/>
            </a:defRPr>
          </a:pPr>
          <a:endParaRPr lang="en-US"/>
        </a:p>
      </c:txPr>
    </c:title>
    <c:autoTitleDeleted val="0"/>
    <c:pivotFmts>
      <c:pivotFmt>
        <c:idx val="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4"/>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5"/>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6"/>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8"/>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9"/>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spPr>
            <a:noFill/>
            <a:ln>
              <a:noFill/>
            </a:ln>
            <a:effectLst/>
          </c:spPr>
          <c:txPr>
            <a:bodyPr rot="0" spcFirstLastPara="1" vertOverflow="ellipsis" vert="horz" wrap="square" anchor="ctr" anchorCtr="0"/>
            <a:lstStyle/>
            <a:p>
              <a:pPr algn="ctr">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0DAF634F-DDD3-46F0-BB38-86E199DF1287}"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1"/>
        <c:spPr>
          <a:solidFill>
            <a:schemeClr val="accent1"/>
          </a:solidFill>
          <a:ln w="28575" cap="rnd">
            <a:solidFill>
              <a:srgbClr val="FFFF00"/>
            </a:solidFill>
            <a:round/>
          </a:ln>
          <a:effectLst/>
        </c:spPr>
        <c:marker>
          <c:symbol val="circle"/>
          <c:size val="5"/>
          <c:spPr>
            <a:solidFill>
              <a:srgbClr val="C00000">
                <a:alpha val="99000"/>
              </a:srgbClr>
            </a:solidFill>
            <a:ln w="9525">
              <a:solidFill>
                <a:srgbClr val="A3220D"/>
              </a:solidFill>
            </a:ln>
            <a:effectLst/>
          </c:spPr>
        </c:marker>
        <c:dLbl>
          <c:idx val="0"/>
          <c:tx>
            <c:rich>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fld id="{255498A7-502C-4CE5-A552-4712CF838BD4}" type="VALUE">
                  <a:rPr lang="en-US" sz="1000" b="0" i="0" u="none" strike="noStrike" kern="1200" baseline="0">
                    <a:solidFill>
                      <a:schemeClr val="accent2">
                        <a:lumMod val="75000"/>
                      </a:schemeClr>
                    </a:solidFill>
                    <a:latin typeface="+mn-lt"/>
                    <a:ea typeface="+mn-ea"/>
                    <a:cs typeface="+mn-cs"/>
                  </a:rPr>
                  <a:pPr algn="ctr">
                    <a:defRPr lang="en-US" sz="1000" b="0" i="0" u="none" strike="noStrike" kern="1200" baseline="0">
                      <a:solidFill>
                        <a:schemeClr val="accent2">
                          <a:lumMod val="75000"/>
                        </a:schemeClr>
                      </a:solidFill>
                      <a:latin typeface="+mn-lt"/>
                      <a:ea typeface="+mn-ea"/>
                      <a:cs typeface="+mn-cs"/>
                    </a:defRPr>
                  </a:pPr>
                  <a:t>[VALUE]</a:t>
                </a:fld>
                <a:endParaRPr lang="en-ID"/>
              </a:p>
            </c:rich>
          </c:tx>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Lst>
        </c:dLbl>
      </c:pivotFmt>
      <c:pivotFmt>
        <c:idx val="1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000" b="0" i="0" u="none" strike="noStrike" kern="1200" baseline="0">
                  <a:solidFill>
                    <a:schemeClr val="accent2">
                      <a:lumMod val="75000"/>
                    </a:schemeClr>
                  </a:solidFill>
                  <a:latin typeface="+mn-lt"/>
                  <a:ea typeface="+mn-ea"/>
                  <a:cs typeface="+mn-cs"/>
                </a:defRPr>
              </a:pPr>
              <a:endParaRPr lang="en-US"/>
            </a:p>
          </c:txPr>
          <c:dLblPos val="t"/>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6"/>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pivotFmt>
      <c:pivotFmt>
        <c:idx val="17"/>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0.16691085918447815"/>
              <c:y val="-9.8410515202293686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layout>
            <c:manualLayout>
              <c:x val="-1.1333322477906806E-16"/>
              <c:y val="-8.6109200802006958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9"/>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1"/>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2"/>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3"/>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4"/>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5"/>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noFill/>
            <a:ln>
              <a:noFill/>
            </a:ln>
            <a:effectLst/>
          </c:spPr>
          <c:txPr>
            <a:bodyPr rot="0" spcFirstLastPara="1" vertOverflow="ellipsis"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6"/>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layout>
            <c:manualLayout>
              <c:x val="-0.16691085918447812"/>
              <c:y val="-7.9958543601863635E-2"/>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7"/>
        <c:spPr>
          <a:solidFill>
            <a:schemeClr val="accent1"/>
          </a:solidFill>
          <a:ln w="28575" cap="rnd">
            <a:solidFill>
              <a:srgbClr val="FFFF00"/>
            </a:solidFill>
            <a:round/>
          </a:ln>
          <a:effectLst/>
        </c:spPr>
        <c:marker>
          <c:symbol val="circle"/>
          <c:size val="5"/>
          <c:spPr>
            <a:solidFill>
              <a:srgbClr val="A3220D"/>
            </a:solidFill>
            <a:ln w="12700">
              <a:solidFill>
                <a:srgbClr val="C00000"/>
              </a:solidFill>
            </a:ln>
            <a:effectLst/>
          </c:spPr>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0">
              <a:spAutoFit/>
            </a:bodyPr>
            <a:lstStyle/>
            <a:p>
              <a:pPr algn="ctr" rtl="0">
                <a:defRPr lang="en-US" sz="1100" b="0" i="0" u="none" strike="noStrike" kern="1200" baseline="0">
                  <a:solidFill>
                    <a:srgbClr val="C00000"/>
                  </a:solidFill>
                  <a:latin typeface="+mn-lt"/>
                  <a:ea typeface="+mn-ea"/>
                  <a:cs typeface="+mn-cs"/>
                </a:defRPr>
              </a:pPr>
              <a:endParaRPr lang="en-US"/>
            </a:p>
          </c:txPr>
          <c:showLegendKey val="0"/>
          <c:showVal val="1"/>
          <c:showCatName val="1"/>
          <c:showSerName val="0"/>
          <c:showPercent val="0"/>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8"/>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9"/>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0"/>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1"/>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2"/>
        <c:spPr>
          <a:solidFill>
            <a:schemeClr val="accent1"/>
          </a:solidFill>
          <a:ln w="28575" cap="rnd">
            <a:solidFill>
              <a:srgbClr val="FFFF00"/>
            </a:solidFill>
            <a:round/>
          </a:ln>
          <a:effectLst/>
        </c:spPr>
        <c:marker>
          <c:symbol val="circle"/>
          <c:size val="5"/>
          <c:spPr>
            <a:solidFill>
              <a:srgbClr val="C00000"/>
            </a:solidFill>
            <a:ln w="9525">
              <a:solidFill>
                <a:srgbClr val="C00000"/>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3"/>
        <c:spPr>
          <a:solidFill>
            <a:schemeClr val="accent1"/>
          </a:solidFill>
          <a:ln w="28575" cap="rnd">
            <a:solidFill>
              <a:schemeClr val="accent1"/>
            </a:solidFill>
            <a:round/>
          </a:ln>
          <a:effectLst/>
        </c:spPr>
        <c:marker>
          <c:symbol val="square"/>
          <c:size val="6"/>
          <c:spPr>
            <a:solidFill>
              <a:srgbClr val="C00000"/>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1"/>
          <c:order val="1"/>
          <c:tx>
            <c:strRef>
              <c:f>Pivot_Table_AOV!$K$12</c:f>
              <c:strCache>
                <c:ptCount val="1"/>
                <c:pt idx="0">
                  <c:v>Revenue per Pizza</c:v>
                </c:pt>
              </c:strCache>
            </c:strRef>
          </c:tx>
          <c:spPr>
            <a:ln w="28575" cap="rnd">
              <a:solidFill>
                <a:srgbClr val="FFFF00"/>
              </a:solidFill>
              <a:round/>
            </a:ln>
            <a:effectLst/>
          </c:spPr>
          <c:marker>
            <c:symbol val="circle"/>
            <c:size val="5"/>
            <c:spPr>
              <a:solidFill>
                <a:srgbClr val="C00000"/>
              </a:solidFill>
              <a:ln w="9525">
                <a:solidFill>
                  <a:srgbClr val="C00000"/>
                </a:solidFill>
              </a:ln>
              <a:effectLst/>
            </c:spPr>
          </c:marker>
          <c:cat>
            <c:strRef>
              <c:f>Pivot_Table_AOV!$I$13:$I$27</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Pivot_Table_AOV!$K$13:$K$27</c:f>
              <c:numCache>
                <c:formatCode>_("$"* #,##0.00_);_("$"* \(#,##0.00\);_("$"* "-"??_);_(@_)</c:formatCode>
                <c:ptCount val="15"/>
                <c:pt idx="0">
                  <c:v>20.75</c:v>
                </c:pt>
                <c:pt idx="1">
                  <c:v>16.869444444444444</c:v>
                </c:pt>
                <c:pt idx="2">
                  <c:v>16.472067448680349</c:v>
                </c:pt>
                <c:pt idx="3">
                  <c:v>16.510906139315221</c:v>
                </c:pt>
                <c:pt idx="4">
                  <c:v>16.539170435053791</c:v>
                </c:pt>
                <c:pt idx="5">
                  <c:v>16.385662884029891</c:v>
                </c:pt>
                <c:pt idx="6">
                  <c:v>16.477705223880594</c:v>
                </c:pt>
                <c:pt idx="7">
                  <c:v>16.526397735314923</c:v>
                </c:pt>
                <c:pt idx="8">
                  <c:v>16.549117251966987</c:v>
                </c:pt>
                <c:pt idx="9">
                  <c:v>16.484557873361634</c:v>
                </c:pt>
                <c:pt idx="10">
                  <c:v>16.48408987743985</c:v>
                </c:pt>
                <c:pt idx="11">
                  <c:v>16.472948500282968</c:v>
                </c:pt>
                <c:pt idx="12">
                  <c:v>16.514656188605109</c:v>
                </c:pt>
                <c:pt idx="13">
                  <c:v>16.461147186147187</c:v>
                </c:pt>
                <c:pt idx="14">
                  <c:v>16.490441176470586</c:v>
                </c:pt>
              </c:numCache>
            </c:numRef>
          </c:val>
          <c:smooth val="1"/>
          <c:extLst>
            <c:ext xmlns:c16="http://schemas.microsoft.com/office/drawing/2014/chart" uri="{C3380CC4-5D6E-409C-BE32-E72D297353CC}">
              <c16:uniqueId val="{00000000-C5AB-42CB-8529-AA3B6AB96F7C}"/>
            </c:ext>
          </c:extLst>
        </c:ser>
        <c:dLbls>
          <c:showLegendKey val="0"/>
          <c:showVal val="0"/>
          <c:showCatName val="0"/>
          <c:showSerName val="0"/>
          <c:showPercent val="0"/>
          <c:showBubbleSize val="0"/>
        </c:dLbls>
        <c:marker val="1"/>
        <c:smooth val="0"/>
        <c:axId val="1484510303"/>
        <c:axId val="1484509343"/>
      </c:lineChart>
      <c:lineChart>
        <c:grouping val="standard"/>
        <c:varyColors val="0"/>
        <c:ser>
          <c:idx val="0"/>
          <c:order val="0"/>
          <c:tx>
            <c:strRef>
              <c:f>Pivot_Table_AOV!$J$12</c:f>
              <c:strCache>
                <c:ptCount val="1"/>
                <c:pt idx="0">
                  <c:v>Revenue per Order (AOV)</c:v>
                </c:pt>
              </c:strCache>
            </c:strRef>
          </c:tx>
          <c:spPr>
            <a:ln w="28575" cap="rnd">
              <a:solidFill>
                <a:schemeClr val="accent1"/>
              </a:solidFill>
              <a:round/>
            </a:ln>
            <a:effectLst/>
          </c:spPr>
          <c:marker>
            <c:symbol val="square"/>
            <c:size val="6"/>
            <c:spPr>
              <a:solidFill>
                <a:srgbClr val="C00000"/>
              </a:solidFill>
              <a:ln w="9525">
                <a:solidFill>
                  <a:schemeClr val="accent1"/>
                </a:solidFill>
              </a:ln>
              <a:effectLst/>
            </c:spPr>
          </c:marker>
          <c:cat>
            <c:strRef>
              <c:f>Pivot_Table_AOV!$I$13:$I$27</c:f>
              <c:strCache>
                <c:ptCount val="15"/>
                <c:pt idx="0">
                  <c:v>9</c:v>
                </c:pt>
                <c:pt idx="1">
                  <c:v>10</c:v>
                </c:pt>
                <c:pt idx="2">
                  <c:v>11</c:v>
                </c:pt>
                <c:pt idx="3">
                  <c:v>12</c:v>
                </c:pt>
                <c:pt idx="4">
                  <c:v>13</c:v>
                </c:pt>
                <c:pt idx="5">
                  <c:v>14</c:v>
                </c:pt>
                <c:pt idx="6">
                  <c:v>15</c:v>
                </c:pt>
                <c:pt idx="7">
                  <c:v>16</c:v>
                </c:pt>
                <c:pt idx="8">
                  <c:v>17</c:v>
                </c:pt>
                <c:pt idx="9">
                  <c:v>18</c:v>
                </c:pt>
                <c:pt idx="10">
                  <c:v>19</c:v>
                </c:pt>
                <c:pt idx="11">
                  <c:v>20</c:v>
                </c:pt>
                <c:pt idx="12">
                  <c:v>21</c:v>
                </c:pt>
                <c:pt idx="13">
                  <c:v>22</c:v>
                </c:pt>
                <c:pt idx="14">
                  <c:v>23</c:v>
                </c:pt>
              </c:strCache>
            </c:strRef>
          </c:cat>
          <c:val>
            <c:numRef>
              <c:f>Pivot_Table_AOV!$J$13:$J$27</c:f>
              <c:numCache>
                <c:formatCode>_("$"* #,##0.00_);_("$"* \(#,##0.00\);_("$"* "-"??_);_(@_)</c:formatCode>
                <c:ptCount val="15"/>
                <c:pt idx="0">
                  <c:v>83</c:v>
                </c:pt>
                <c:pt idx="1">
                  <c:v>37.956249999999997</c:v>
                </c:pt>
                <c:pt idx="2">
                  <c:v>36.503493095044675</c:v>
                </c:pt>
                <c:pt idx="3">
                  <c:v>44.395992063492038</c:v>
                </c:pt>
                <c:pt idx="4">
                  <c:v>43.203951120162913</c:v>
                </c:pt>
                <c:pt idx="5">
                  <c:v>40.218342391304347</c:v>
                </c:pt>
                <c:pt idx="6">
                  <c:v>36.098297002724784</c:v>
                </c:pt>
                <c:pt idx="7">
                  <c:v>36.487187499999983</c:v>
                </c:pt>
                <c:pt idx="8">
                  <c:v>36.916716609589031</c:v>
                </c:pt>
                <c:pt idx="9">
                  <c:v>37.222530220925378</c:v>
                </c:pt>
                <c:pt idx="10">
                  <c:v>36.151767048282714</c:v>
                </c:pt>
                <c:pt idx="11">
                  <c:v>35.45395858708892</c:v>
                </c:pt>
                <c:pt idx="12">
                  <c:v>35.083305509181976</c:v>
                </c:pt>
                <c:pt idx="13">
                  <c:v>34.411990950226247</c:v>
                </c:pt>
                <c:pt idx="14">
                  <c:v>40.04821428571428</c:v>
                </c:pt>
              </c:numCache>
            </c:numRef>
          </c:val>
          <c:smooth val="0"/>
          <c:extLst>
            <c:ext xmlns:c16="http://schemas.microsoft.com/office/drawing/2014/chart" uri="{C3380CC4-5D6E-409C-BE32-E72D297353CC}">
              <c16:uniqueId val="{00000001-C5AB-42CB-8529-AA3B6AB96F7C}"/>
            </c:ext>
          </c:extLst>
        </c:ser>
        <c:dLbls>
          <c:showLegendKey val="0"/>
          <c:showVal val="0"/>
          <c:showCatName val="0"/>
          <c:showSerName val="0"/>
          <c:showPercent val="0"/>
          <c:showBubbleSize val="0"/>
        </c:dLbls>
        <c:marker val="1"/>
        <c:smooth val="0"/>
        <c:axId val="340500543"/>
        <c:axId val="1460048879"/>
      </c:lineChart>
      <c:catAx>
        <c:axId val="1484510303"/>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9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484509343"/>
        <c:crosses val="autoZero"/>
        <c:auto val="1"/>
        <c:lblAlgn val="ctr"/>
        <c:lblOffset val="100"/>
        <c:noMultiLvlLbl val="0"/>
      </c:catAx>
      <c:valAx>
        <c:axId val="1484509343"/>
        <c:scaling>
          <c:orientation val="minMax"/>
          <c:min val="0"/>
        </c:scaling>
        <c:delete val="0"/>
        <c:axPos val="l"/>
        <c:numFmt formatCode="_(&quot;$&quot;* #,##0.00_);_(&quot;$&quot;* \(#,##0.0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800" b="1" i="0" u="none" strike="noStrike" kern="1200" baseline="0">
                <a:solidFill>
                  <a:srgbClr val="FFFF00"/>
                </a:solidFill>
                <a:latin typeface="+mn-lt"/>
                <a:ea typeface="+mn-ea"/>
                <a:cs typeface="+mn-cs"/>
              </a:defRPr>
            </a:pPr>
            <a:endParaRPr lang="en-US"/>
          </a:p>
        </c:txPr>
        <c:crossAx val="1484510303"/>
        <c:crosses val="autoZero"/>
        <c:crossBetween val="between"/>
      </c:valAx>
      <c:valAx>
        <c:axId val="1460048879"/>
        <c:scaling>
          <c:orientation val="minMax"/>
        </c:scaling>
        <c:delete val="0"/>
        <c:axPos val="r"/>
        <c:numFmt formatCode="_(&quot;$&quot;* #,##0.00_);_(&quot;$&quot;* \(#,##0.00\);_(&quot;$&quot;* 0??_);_(@_)" sourceLinked="0"/>
        <c:majorTickMark val="out"/>
        <c:minorTickMark val="none"/>
        <c:tickLblPos val="nextTo"/>
        <c:spPr>
          <a:noFill/>
          <a:ln>
            <a:noFill/>
          </a:ln>
          <a:effectLst/>
        </c:spPr>
        <c:txPr>
          <a:bodyPr rot="-60000000" spcFirstLastPara="1" vertOverflow="ellipsis" vert="horz" wrap="square" anchor="ctr" anchorCtr="1"/>
          <a:lstStyle/>
          <a:p>
            <a:pPr algn="ctr">
              <a:defRPr lang="en-US" sz="800" b="1" i="0" u="none" strike="noStrike" kern="1200" baseline="0">
                <a:solidFill>
                  <a:schemeClr val="tx2"/>
                </a:solidFill>
                <a:latin typeface="+mn-lt"/>
                <a:ea typeface="+mn-ea"/>
                <a:cs typeface="+mn-cs"/>
              </a:defRPr>
            </a:pPr>
            <a:endParaRPr lang="en-US"/>
          </a:p>
        </c:txPr>
        <c:crossAx val="340500543"/>
        <c:crosses val="max"/>
        <c:crossBetween val="between"/>
      </c:valAx>
      <c:catAx>
        <c:axId val="340500543"/>
        <c:scaling>
          <c:orientation val="minMax"/>
        </c:scaling>
        <c:delete val="1"/>
        <c:axPos val="b"/>
        <c:numFmt formatCode="General" sourceLinked="1"/>
        <c:majorTickMark val="out"/>
        <c:minorTickMark val="none"/>
        <c:tickLblPos val="nextTo"/>
        <c:crossAx val="1460048879"/>
        <c:crosses val="autoZero"/>
        <c:auto val="1"/>
        <c:lblAlgn val="ctr"/>
        <c:lblOffset val="100"/>
        <c:noMultiLvlLbl val="0"/>
      </c:catAx>
      <c:spPr>
        <a:noFill/>
        <a:ln>
          <a:solidFill>
            <a:schemeClr val="tx1"/>
          </a:solidFill>
        </a:ln>
        <a:effectLst/>
      </c:spPr>
    </c:plotArea>
    <c:legend>
      <c:legendPos val="t"/>
      <c:overlay val="0"/>
      <c:spPr>
        <a:noFill/>
        <a:ln>
          <a:noFill/>
        </a:ln>
        <a:effectLst/>
      </c:spPr>
      <c:txPr>
        <a:bodyPr rot="0" spcFirstLastPara="1" vertOverflow="ellipsis" vert="horz" wrap="square" anchor="ctr" anchorCtr="1"/>
        <a:lstStyle/>
        <a:p>
          <a:pPr>
            <a:defRPr lang="en-US"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Lst>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25-Vincent.xlsx]Pivot_Table_Revenue!PivotTable4</c:name>
    <c:fmtId val="16"/>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dirty="0">
                <a:solidFill>
                  <a:srgbClr val="FFFF00"/>
                </a:solidFill>
                <a:latin typeface="+mn-lt"/>
                <a:ea typeface="+mn-ea"/>
                <a:cs typeface="+mn-cs"/>
              </a:rPr>
              <a:t>Top 5 Pizzas by Revenue ($)</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Pivot_Table_Revenue!$H$6</c:f>
              <c:strCache>
                <c:ptCount val="1"/>
                <c:pt idx="0">
                  <c:v>Total</c:v>
                </c:pt>
              </c:strCache>
            </c:strRef>
          </c:tx>
          <c:spPr>
            <a:solidFill>
              <a:srgbClr val="FFFF00"/>
            </a:solidFill>
            <a:ln w="22225">
              <a:solidFill>
                <a:srgbClr val="A3220D"/>
              </a:solidFill>
            </a:ln>
            <a:effectLst/>
          </c:spPr>
          <c:invertIfNegative val="0"/>
          <c:dLbls>
            <c:spPr>
              <a:solidFill>
                <a:srgbClr val="C00000"/>
              </a:solidFill>
              <a:ln>
                <a:noFill/>
              </a:ln>
              <a:effectLst/>
            </c:spPr>
            <c:txPr>
              <a:bodyPr rot="0" spcFirstLastPara="1" vertOverflow="ellipsis" vert="horz" wrap="square" anchor="ctr" anchorCtr="0"/>
              <a:lstStyle/>
              <a:p>
                <a:pPr algn="ctr">
                  <a:defRPr lang="en-US" sz="900" b="1" i="0" u="none" strike="noStrike" kern="1200" baseline="0">
                    <a:solidFill>
                      <a:srgbClr val="FFFF00"/>
                    </a:solidFill>
                    <a:highlight>
                      <a:srgbClr val="800000"/>
                    </a:highlight>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Pivot_Table_Revenue!$G$7:$G$11</c:f>
              <c:strCache>
                <c:ptCount val="5"/>
                <c:pt idx="0">
                  <c:v>The Spicy Italian Pizza</c:v>
                </c:pt>
                <c:pt idx="1">
                  <c:v>The Classic Deluxe Pizza</c:v>
                </c:pt>
                <c:pt idx="2">
                  <c:v>The California Chicken Pizza</c:v>
                </c:pt>
                <c:pt idx="3">
                  <c:v>The Barbecue Chicken Pizza</c:v>
                </c:pt>
                <c:pt idx="4">
                  <c:v>The Thai Chicken Pizza</c:v>
                </c:pt>
              </c:strCache>
            </c:strRef>
          </c:cat>
          <c:val>
            <c:numRef>
              <c:f>Pivot_Table_Revenue!$H$7:$H$11</c:f>
              <c:numCache>
                <c:formatCode>_("$"* #,##0.00_);_("$"* \(#,##0.00\);_("$"* "-"??_);_(@_)</c:formatCode>
                <c:ptCount val="5"/>
                <c:pt idx="0">
                  <c:v>34831.25</c:v>
                </c:pt>
                <c:pt idx="1">
                  <c:v>38180.5</c:v>
                </c:pt>
                <c:pt idx="2">
                  <c:v>41409.5</c:v>
                </c:pt>
                <c:pt idx="3">
                  <c:v>42768</c:v>
                </c:pt>
                <c:pt idx="4">
                  <c:v>43434.25</c:v>
                </c:pt>
              </c:numCache>
            </c:numRef>
          </c:val>
          <c:extLst>
            <c:ext xmlns:c16="http://schemas.microsoft.com/office/drawing/2014/chart" uri="{C3380CC4-5D6E-409C-BE32-E72D297353CC}">
              <c16:uniqueId val="{00000000-5F4B-4206-8379-8D393C82501F}"/>
            </c:ext>
          </c:extLst>
        </c:ser>
        <c:dLbls>
          <c:showLegendKey val="0"/>
          <c:showVal val="0"/>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quot;$&quot;* #,##0.00_);_(&quot;$&quot;* \(#,##0.00\);_(&quot;$&quot;*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25-Vincent.xlsx]Pivot_Table_Orders!PivotTable4</c:name>
    <c:fmtId val="17"/>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Top 5 Pizzas by Orders</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Pivot_Table_Orders!$H$6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Pivot_Table_Orders!$G$7:$G$11</c:f>
              <c:strCache>
                <c:ptCount val="5"/>
                <c:pt idx="0">
                  <c:v>The Thai Chicken Pizza</c:v>
                </c:pt>
                <c:pt idx="1">
                  <c:v>The Barbecue Chicken Pizza</c:v>
                </c:pt>
                <c:pt idx="2">
                  <c:v>The Pepperoni Pizza</c:v>
                </c:pt>
                <c:pt idx="3">
                  <c:v>The Hawaiian Pizza</c:v>
                </c:pt>
                <c:pt idx="4">
                  <c:v>The Classic Deluxe Pizza</c:v>
                </c:pt>
              </c:strCache>
            </c:strRef>
          </c:cat>
          <c:val>
            <c:numRef>
              <c:f>Pivot_Table_Orders!$H$7:$H$11</c:f>
              <c:numCache>
                <c:formatCode>_(* #,##0_);_(* \(#,##0\);_(* "-"??_);_(@_)</c:formatCode>
                <c:ptCount val="5"/>
                <c:pt idx="0">
                  <c:v>2225</c:v>
                </c:pt>
                <c:pt idx="1">
                  <c:v>2273</c:v>
                </c:pt>
                <c:pt idx="2">
                  <c:v>2278</c:v>
                </c:pt>
                <c:pt idx="3">
                  <c:v>2280</c:v>
                </c:pt>
                <c:pt idx="4">
                  <c:v>2329</c:v>
                </c:pt>
              </c:numCache>
            </c:numRef>
          </c:val>
          <c:extLst>
            <c:ext xmlns:c16="http://schemas.microsoft.com/office/drawing/2014/chart" uri="{C3380CC4-5D6E-409C-BE32-E72D297353CC}">
              <c16:uniqueId val="{00000000-4181-4028-8C70-B0D76007C9FB}"/>
            </c:ext>
          </c:extLst>
        </c:ser>
        <c:dLbls>
          <c:showLegendKey val="0"/>
          <c:showVal val="0"/>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 #,##0_);_(* \(#,##0\);_(*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25-Vincent.xlsx]Pivot_Table_Quantities!PivotTable4</c:name>
    <c:fmtId val="28"/>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Top 5 Pizzas by Quantities</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Pivot_Table_Quantities!$H$6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Pivot_Table_Quantities!$G$7:$G$11</c:f>
              <c:strCache>
                <c:ptCount val="5"/>
                <c:pt idx="0">
                  <c:v>The Thai Chicken Pizza</c:v>
                </c:pt>
                <c:pt idx="1">
                  <c:v>The Pepperoni Pizza</c:v>
                </c:pt>
                <c:pt idx="2">
                  <c:v>The Hawaiian Pizza</c:v>
                </c:pt>
                <c:pt idx="3">
                  <c:v>The Barbecue Chicken Pizza</c:v>
                </c:pt>
                <c:pt idx="4">
                  <c:v>The Classic Deluxe Pizza</c:v>
                </c:pt>
              </c:strCache>
            </c:strRef>
          </c:cat>
          <c:val>
            <c:numRef>
              <c:f>Pivot_Table_Quantities!$H$7:$H$11</c:f>
              <c:numCache>
                <c:formatCode>_(* #,##0_);_(* \(#,##0\);_(* "-"??_);_(@_)</c:formatCode>
                <c:ptCount val="5"/>
                <c:pt idx="0">
                  <c:v>2371</c:v>
                </c:pt>
                <c:pt idx="1">
                  <c:v>2418</c:v>
                </c:pt>
                <c:pt idx="2">
                  <c:v>2422</c:v>
                </c:pt>
                <c:pt idx="3">
                  <c:v>2432</c:v>
                </c:pt>
                <c:pt idx="4">
                  <c:v>2453</c:v>
                </c:pt>
              </c:numCache>
            </c:numRef>
          </c:val>
          <c:extLst>
            <c:ext xmlns:c16="http://schemas.microsoft.com/office/drawing/2014/chart" uri="{C3380CC4-5D6E-409C-BE32-E72D297353CC}">
              <c16:uniqueId val="{00000000-6AB3-42CD-B37A-3685D8482082}"/>
            </c:ext>
          </c:extLst>
        </c:ser>
        <c:dLbls>
          <c:showLegendKey val="0"/>
          <c:showVal val="0"/>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 #,##0_);_(* \(#,##0\);_(*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25-Vincent.xlsx]Pivot_Table_AOV!PivotTable5</c:name>
    <c:fmtId val="65"/>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Top 5 Pizzas by Revenue per Pizza</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0"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0"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0">
              <a:spAutoFit/>
            </a:bodyPr>
            <a:lstStyle/>
            <a:p>
              <a:pPr algn="ct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2"/>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Pivot_Table_AOV!$F$6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Pivot_Table_AOV!$E$7:$E$12</c:f>
              <c:strCache>
                <c:ptCount val="5"/>
                <c:pt idx="0">
                  <c:v>The Southwest Chicken Pizza</c:v>
                </c:pt>
                <c:pt idx="1">
                  <c:v>The Thai Chicken Pizza</c:v>
                </c:pt>
                <c:pt idx="2">
                  <c:v>The Five Cheese Pizza</c:v>
                </c:pt>
                <c:pt idx="3">
                  <c:v>The Greek Pizza</c:v>
                </c:pt>
                <c:pt idx="4">
                  <c:v>The Brie Carre Pizza</c:v>
                </c:pt>
              </c:strCache>
            </c:strRef>
          </c:cat>
          <c:val>
            <c:numRef>
              <c:f>Pivot_Table_AOV!$F$7:$F$12</c:f>
              <c:numCache>
                <c:formatCode>_("$"* #,##0.00_);_("$"* \(#,##0.00\);_("$"* "-"??_);_(@_)</c:formatCode>
                <c:ptCount val="5"/>
                <c:pt idx="0">
                  <c:v>18.104199269692227</c:v>
                </c:pt>
                <c:pt idx="1">
                  <c:v>18.31895824546605</c:v>
                </c:pt>
                <c:pt idx="2">
                  <c:v>18.5</c:v>
                </c:pt>
                <c:pt idx="3">
                  <c:v>20.038098591549311</c:v>
                </c:pt>
                <c:pt idx="4">
                  <c:v>23.649999999999984</c:v>
                </c:pt>
              </c:numCache>
            </c:numRef>
          </c:val>
          <c:extLst>
            <c:ext xmlns:c16="http://schemas.microsoft.com/office/drawing/2014/chart" uri="{C3380CC4-5D6E-409C-BE32-E72D297353CC}">
              <c16:uniqueId val="{00000000-1953-4F1A-A56C-38A59A1427B7}"/>
            </c:ext>
          </c:extLst>
        </c:ser>
        <c:dLbls>
          <c:dLblPos val="ctr"/>
          <c:showLegendKey val="0"/>
          <c:showVal val="1"/>
          <c:showCatName val="0"/>
          <c:showSerName val="0"/>
          <c:showPercent val="0"/>
          <c:showBubbleSize val="0"/>
        </c:dLbls>
        <c:gapWidth val="50"/>
        <c:axId val="110220063"/>
        <c:axId val="110218623"/>
      </c:barChart>
      <c:catAx>
        <c:axId val="110220063"/>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lgn="ct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110218623"/>
        <c:crosses val="autoZero"/>
        <c:auto val="1"/>
        <c:lblAlgn val="ctr"/>
        <c:lblOffset val="100"/>
        <c:noMultiLvlLbl val="0"/>
      </c:catAx>
      <c:valAx>
        <c:axId val="110218623"/>
        <c:scaling>
          <c:orientation val="minMax"/>
        </c:scaling>
        <c:delete val="1"/>
        <c:axPos val="b"/>
        <c:numFmt formatCode="_(&quot;$&quot;* #,##0.00_);_(&quot;$&quot;* \(#,##0.00\);_(&quot;$&quot;* &quot;-&quot;??_);_(@_)" sourceLinked="1"/>
        <c:majorTickMark val="none"/>
        <c:minorTickMark val="none"/>
        <c:tickLblPos val="nextTo"/>
        <c:crossAx val="110220063"/>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25-Vincent.xlsx]Pivot_Table_Revenue!PivotTable5</c:name>
    <c:fmtId val="17"/>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dirty="0">
                <a:solidFill>
                  <a:srgbClr val="FFFF00"/>
                </a:solidFill>
                <a:latin typeface="+mn-lt"/>
                <a:ea typeface="+mn-ea"/>
                <a:cs typeface="+mn-cs"/>
              </a:rPr>
              <a:t>Bottom 5 Pizzas by Revenue ($)</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Pivot_Table_Revenue!$K$6</c:f>
              <c:strCache>
                <c:ptCount val="1"/>
                <c:pt idx="0">
                  <c:v>Total</c:v>
                </c:pt>
              </c:strCache>
            </c:strRef>
          </c:tx>
          <c:spPr>
            <a:solidFill>
              <a:srgbClr val="FFFF00"/>
            </a:solidFill>
            <a:ln w="22225">
              <a:solidFill>
                <a:srgbClr val="A3220D"/>
              </a:solidFill>
            </a:ln>
            <a:effectLst/>
          </c:spPr>
          <c:invertIfNegative val="0"/>
          <c:dLbls>
            <c:spPr>
              <a:solidFill>
                <a:srgbClr val="C00000"/>
              </a:solidFill>
              <a:ln>
                <a:noFill/>
              </a:ln>
              <a:effectLst/>
            </c:spPr>
            <c:txPr>
              <a:bodyPr rot="0" spcFirstLastPara="1" vertOverflow="ellipsis" vert="horz" wrap="square" anchor="ctr" anchorCtr="0"/>
              <a:lstStyle/>
              <a:p>
                <a:pPr algn="ct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Pivot_Table_Revenue!$J$7:$J$11</c:f>
              <c:strCache>
                <c:ptCount val="5"/>
                <c:pt idx="0">
                  <c:v>The Spinach Pesto Pizza</c:v>
                </c:pt>
                <c:pt idx="1">
                  <c:v>The Mediterranean Pizza</c:v>
                </c:pt>
                <c:pt idx="2">
                  <c:v>The Spinach Supreme Pizza</c:v>
                </c:pt>
                <c:pt idx="3">
                  <c:v>The Green Garden Pizza</c:v>
                </c:pt>
                <c:pt idx="4">
                  <c:v>The Brie Carre Pizza</c:v>
                </c:pt>
              </c:strCache>
            </c:strRef>
          </c:cat>
          <c:val>
            <c:numRef>
              <c:f>Pivot_Table_Revenue!$K$7:$K$11</c:f>
              <c:numCache>
                <c:formatCode>_("$"* #,##0.00_);_("$"* \(#,##0.00\);_("$"* "-"??_);_(@_)</c:formatCode>
                <c:ptCount val="5"/>
                <c:pt idx="0">
                  <c:v>15596</c:v>
                </c:pt>
                <c:pt idx="1">
                  <c:v>15360.5</c:v>
                </c:pt>
                <c:pt idx="2">
                  <c:v>15277.75</c:v>
                </c:pt>
                <c:pt idx="3">
                  <c:v>13955.75</c:v>
                </c:pt>
                <c:pt idx="4">
                  <c:v>11588.499999999993</c:v>
                </c:pt>
              </c:numCache>
            </c:numRef>
          </c:val>
          <c:extLst>
            <c:ext xmlns:c16="http://schemas.microsoft.com/office/drawing/2014/chart" uri="{C3380CC4-5D6E-409C-BE32-E72D297353CC}">
              <c16:uniqueId val="{00000000-34DD-467D-9E7E-071C77739FFB}"/>
            </c:ext>
          </c:extLst>
        </c:ser>
        <c:dLbls>
          <c:dLblPos val="outEnd"/>
          <c:showLegendKey val="0"/>
          <c:showVal val="1"/>
          <c:showCatName val="0"/>
          <c:showSerName val="0"/>
          <c:showPercent val="0"/>
          <c:showBubbleSize val="0"/>
        </c:dLbls>
        <c:gapWidth val="50"/>
        <c:axId val="330539199"/>
        <c:axId val="330539679"/>
      </c:barChart>
      <c:catAx>
        <c:axId val="330539199"/>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330539679"/>
        <c:crosses val="autoZero"/>
        <c:auto val="1"/>
        <c:lblAlgn val="ctr"/>
        <c:lblOffset val="100"/>
        <c:noMultiLvlLbl val="0"/>
      </c:catAx>
      <c:valAx>
        <c:axId val="330539679"/>
        <c:scaling>
          <c:orientation val="minMax"/>
        </c:scaling>
        <c:delete val="1"/>
        <c:axPos val="b"/>
        <c:numFmt formatCode="_(&quot;$&quot;* #,##0.00_);_(&quot;$&quot;* \(#,##0.00\);_(&quot;$&quot;* &quot;-&quot;??_);_(@_)" sourceLinked="1"/>
        <c:majorTickMark val="none"/>
        <c:minorTickMark val="none"/>
        <c:tickLblPos val="nextTo"/>
        <c:crossAx val="330539199"/>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25-Vincent.xlsx]Pivot_Table_Orders!PivotTable5</c:name>
    <c:fmtId val="18"/>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Bottom 5 Pizzas by Orders</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Pivot_Table_Orders!$K$6</c:f>
              <c:strCache>
                <c:ptCount val="1"/>
                <c:pt idx="0">
                  <c:v>Total</c:v>
                </c:pt>
              </c:strCache>
            </c:strRef>
          </c:tx>
          <c:spPr>
            <a:solidFill>
              <a:srgbClr val="FFFF00"/>
            </a:solidFill>
            <a:ln w="22225">
              <a:solidFill>
                <a:srgbClr val="A3220D"/>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Pivot_Table_Orders!$J$7:$J$11</c:f>
              <c:strCache>
                <c:ptCount val="5"/>
                <c:pt idx="0">
                  <c:v>The Chicken Pesto Pizza</c:v>
                </c:pt>
                <c:pt idx="1">
                  <c:v>The Spinach Supreme Pizza</c:v>
                </c:pt>
                <c:pt idx="2">
                  <c:v>The Calabrese Pizza</c:v>
                </c:pt>
                <c:pt idx="3">
                  <c:v>The Mediterranean Pizza</c:v>
                </c:pt>
                <c:pt idx="4">
                  <c:v>The Brie Carre Pizza</c:v>
                </c:pt>
              </c:strCache>
            </c:strRef>
          </c:cat>
          <c:val>
            <c:numRef>
              <c:f>Pivot_Table_Orders!$K$7:$K$11</c:f>
              <c:numCache>
                <c:formatCode>_(* #,##0_);_(* \(#,##0\);_(* "-"??_);_(@_)</c:formatCode>
                <c:ptCount val="5"/>
                <c:pt idx="0">
                  <c:v>938</c:v>
                </c:pt>
                <c:pt idx="1">
                  <c:v>918</c:v>
                </c:pt>
                <c:pt idx="2">
                  <c:v>918</c:v>
                </c:pt>
                <c:pt idx="3">
                  <c:v>912</c:v>
                </c:pt>
                <c:pt idx="4">
                  <c:v>480</c:v>
                </c:pt>
              </c:numCache>
            </c:numRef>
          </c:val>
          <c:extLst>
            <c:ext xmlns:c16="http://schemas.microsoft.com/office/drawing/2014/chart" uri="{C3380CC4-5D6E-409C-BE32-E72D297353CC}">
              <c16:uniqueId val="{00000000-4B43-402F-9A51-790AEBC89C02}"/>
            </c:ext>
          </c:extLst>
        </c:ser>
        <c:dLbls>
          <c:dLblPos val="outEnd"/>
          <c:showLegendKey val="0"/>
          <c:showVal val="1"/>
          <c:showCatName val="0"/>
          <c:showSerName val="0"/>
          <c:showPercent val="0"/>
          <c:showBubbleSize val="0"/>
        </c:dLbls>
        <c:gapWidth val="50"/>
        <c:axId val="330539199"/>
        <c:axId val="330539679"/>
      </c:barChart>
      <c:catAx>
        <c:axId val="330539199"/>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330539679"/>
        <c:crosses val="autoZero"/>
        <c:auto val="1"/>
        <c:lblAlgn val="ctr"/>
        <c:lblOffset val="100"/>
        <c:noMultiLvlLbl val="0"/>
      </c:catAx>
      <c:valAx>
        <c:axId val="330539679"/>
        <c:scaling>
          <c:orientation val="minMax"/>
        </c:scaling>
        <c:delete val="1"/>
        <c:axPos val="b"/>
        <c:numFmt formatCode="_(* #,##0_);_(* \(#,##0\);_(* &quot;-&quot;??_);_(@_)" sourceLinked="1"/>
        <c:majorTickMark val="none"/>
        <c:minorTickMark val="none"/>
        <c:tickLblPos val="nextTo"/>
        <c:crossAx val="330539199"/>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25-Vincent.xlsx]Pivot_Table_Quantities!PivotTable5</c:name>
    <c:fmtId val="29"/>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Bottom 5 Pizzas by Quantities</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Pivot_Table_Quantities!$K$6</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Pivot_Table_Quantities!$J$7:$J$11</c:f>
              <c:strCache>
                <c:ptCount val="5"/>
                <c:pt idx="0">
                  <c:v>The Chicken Pesto Pizza</c:v>
                </c:pt>
                <c:pt idx="1">
                  <c:v>The Spinach Supreme Pizza</c:v>
                </c:pt>
                <c:pt idx="2">
                  <c:v>The Calabrese Pizza</c:v>
                </c:pt>
                <c:pt idx="3">
                  <c:v>The Mediterranean Pizza</c:v>
                </c:pt>
                <c:pt idx="4">
                  <c:v>The Brie Carre Pizza</c:v>
                </c:pt>
              </c:strCache>
            </c:strRef>
          </c:cat>
          <c:val>
            <c:numRef>
              <c:f>Pivot_Table_Quantities!$K$7:$K$11</c:f>
              <c:numCache>
                <c:formatCode>_(* #,##0_);_(* \(#,##0\);_(* "-"??_);_(@_)</c:formatCode>
                <c:ptCount val="5"/>
                <c:pt idx="0">
                  <c:v>973</c:v>
                </c:pt>
                <c:pt idx="1">
                  <c:v>950</c:v>
                </c:pt>
                <c:pt idx="2">
                  <c:v>937</c:v>
                </c:pt>
                <c:pt idx="3">
                  <c:v>934</c:v>
                </c:pt>
                <c:pt idx="4">
                  <c:v>490</c:v>
                </c:pt>
              </c:numCache>
            </c:numRef>
          </c:val>
          <c:extLst>
            <c:ext xmlns:c16="http://schemas.microsoft.com/office/drawing/2014/chart" uri="{C3380CC4-5D6E-409C-BE32-E72D297353CC}">
              <c16:uniqueId val="{00000000-9DFA-428E-8441-B3A8E098E16D}"/>
            </c:ext>
          </c:extLst>
        </c:ser>
        <c:dLbls>
          <c:dLblPos val="outEnd"/>
          <c:showLegendKey val="0"/>
          <c:showVal val="1"/>
          <c:showCatName val="0"/>
          <c:showSerName val="0"/>
          <c:showPercent val="0"/>
          <c:showBubbleSize val="0"/>
        </c:dLbls>
        <c:gapWidth val="50"/>
        <c:axId val="330539199"/>
        <c:axId val="330539679"/>
      </c:barChart>
      <c:catAx>
        <c:axId val="330539199"/>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330539679"/>
        <c:crosses val="autoZero"/>
        <c:auto val="1"/>
        <c:lblAlgn val="ctr"/>
        <c:lblOffset val="100"/>
        <c:noMultiLvlLbl val="0"/>
      </c:catAx>
      <c:valAx>
        <c:axId val="330539679"/>
        <c:scaling>
          <c:orientation val="minMax"/>
        </c:scaling>
        <c:delete val="1"/>
        <c:axPos val="b"/>
        <c:numFmt formatCode="_(* #,##0_);_(* \(#,##0\);_(* &quot;-&quot;??_);_(@_)" sourceLinked="1"/>
        <c:majorTickMark val="none"/>
        <c:minorTickMark val="none"/>
        <c:tickLblPos val="nextTo"/>
        <c:crossAx val="330539199"/>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[Project-EXC 25-Vincent.xlsx]Pivot_Table_AOV!PivotTable10</c:name>
    <c:fmtId val="86"/>
  </c:pivotSource>
  <c:chart>
    <c:title>
      <c:tx>
        <c:rich>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r>
              <a:rPr lang="en-US" sz="1100" b="1" i="0" u="none" strike="noStrike" kern="1200" baseline="0">
                <a:solidFill>
                  <a:srgbClr val="FFFF00"/>
                </a:solidFill>
                <a:latin typeface="+mn-lt"/>
                <a:ea typeface="+mn-ea"/>
                <a:cs typeface="+mn-cs"/>
              </a:rPr>
              <a:t>Bottom 5 Pizzas by Revenue per Pizza</a:t>
            </a:r>
          </a:p>
        </c:rich>
      </c:tx>
      <c:overlay val="0"/>
      <c:spPr>
        <a:noFill/>
        <a:ln>
          <a:noFill/>
        </a:ln>
        <a:effectLst/>
      </c:spPr>
      <c:txPr>
        <a:bodyPr rot="0" spcFirstLastPara="1" vertOverflow="ellipsis" vert="horz" wrap="square" anchor="ctr" anchorCtr="1"/>
        <a:lstStyle/>
        <a:p>
          <a:pPr algn="ctr">
            <a:defRPr lang="en-US" sz="1100" b="1" i="0" u="none" strike="noStrike" kern="1200" spc="0" baseline="0">
              <a:solidFill>
                <a:srgbClr val="FFFF00"/>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rgbClr val="FFFF00"/>
          </a:solidFill>
          <a:ln w="22225">
            <a:solidFill>
              <a:srgbClr val="A3220D"/>
            </a:solidFill>
          </a:ln>
          <a:effectLst/>
        </c:spPr>
        <c:marker>
          <c:symbol val="none"/>
        </c:marker>
        <c:dLbl>
          <c:idx val="0"/>
          <c:spPr>
            <a:solidFill>
              <a:sysClr val="window" lastClr="FFFFFF"/>
            </a:solidFill>
            <a:ln>
              <a:noFill/>
            </a:ln>
            <a:effectLst/>
          </c:spPr>
          <c:txPr>
            <a:bodyPr rot="0" spcFirstLastPara="1" vertOverflow="ellipsis" vert="horz" wrap="square" anchor="ctr" anchorCtr="0"/>
            <a:lstStyle/>
            <a:p>
              <a:pPr algn="ctr">
                <a:defRPr lang="en-US" sz="1050" b="1" i="0" u="none" strike="noStrike" kern="1200" baseline="0">
                  <a:solidFill>
                    <a:schemeClr val="accent2">
                      <a:lumMod val="75000"/>
                    </a:schemeClr>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rgbClr val="FFFF00"/>
          </a:solidFill>
          <a:ln w="22225">
            <a:solidFill>
              <a:srgbClr val="A3220D"/>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1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0"/>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1"/>
        <c:spPr>
          <a:solidFill>
            <a:srgbClr val="FFFF00"/>
          </a:solidFill>
          <a:ln w="22225">
            <a:solidFill>
              <a:srgbClr val="C00000"/>
            </a:solidFill>
          </a:ln>
          <a:effectLst/>
        </c:spPr>
        <c:marker>
          <c:symbol val="none"/>
        </c:marker>
        <c:dLbl>
          <c:idx val="0"/>
          <c:spPr>
            <a:solidFill>
              <a:srgbClr val="C00000"/>
            </a:solidFill>
            <a:ln>
              <a:noFill/>
            </a:ln>
            <a:effectLst/>
          </c:spPr>
          <c:txPr>
            <a:bodyPr rot="0" spcFirstLastPara="1" vertOverflow="ellipsis" vert="horz" wrap="square" lIns="38100" tIns="19050" rIns="38100" bIns="19050" anchor="ctr" anchorCtr="1">
              <a:spAutoFit/>
            </a:bodyPr>
            <a:lstStyle/>
            <a:p>
              <a:pPr>
                <a:defRPr lang="en-US" sz="105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Pivot_Table_AOV!$F$15</c:f>
              <c:strCache>
                <c:ptCount val="1"/>
                <c:pt idx="0">
                  <c:v>Total</c:v>
                </c:pt>
              </c:strCache>
            </c:strRef>
          </c:tx>
          <c:spPr>
            <a:solidFill>
              <a:srgbClr val="FFFF00"/>
            </a:solidFill>
            <a:ln w="22225">
              <a:solidFill>
                <a:srgbClr val="C00000"/>
              </a:solidFill>
            </a:ln>
            <a:effectLst/>
          </c:spPr>
          <c:invertIfNegative val="0"/>
          <c:dLbls>
            <c:spPr>
              <a:solidFill>
                <a:srgbClr val="C00000"/>
              </a:solid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rgbClr val="FFFF00"/>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Pivot_Table_AOV!$E$16:$E$21</c:f>
              <c:strCache>
                <c:ptCount val="5"/>
                <c:pt idx="0">
                  <c:v>The Green Garden Pizza</c:v>
                </c:pt>
                <c:pt idx="1">
                  <c:v>The Pepperoni, Mushroom, and Peppers Pizza</c:v>
                </c:pt>
                <c:pt idx="2">
                  <c:v>The Hawaiian Pizza</c:v>
                </c:pt>
                <c:pt idx="3">
                  <c:v>The Pepperoni Pizza</c:v>
                </c:pt>
                <c:pt idx="4">
                  <c:v>The Big Meat Pizza</c:v>
                </c:pt>
              </c:strCache>
            </c:strRef>
          </c:cat>
          <c:val>
            <c:numRef>
              <c:f>Pivot_Table_AOV!$F$16:$F$21</c:f>
              <c:numCache>
                <c:formatCode>_("$"* #,##0.00_);_("$"* \(#,##0.00\);_("$"* "-"??_);_(@_)</c:formatCode>
                <c:ptCount val="5"/>
                <c:pt idx="0">
                  <c:v>13.997743229689068</c:v>
                </c:pt>
                <c:pt idx="1">
                  <c:v>13.859087564385577</c:v>
                </c:pt>
                <c:pt idx="2">
                  <c:v>13.325041288191578</c:v>
                </c:pt>
                <c:pt idx="3">
                  <c:v>12.473842018196857</c:v>
                </c:pt>
                <c:pt idx="4">
                  <c:v>12</c:v>
                </c:pt>
              </c:numCache>
            </c:numRef>
          </c:val>
          <c:extLst>
            <c:ext xmlns:c16="http://schemas.microsoft.com/office/drawing/2014/chart" uri="{C3380CC4-5D6E-409C-BE32-E72D297353CC}">
              <c16:uniqueId val="{00000000-AAAE-4932-B714-DD97A3C9F101}"/>
            </c:ext>
          </c:extLst>
        </c:ser>
        <c:dLbls>
          <c:dLblPos val="outEnd"/>
          <c:showLegendKey val="0"/>
          <c:showVal val="1"/>
          <c:showCatName val="0"/>
          <c:showSerName val="0"/>
          <c:showPercent val="0"/>
          <c:showBubbleSize val="0"/>
        </c:dLbls>
        <c:gapWidth val="50"/>
        <c:axId val="330539199"/>
        <c:axId val="330539679"/>
      </c:barChart>
      <c:catAx>
        <c:axId val="330539199"/>
        <c:scaling>
          <c:orientation val="minMax"/>
        </c:scaling>
        <c:delete val="0"/>
        <c:axPos val="l"/>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lang="en-US" sz="800" b="0" i="0" u="none" strike="noStrike" kern="1200" cap="none" spc="0" baseline="0">
                <a:ln w="0"/>
                <a:solidFill>
                  <a:schemeClr val="tx1"/>
                </a:solidFill>
                <a:effectLst>
                  <a:outerShdw blurRad="38100" dist="19050" dir="2700000" algn="tl" rotWithShape="0">
                    <a:schemeClr val="dk1">
                      <a:alpha val="40000"/>
                    </a:schemeClr>
                  </a:outerShdw>
                </a:effectLst>
                <a:latin typeface="+mn-lt"/>
                <a:ea typeface="+mn-ea"/>
                <a:cs typeface="+mn-cs"/>
              </a:defRPr>
            </a:pPr>
            <a:endParaRPr lang="en-US"/>
          </a:p>
        </c:txPr>
        <c:crossAx val="330539679"/>
        <c:crosses val="autoZero"/>
        <c:auto val="1"/>
        <c:lblAlgn val="ctr"/>
        <c:lblOffset val="100"/>
        <c:noMultiLvlLbl val="0"/>
      </c:catAx>
      <c:valAx>
        <c:axId val="330539679"/>
        <c:scaling>
          <c:orientation val="minMax"/>
        </c:scaling>
        <c:delete val="1"/>
        <c:axPos val="b"/>
        <c:numFmt formatCode="_(&quot;$&quot;* #,##0.00_);_(&quot;$&quot;* \(#,##0.00\);_(&quot;$&quot;* &quot;-&quot;??_);_(@_)" sourceLinked="1"/>
        <c:majorTickMark val="none"/>
        <c:minorTickMark val="none"/>
        <c:tickLblPos val="nextTo"/>
        <c:crossAx val="330539199"/>
        <c:crosses val="autoZero"/>
        <c:crossBetween val="between"/>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60000"/>
        <a:lumOff val="40000"/>
      </a:schemeClr>
    </a:solidFill>
    <a:ln w="9525" cap="flat" cmpd="sng" algn="ctr">
      <a:solidFill>
        <a:schemeClr val="tx1"/>
      </a:solidFill>
      <a:round/>
    </a:ln>
    <a:effectLst/>
  </c:spPr>
  <c:txPr>
    <a:bodyPr/>
    <a:lstStyle/>
    <a:p>
      <a:pPr algn="ctr">
        <a:defRPr lang="en-US" sz="900" b="1" i="0" u="none" strike="noStrike" kern="1200" baseline="0">
          <a:solidFill>
            <a:srgbClr val="FFFF00"/>
          </a:solidFill>
          <a:latin typeface="+mn-lt"/>
          <a:ea typeface="+mn-ea"/>
          <a:cs typeface="+mn-cs"/>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 name="Google Shape;4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 name="Google Shape;49;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40166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 name="Google Shape;60;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422404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74791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876517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27611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191845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3848989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9737051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55168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597301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01661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eeb0876f63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3eeb0876f63_0_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9"/>
        <p:cNvGrpSpPr/>
        <p:nvPr/>
      </p:nvGrpSpPr>
      <p:grpSpPr>
        <a:xfrm>
          <a:off x="0" y="0"/>
          <a:ext cx="0" cy="0"/>
          <a:chOff x="0" y="0"/>
          <a:chExt cx="0" cy="0"/>
        </a:xfrm>
      </p:grpSpPr>
      <p:sp>
        <p:nvSpPr>
          <p:cNvPr id="10" name="Google Shape;10;p7"/>
          <p:cNvSpPr txBox="1">
            <a:spLocks noGrp="1"/>
          </p:cNvSpPr>
          <p:nvPr>
            <p:ph type="ctrTitle"/>
          </p:nvPr>
        </p:nvSpPr>
        <p:spPr>
          <a:xfrm>
            <a:off x="215700" y="859800"/>
            <a:ext cx="4020300" cy="24042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Clr>
                <a:schemeClr val="lt1"/>
              </a:buClr>
              <a:buSzPts val="4000"/>
              <a:buNone/>
              <a:defRPr sz="4000">
                <a:solidFill>
                  <a:schemeClr val="lt1"/>
                </a:solidFill>
              </a:defRPr>
            </a:lvl1pPr>
            <a:lvl2pPr lvl="1" algn="ctr">
              <a:lnSpc>
                <a:spcPct val="100000"/>
              </a:lnSpc>
              <a:spcBef>
                <a:spcPts val="0"/>
              </a:spcBef>
              <a:spcAft>
                <a:spcPts val="0"/>
              </a:spcAft>
              <a:buSzPts val="4100"/>
              <a:buNone/>
              <a:defRPr sz="4100"/>
            </a:lvl2pPr>
            <a:lvl3pPr lvl="2" algn="ctr">
              <a:lnSpc>
                <a:spcPct val="100000"/>
              </a:lnSpc>
              <a:spcBef>
                <a:spcPts val="0"/>
              </a:spcBef>
              <a:spcAft>
                <a:spcPts val="0"/>
              </a:spcAft>
              <a:buSzPts val="4100"/>
              <a:buNone/>
              <a:defRPr sz="4100"/>
            </a:lvl3pPr>
            <a:lvl4pPr lvl="3" algn="ctr">
              <a:lnSpc>
                <a:spcPct val="100000"/>
              </a:lnSpc>
              <a:spcBef>
                <a:spcPts val="0"/>
              </a:spcBef>
              <a:spcAft>
                <a:spcPts val="0"/>
              </a:spcAft>
              <a:buSzPts val="4100"/>
              <a:buNone/>
              <a:defRPr sz="4100"/>
            </a:lvl4pPr>
            <a:lvl5pPr lvl="4" algn="ctr">
              <a:lnSpc>
                <a:spcPct val="100000"/>
              </a:lnSpc>
              <a:spcBef>
                <a:spcPts val="0"/>
              </a:spcBef>
              <a:spcAft>
                <a:spcPts val="0"/>
              </a:spcAft>
              <a:buSzPts val="4100"/>
              <a:buNone/>
              <a:defRPr sz="4100"/>
            </a:lvl5pPr>
            <a:lvl6pPr lvl="5" algn="ctr">
              <a:lnSpc>
                <a:spcPct val="100000"/>
              </a:lnSpc>
              <a:spcBef>
                <a:spcPts val="0"/>
              </a:spcBef>
              <a:spcAft>
                <a:spcPts val="0"/>
              </a:spcAft>
              <a:buSzPts val="4100"/>
              <a:buNone/>
              <a:defRPr sz="4100"/>
            </a:lvl6pPr>
            <a:lvl7pPr lvl="6" algn="ctr">
              <a:lnSpc>
                <a:spcPct val="100000"/>
              </a:lnSpc>
              <a:spcBef>
                <a:spcPts val="0"/>
              </a:spcBef>
              <a:spcAft>
                <a:spcPts val="0"/>
              </a:spcAft>
              <a:buSzPts val="4100"/>
              <a:buNone/>
              <a:defRPr sz="4100"/>
            </a:lvl7pPr>
            <a:lvl8pPr lvl="7" algn="ctr">
              <a:lnSpc>
                <a:spcPct val="100000"/>
              </a:lnSpc>
              <a:spcBef>
                <a:spcPts val="0"/>
              </a:spcBef>
              <a:spcAft>
                <a:spcPts val="0"/>
              </a:spcAft>
              <a:buSzPts val="4100"/>
              <a:buNone/>
              <a:defRPr sz="4100"/>
            </a:lvl8pPr>
            <a:lvl9pPr lvl="8" algn="ctr">
              <a:lnSpc>
                <a:spcPct val="100000"/>
              </a:lnSpc>
              <a:spcBef>
                <a:spcPts val="0"/>
              </a:spcBef>
              <a:spcAft>
                <a:spcPts val="0"/>
              </a:spcAft>
              <a:buSzPts val="4100"/>
              <a:buNone/>
              <a:defRPr sz="4100"/>
            </a:lvl9pPr>
          </a:lstStyle>
          <a:p>
            <a:endParaRPr/>
          </a:p>
        </p:txBody>
      </p:sp>
      <p:sp>
        <p:nvSpPr>
          <p:cNvPr id="11" name="Google Shape;11;p7"/>
          <p:cNvSpPr txBox="1">
            <a:spLocks noGrp="1"/>
          </p:cNvSpPr>
          <p:nvPr>
            <p:ph type="subTitle" idx="1"/>
          </p:nvPr>
        </p:nvSpPr>
        <p:spPr>
          <a:xfrm>
            <a:off x="215700" y="4107600"/>
            <a:ext cx="4248300" cy="5907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1900"/>
              <a:buNone/>
              <a:defRPr sz="1900"/>
            </a:lvl1pPr>
            <a:lvl2pPr lvl="1" algn="l">
              <a:lnSpc>
                <a:spcPct val="100000"/>
              </a:lnSpc>
              <a:spcBef>
                <a:spcPts val="0"/>
              </a:spcBef>
              <a:spcAft>
                <a:spcPts val="0"/>
              </a:spcAft>
              <a:buSzPts val="1900"/>
              <a:buNone/>
              <a:defRPr sz="1900"/>
            </a:lvl2pPr>
            <a:lvl3pPr lvl="2" algn="l">
              <a:lnSpc>
                <a:spcPct val="100000"/>
              </a:lnSpc>
              <a:spcBef>
                <a:spcPts val="0"/>
              </a:spcBef>
              <a:spcAft>
                <a:spcPts val="0"/>
              </a:spcAft>
              <a:buSzPts val="1900"/>
              <a:buNone/>
              <a:defRPr sz="1900"/>
            </a:lvl3pPr>
            <a:lvl4pPr lvl="3" algn="l">
              <a:lnSpc>
                <a:spcPct val="100000"/>
              </a:lnSpc>
              <a:spcBef>
                <a:spcPts val="0"/>
              </a:spcBef>
              <a:spcAft>
                <a:spcPts val="0"/>
              </a:spcAft>
              <a:buSzPts val="1900"/>
              <a:buNone/>
              <a:defRPr sz="1900"/>
            </a:lvl4pPr>
            <a:lvl5pPr lvl="4" algn="l">
              <a:lnSpc>
                <a:spcPct val="100000"/>
              </a:lnSpc>
              <a:spcBef>
                <a:spcPts val="0"/>
              </a:spcBef>
              <a:spcAft>
                <a:spcPts val="0"/>
              </a:spcAft>
              <a:buSzPts val="1900"/>
              <a:buNone/>
              <a:defRPr sz="1900"/>
            </a:lvl5pPr>
            <a:lvl6pPr lvl="5" algn="l">
              <a:lnSpc>
                <a:spcPct val="100000"/>
              </a:lnSpc>
              <a:spcBef>
                <a:spcPts val="0"/>
              </a:spcBef>
              <a:spcAft>
                <a:spcPts val="0"/>
              </a:spcAft>
              <a:buSzPts val="1900"/>
              <a:buNone/>
              <a:defRPr sz="1900"/>
            </a:lvl6pPr>
            <a:lvl7pPr lvl="6" algn="l">
              <a:lnSpc>
                <a:spcPct val="100000"/>
              </a:lnSpc>
              <a:spcBef>
                <a:spcPts val="0"/>
              </a:spcBef>
              <a:spcAft>
                <a:spcPts val="0"/>
              </a:spcAft>
              <a:buSzPts val="1900"/>
              <a:buNone/>
              <a:defRPr sz="1900"/>
            </a:lvl7pPr>
            <a:lvl8pPr lvl="7" algn="l">
              <a:lnSpc>
                <a:spcPct val="100000"/>
              </a:lnSpc>
              <a:spcBef>
                <a:spcPts val="0"/>
              </a:spcBef>
              <a:spcAft>
                <a:spcPts val="0"/>
              </a:spcAft>
              <a:buSzPts val="1900"/>
              <a:buNone/>
              <a:defRPr sz="1900"/>
            </a:lvl8pPr>
            <a:lvl9pPr lvl="8" algn="l">
              <a:lnSpc>
                <a:spcPct val="100000"/>
              </a:lnSpc>
              <a:spcBef>
                <a:spcPts val="0"/>
              </a:spcBef>
              <a:spcAft>
                <a:spcPts val="0"/>
              </a:spcAft>
              <a:buSzPts val="1900"/>
              <a:buNone/>
              <a:defRPr sz="1900"/>
            </a:lvl9pPr>
          </a:lstStyle>
          <a:p>
            <a:endParaRPr/>
          </a:p>
        </p:txBody>
      </p:sp>
      <p:sp>
        <p:nvSpPr>
          <p:cNvPr id="12" name="Google Shape;12;p7"/>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14" name="Google Shape;14;p8"/>
          <p:cNvSpPr txBox="1">
            <a:spLocks noGrp="1"/>
          </p:cNvSpPr>
          <p:nvPr>
            <p:ph type="title"/>
          </p:nvPr>
        </p:nvSpPr>
        <p:spPr>
          <a:xfrm>
            <a:off x="1080000" y="1958850"/>
            <a:ext cx="69840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Clr>
                <a:schemeClr val="lt1"/>
              </a:buClr>
              <a:buSzPts val="3200"/>
              <a:buNone/>
              <a:defRPr sz="3200">
                <a:solidFill>
                  <a:schemeClr val="lt1"/>
                </a:solidFill>
              </a:defRPr>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a:endParaRPr/>
          </a:p>
        </p:txBody>
      </p:sp>
      <p:sp>
        <p:nvSpPr>
          <p:cNvPr id="15" name="Google Shape;15;p8"/>
          <p:cNvSpPr txBox="1">
            <a:spLocks noGrp="1"/>
          </p:cNvSpPr>
          <p:nvPr>
            <p:ph type="sldNum" idx="12"/>
          </p:nvPr>
        </p:nvSpPr>
        <p:spPr>
          <a:xfrm>
            <a:off x="8472458" y="48156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9"/>
          <p:cNvSpPr txBox="1">
            <a:spLocks noGrp="1"/>
          </p:cNvSpPr>
          <p:nvPr>
            <p:ph type="title"/>
          </p:nvPr>
        </p:nvSpPr>
        <p:spPr>
          <a:xfrm>
            <a:off x="311700" y="672450"/>
            <a:ext cx="54843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9"/>
          <p:cNvSpPr txBox="1">
            <a:spLocks noGrp="1"/>
          </p:cNvSpPr>
          <p:nvPr>
            <p:ph type="body" idx="1"/>
          </p:nvPr>
        </p:nvSpPr>
        <p:spPr>
          <a:xfrm>
            <a:off x="311700" y="1355375"/>
            <a:ext cx="8520600" cy="30468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Font typeface="Poppins"/>
              <a:buChar char="●"/>
              <a:defRPr>
                <a:latin typeface="Poppins"/>
                <a:ea typeface="Poppins"/>
                <a:cs typeface="Poppins"/>
                <a:sym typeface="Poppins"/>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9"/>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blipFill>
          <a:blip r:embed="rId2">
            <a:alphaModFix/>
          </a:blip>
          <a:stretch>
            <a:fillRect/>
          </a:stretch>
        </a:blipFill>
        <a:effectLst/>
      </p:bgPr>
    </p:bg>
    <p:spTree>
      <p:nvGrpSpPr>
        <p:cNvPr id="1" name="Shape 20"/>
        <p:cNvGrpSpPr/>
        <p:nvPr/>
      </p:nvGrpSpPr>
      <p:grpSpPr>
        <a:xfrm>
          <a:off x="0" y="0"/>
          <a:ext cx="0" cy="0"/>
          <a:chOff x="0" y="0"/>
          <a:chExt cx="0" cy="0"/>
        </a:xfrm>
      </p:grpSpPr>
      <p:sp>
        <p:nvSpPr>
          <p:cNvPr id="21" name="Google Shape;21;p10"/>
          <p:cNvSpPr txBox="1">
            <a:spLocks noGrp="1"/>
          </p:cNvSpPr>
          <p:nvPr>
            <p:ph type="title"/>
          </p:nvPr>
        </p:nvSpPr>
        <p:spPr>
          <a:xfrm>
            <a:off x="265500" y="1425175"/>
            <a:ext cx="2638500" cy="14823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Clr>
                <a:schemeClr val="lt1"/>
              </a:buClr>
              <a:buSzPts val="3300"/>
              <a:buNone/>
              <a:defRPr sz="3300">
                <a:solidFill>
                  <a:schemeClr val="lt1"/>
                </a:solidFill>
              </a:defRPr>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22" name="Google Shape;22;p10"/>
          <p:cNvSpPr txBox="1">
            <a:spLocks noGrp="1"/>
          </p:cNvSpPr>
          <p:nvPr>
            <p:ph type="subTitle" idx="1"/>
          </p:nvPr>
        </p:nvSpPr>
        <p:spPr>
          <a:xfrm>
            <a:off x="265500" y="3144000"/>
            <a:ext cx="2386500" cy="7680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1pPr>
            <a:lvl2pPr lvl="1"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2pPr>
            <a:lvl3pPr lvl="2"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3pPr>
            <a:lvl4pPr lvl="3"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4pPr>
            <a:lvl5pPr lvl="4"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5pPr>
            <a:lvl6pPr lvl="5"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6pPr>
            <a:lvl7pPr lvl="6"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7pPr>
            <a:lvl8pPr lvl="7"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8pPr>
            <a:lvl9pPr lvl="8" algn="ctr">
              <a:lnSpc>
                <a:spcPct val="100000"/>
              </a:lnSpc>
              <a:spcBef>
                <a:spcPts val="0"/>
              </a:spcBef>
              <a:spcAft>
                <a:spcPts val="0"/>
              </a:spcAft>
              <a:buClr>
                <a:srgbClr val="C3F73A"/>
              </a:buClr>
              <a:buSzPts val="1700"/>
              <a:buFont typeface="Poppins Light"/>
              <a:buNone/>
              <a:defRPr sz="1700">
                <a:solidFill>
                  <a:srgbClr val="C3F73A"/>
                </a:solidFill>
                <a:latin typeface="Poppins Light"/>
                <a:ea typeface="Poppins Light"/>
                <a:cs typeface="Poppins Light"/>
                <a:sym typeface="Poppins Light"/>
              </a:defRPr>
            </a:lvl9pPr>
          </a:lstStyle>
          <a:p>
            <a:endParaRPr/>
          </a:p>
        </p:txBody>
      </p:sp>
      <p:sp>
        <p:nvSpPr>
          <p:cNvPr id="23" name="Google Shape;23;p10"/>
          <p:cNvSpPr txBox="1">
            <a:spLocks noGrp="1"/>
          </p:cNvSpPr>
          <p:nvPr>
            <p:ph type="body" idx="2"/>
          </p:nvPr>
        </p:nvSpPr>
        <p:spPr>
          <a:xfrm>
            <a:off x="3972000" y="724075"/>
            <a:ext cx="48045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4" name="Google Shape;24;p10"/>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blipFill>
          <a:blip r:embed="rId2">
            <a:alphaModFix/>
          </a:blip>
          <a:stretch>
            <a:fillRect/>
          </a:stretch>
        </a:blipFill>
        <a:effectLst/>
      </p:bgPr>
    </p:bg>
    <p:spTree>
      <p:nvGrpSpPr>
        <p:cNvPr id="1" name="Shape 25"/>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6"/>
        <p:cNvGrpSpPr/>
        <p:nvPr/>
      </p:nvGrpSpPr>
      <p:grpSpPr>
        <a:xfrm>
          <a:off x="0" y="0"/>
          <a:ext cx="0" cy="0"/>
          <a:chOff x="0" y="0"/>
          <a:chExt cx="0" cy="0"/>
        </a:xfrm>
      </p:grpSpPr>
      <p:sp>
        <p:nvSpPr>
          <p:cNvPr id="27" name="Google Shape;27;p12"/>
          <p:cNvSpPr txBox="1">
            <a:spLocks noGrp="1"/>
          </p:cNvSpPr>
          <p:nvPr>
            <p:ph type="title"/>
          </p:nvPr>
        </p:nvSpPr>
        <p:spPr>
          <a:xfrm>
            <a:off x="311700" y="579775"/>
            <a:ext cx="54843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8" name="Google Shape;28;p12"/>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9" name="Google Shape;29;p12"/>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0" name="Google Shape;30;p12"/>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blipFill>
          <a:blip r:embed="rId2">
            <a:alphaModFix/>
          </a:blip>
          <a:stretch>
            <a:fillRect/>
          </a:stretch>
        </a:blipFill>
        <a:effectLst/>
      </p:bgPr>
    </p:bg>
    <p:spTree>
      <p:nvGrpSpPr>
        <p:cNvPr id="1" name="Shape 31"/>
        <p:cNvGrpSpPr/>
        <p:nvPr/>
      </p:nvGrpSpPr>
      <p:grpSpPr>
        <a:xfrm>
          <a:off x="0" y="0"/>
          <a:ext cx="0" cy="0"/>
          <a:chOff x="0" y="0"/>
          <a:chExt cx="0" cy="0"/>
        </a:xfrm>
      </p:grpSpPr>
      <p:sp>
        <p:nvSpPr>
          <p:cNvPr id="32" name="Google Shape;32;p13"/>
          <p:cNvSpPr txBox="1">
            <a:spLocks noGrp="1"/>
          </p:cNvSpPr>
          <p:nvPr>
            <p:ph type="title"/>
          </p:nvPr>
        </p:nvSpPr>
        <p:spPr>
          <a:xfrm>
            <a:off x="1829850" y="2065025"/>
            <a:ext cx="54843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3" name="Google Shape;33;p13"/>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1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14"/>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blipFill>
          <a:blip r:embed="rId2">
            <a:alphaModFix/>
          </a:blip>
          <a:stretch>
            <a:fillRect/>
          </a:stretch>
        </a:blipFill>
        <a:effectLst/>
      </p:bgPr>
    </p:bg>
    <p:spTree>
      <p:nvGrpSpPr>
        <p:cNvPr id="1" name="Shape 37"/>
        <p:cNvGrpSpPr/>
        <p:nvPr/>
      </p:nvGrpSpPr>
      <p:grpSpPr>
        <a:xfrm>
          <a:off x="0" y="0"/>
          <a:ext cx="0" cy="0"/>
          <a:chOff x="0" y="0"/>
          <a:chExt cx="0" cy="0"/>
        </a:xfrm>
      </p:grpSpPr>
      <p:sp>
        <p:nvSpPr>
          <p:cNvPr id="38" name="Google Shape;38;p15"/>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5"/>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D606D"/>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6"/>
          <p:cNvSpPr txBox="1">
            <a:spLocks noGrp="1"/>
          </p:cNvSpPr>
          <p:nvPr>
            <p:ph type="title"/>
          </p:nvPr>
        </p:nvSpPr>
        <p:spPr>
          <a:xfrm>
            <a:off x="311700" y="579775"/>
            <a:ext cx="54843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rgbClr val="52AA5E"/>
              </a:buClr>
              <a:buSzPts val="2800"/>
              <a:buFont typeface="Poppins"/>
              <a:buNone/>
              <a:defRPr sz="2800" b="1" i="0" u="none" strike="noStrike" cap="none">
                <a:solidFill>
                  <a:srgbClr val="52AA5E"/>
                </a:solidFill>
                <a:latin typeface="Poppins"/>
                <a:ea typeface="Poppins"/>
                <a:cs typeface="Poppins"/>
                <a:sym typeface="Poppins"/>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6"/>
          <p:cNvSpPr txBox="1">
            <a:spLocks noGrp="1"/>
          </p:cNvSpPr>
          <p:nvPr>
            <p:ph type="body" idx="1"/>
          </p:nvPr>
        </p:nvSpPr>
        <p:spPr>
          <a:xfrm>
            <a:off x="311700" y="1355375"/>
            <a:ext cx="8520600" cy="30468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accent2"/>
              </a:buClr>
              <a:buSzPts val="1800"/>
              <a:buFont typeface="Poppins SemiBold"/>
              <a:buChar char="●"/>
              <a:defRPr sz="1800" b="0" i="0" u="none" strike="noStrike" cap="none">
                <a:solidFill>
                  <a:schemeClr val="accent2"/>
                </a:solidFill>
                <a:latin typeface="Poppins SemiBold"/>
                <a:ea typeface="Poppins SemiBold"/>
                <a:cs typeface="Poppins SemiBold"/>
                <a:sym typeface="Poppins SemiBold"/>
              </a:defRPr>
            </a:lvl1pPr>
            <a:lvl2pPr marL="914400" marR="0" lvl="1"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2pPr>
            <a:lvl3pPr marL="1371600" marR="0" lvl="2"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3pPr>
            <a:lvl4pPr marL="1828800" marR="0" lvl="3"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4pPr>
            <a:lvl5pPr marL="2286000" marR="0" lvl="4"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5pPr>
            <a:lvl6pPr marL="2743200" marR="0" lvl="5"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6pPr>
            <a:lvl7pPr marL="3200400" marR="0" lvl="6"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7pPr>
            <a:lvl8pPr marL="3657600" marR="0" lvl="7"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8pPr>
            <a:lvl9pPr marL="4114800" marR="0" lvl="8"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9pPr>
          </a:lstStyle>
          <a:p>
            <a:endParaRPr/>
          </a:p>
        </p:txBody>
      </p:sp>
      <p:sp>
        <p:nvSpPr>
          <p:cNvPr id="8" name="Google Shape;8;p6"/>
          <p:cNvSpPr txBox="1">
            <a:spLocks noGrp="1"/>
          </p:cNvSpPr>
          <p:nvPr>
            <p:ph type="sldNum" idx="12"/>
          </p:nvPr>
        </p:nvSpPr>
        <p:spPr>
          <a:xfrm>
            <a:off x="8472458" y="47394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mavenanalytics.io/data-playground/"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mavenanalytics.io/data-playground/pizza-place-sale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chart" Target="../charts/chart1.xml"/><Relationship Id="rId7"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chart" Target="../charts/chart13.xml"/><Relationship Id="rId13" Type="http://schemas.openxmlformats.org/officeDocument/2006/relationships/chart" Target="../charts/chart18.xml"/><Relationship Id="rId3" Type="http://schemas.openxmlformats.org/officeDocument/2006/relationships/chart" Target="../charts/chart8.xml"/><Relationship Id="rId7" Type="http://schemas.openxmlformats.org/officeDocument/2006/relationships/chart" Target="../charts/chart12.xml"/><Relationship Id="rId12" Type="http://schemas.openxmlformats.org/officeDocument/2006/relationships/chart" Target="../charts/chart17.xml"/><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chart" Target="../charts/chart11.xml"/><Relationship Id="rId11" Type="http://schemas.openxmlformats.org/officeDocument/2006/relationships/chart" Target="../charts/chart16.xml"/><Relationship Id="rId5" Type="http://schemas.openxmlformats.org/officeDocument/2006/relationships/chart" Target="../charts/chart10.xml"/><Relationship Id="rId10" Type="http://schemas.openxmlformats.org/officeDocument/2006/relationships/chart" Target="../charts/chart15.xml"/><Relationship Id="rId4" Type="http://schemas.openxmlformats.org/officeDocument/2006/relationships/chart" Target="../charts/chart9.xml"/><Relationship Id="rId9" Type="http://schemas.openxmlformats.org/officeDocument/2006/relationships/chart" Target="../charts/char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chart" Target="../charts/chart24.xml"/><Relationship Id="rId13" Type="http://schemas.openxmlformats.org/officeDocument/2006/relationships/chart" Target="../charts/chart29.xml"/><Relationship Id="rId3" Type="http://schemas.openxmlformats.org/officeDocument/2006/relationships/chart" Target="../charts/chart19.xml"/><Relationship Id="rId7" Type="http://schemas.openxmlformats.org/officeDocument/2006/relationships/chart" Target="../charts/chart23.xml"/><Relationship Id="rId12" Type="http://schemas.openxmlformats.org/officeDocument/2006/relationships/chart" Target="../charts/chart28.xml"/><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chart" Target="../charts/chart22.xml"/><Relationship Id="rId11" Type="http://schemas.openxmlformats.org/officeDocument/2006/relationships/chart" Target="../charts/chart27.xml"/><Relationship Id="rId5" Type="http://schemas.openxmlformats.org/officeDocument/2006/relationships/chart" Target="../charts/chart21.xml"/><Relationship Id="rId10" Type="http://schemas.openxmlformats.org/officeDocument/2006/relationships/chart" Target="../charts/chart26.xml"/><Relationship Id="rId4" Type="http://schemas.openxmlformats.org/officeDocument/2006/relationships/chart" Target="../charts/chart20.xml"/><Relationship Id="rId9" Type="http://schemas.openxmlformats.org/officeDocument/2006/relationships/chart" Target="../charts/chart25.xml"/><Relationship Id="rId14" Type="http://schemas.openxmlformats.org/officeDocument/2006/relationships/chart" Target="../charts/chart3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chart" Target="../charts/chart36.xml"/><Relationship Id="rId13" Type="http://schemas.openxmlformats.org/officeDocument/2006/relationships/chart" Target="../charts/chart41.xml"/><Relationship Id="rId3" Type="http://schemas.openxmlformats.org/officeDocument/2006/relationships/chart" Target="../charts/chart31.xml"/><Relationship Id="rId7" Type="http://schemas.openxmlformats.org/officeDocument/2006/relationships/chart" Target="../charts/chart35.xml"/><Relationship Id="rId12" Type="http://schemas.openxmlformats.org/officeDocument/2006/relationships/chart" Target="../charts/chart40.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chart" Target="../charts/chart34.xml"/><Relationship Id="rId11" Type="http://schemas.openxmlformats.org/officeDocument/2006/relationships/chart" Target="../charts/chart39.xml"/><Relationship Id="rId5" Type="http://schemas.openxmlformats.org/officeDocument/2006/relationships/chart" Target="../charts/chart33.xml"/><Relationship Id="rId10" Type="http://schemas.openxmlformats.org/officeDocument/2006/relationships/chart" Target="../charts/chart38.xml"/><Relationship Id="rId4" Type="http://schemas.openxmlformats.org/officeDocument/2006/relationships/chart" Target="../charts/chart32.xml"/><Relationship Id="rId9" Type="http://schemas.openxmlformats.org/officeDocument/2006/relationships/chart" Target="../charts/chart37.xml"/><Relationship Id="rId14" Type="http://schemas.openxmlformats.org/officeDocument/2006/relationships/chart" Target="../charts/chart4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8" Type="http://schemas.openxmlformats.org/officeDocument/2006/relationships/chart" Target="../charts/chart48.xml"/><Relationship Id="rId13" Type="http://schemas.openxmlformats.org/officeDocument/2006/relationships/chart" Target="../charts/chart53.xml"/><Relationship Id="rId18" Type="http://schemas.openxmlformats.org/officeDocument/2006/relationships/chart" Target="../charts/chart58.xml"/><Relationship Id="rId3" Type="http://schemas.openxmlformats.org/officeDocument/2006/relationships/chart" Target="../charts/chart43.xml"/><Relationship Id="rId7" Type="http://schemas.openxmlformats.org/officeDocument/2006/relationships/chart" Target="../charts/chart47.xml"/><Relationship Id="rId12" Type="http://schemas.openxmlformats.org/officeDocument/2006/relationships/chart" Target="../charts/chart52.xml"/><Relationship Id="rId17" Type="http://schemas.openxmlformats.org/officeDocument/2006/relationships/chart" Target="../charts/chart57.xml"/><Relationship Id="rId2" Type="http://schemas.openxmlformats.org/officeDocument/2006/relationships/notesSlide" Target="../notesSlides/notesSlide14.xml"/><Relationship Id="rId16" Type="http://schemas.openxmlformats.org/officeDocument/2006/relationships/chart" Target="../charts/chart56.xml"/><Relationship Id="rId1" Type="http://schemas.openxmlformats.org/officeDocument/2006/relationships/slideLayout" Target="../slideLayouts/slideLayout3.xml"/><Relationship Id="rId6" Type="http://schemas.openxmlformats.org/officeDocument/2006/relationships/chart" Target="../charts/chart46.xml"/><Relationship Id="rId11" Type="http://schemas.openxmlformats.org/officeDocument/2006/relationships/chart" Target="../charts/chart51.xml"/><Relationship Id="rId5" Type="http://schemas.openxmlformats.org/officeDocument/2006/relationships/chart" Target="../charts/chart45.xml"/><Relationship Id="rId15" Type="http://schemas.openxmlformats.org/officeDocument/2006/relationships/chart" Target="../charts/chart55.xml"/><Relationship Id="rId10" Type="http://schemas.openxmlformats.org/officeDocument/2006/relationships/chart" Target="../charts/chart50.xml"/><Relationship Id="rId4" Type="http://schemas.openxmlformats.org/officeDocument/2006/relationships/chart" Target="../charts/chart44.xml"/><Relationship Id="rId9" Type="http://schemas.openxmlformats.org/officeDocument/2006/relationships/chart" Target="../charts/chart49.xml"/><Relationship Id="rId14" Type="http://schemas.openxmlformats.org/officeDocument/2006/relationships/chart" Target="../charts/chart5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
        <p:cNvGrpSpPr/>
        <p:nvPr/>
      </p:nvGrpSpPr>
      <p:grpSpPr>
        <a:xfrm>
          <a:off x="0" y="0"/>
          <a:ext cx="0" cy="0"/>
          <a:chOff x="0" y="0"/>
          <a:chExt cx="0" cy="0"/>
        </a:xfrm>
      </p:grpSpPr>
      <p:sp>
        <p:nvSpPr>
          <p:cNvPr id="44" name="Google Shape;44;p1"/>
          <p:cNvSpPr txBox="1"/>
          <p:nvPr/>
        </p:nvSpPr>
        <p:spPr>
          <a:xfrm>
            <a:off x="215700" y="459744"/>
            <a:ext cx="4020300" cy="2404200"/>
          </a:xfrm>
          <a:prstGeom prst="rect">
            <a:avLst/>
          </a:prstGeom>
          <a:noFill/>
          <a:ln>
            <a:noFill/>
          </a:ln>
        </p:spPr>
        <p:txBody>
          <a:bodyPr spcFirstLastPara="1" wrap="square" lIns="91425" tIns="91425" rIns="91425" bIns="91425" anchor="ctr" anchorCtr="0">
            <a:normAutofit/>
          </a:bodyPr>
          <a:lstStyle/>
          <a:p>
            <a:pPr marL="0" lvl="0" indent="0" algn="l" rtl="0">
              <a:spcBef>
                <a:spcPts val="0"/>
              </a:spcBef>
              <a:spcAft>
                <a:spcPts val="0"/>
              </a:spcAft>
              <a:buNone/>
            </a:pPr>
            <a:r>
              <a:rPr lang="en" sz="3200" b="1" dirty="0">
                <a:solidFill>
                  <a:srgbClr val="FFFFFF"/>
                </a:solidFill>
                <a:latin typeface="Poppins"/>
                <a:ea typeface="Poppins"/>
                <a:cs typeface="Poppins"/>
                <a:sym typeface="Poppins"/>
              </a:rPr>
              <a:t>Pizza Sales Performance Analysis - 2017</a:t>
            </a:r>
            <a:endParaRPr sz="3200" b="1" dirty="0">
              <a:solidFill>
                <a:srgbClr val="FFFFFF"/>
              </a:solidFill>
              <a:latin typeface="Poppins"/>
              <a:ea typeface="Poppins"/>
              <a:cs typeface="Poppins"/>
              <a:sym typeface="Poppins"/>
            </a:endParaRPr>
          </a:p>
        </p:txBody>
      </p:sp>
      <p:sp>
        <p:nvSpPr>
          <p:cNvPr id="45" name="Google Shape;45;p1"/>
          <p:cNvSpPr txBox="1"/>
          <p:nvPr/>
        </p:nvSpPr>
        <p:spPr>
          <a:xfrm>
            <a:off x="215700" y="4443675"/>
            <a:ext cx="4248300" cy="590700"/>
          </a:xfrm>
          <a:prstGeom prst="rect">
            <a:avLst/>
          </a:prstGeom>
          <a:noFill/>
          <a:ln>
            <a:noFill/>
          </a:ln>
        </p:spPr>
        <p:txBody>
          <a:bodyPr spcFirstLastPara="1" wrap="square" lIns="91425" tIns="91425" rIns="91425" bIns="91425" anchor="ctr" anchorCtr="0">
            <a:normAutofit/>
          </a:bodyPr>
          <a:lstStyle/>
          <a:p>
            <a:pPr marL="0" lvl="0" indent="0" algn="l" rtl="0">
              <a:spcBef>
                <a:spcPts val="0"/>
              </a:spcBef>
              <a:spcAft>
                <a:spcPts val="0"/>
              </a:spcAft>
              <a:buNone/>
            </a:pPr>
            <a:r>
              <a:rPr lang="en" sz="1900" dirty="0">
                <a:solidFill>
                  <a:srgbClr val="212121"/>
                </a:solidFill>
                <a:latin typeface="Poppins SemiBold"/>
                <a:ea typeface="Poppins SemiBold"/>
                <a:cs typeface="Poppins SemiBold"/>
                <a:sym typeface="Poppins SemiBold"/>
              </a:rPr>
              <a:t>Vincent Colin Tionando</a:t>
            </a:r>
            <a:endParaRPr sz="1900" dirty="0">
              <a:solidFill>
                <a:srgbClr val="212121"/>
              </a:solidFill>
              <a:latin typeface="Poppins SemiBold"/>
              <a:ea typeface="Poppins SemiBold"/>
              <a:cs typeface="Poppins SemiBold"/>
              <a:sym typeface="Poppins SemiBold"/>
            </a:endParaRPr>
          </a:p>
        </p:txBody>
      </p:sp>
      <p:sp>
        <p:nvSpPr>
          <p:cNvPr id="46" name="Google Shape;46;p1"/>
          <p:cNvSpPr txBox="1"/>
          <p:nvPr/>
        </p:nvSpPr>
        <p:spPr>
          <a:xfrm>
            <a:off x="215700" y="3852975"/>
            <a:ext cx="4248300" cy="590700"/>
          </a:xfrm>
          <a:prstGeom prst="rect">
            <a:avLst/>
          </a:prstGeom>
          <a:noFill/>
          <a:ln>
            <a:noFill/>
          </a:ln>
        </p:spPr>
        <p:txBody>
          <a:bodyPr spcFirstLastPara="1" wrap="square" lIns="91425" tIns="91425" rIns="91425" bIns="91425" anchor="ctr" anchorCtr="0">
            <a:normAutofit fontScale="92500"/>
          </a:bodyPr>
          <a:lstStyle/>
          <a:p>
            <a:pPr marL="0" lvl="0" indent="0" algn="l" rtl="0">
              <a:spcBef>
                <a:spcPts val="0"/>
              </a:spcBef>
              <a:spcAft>
                <a:spcPts val="0"/>
              </a:spcAft>
              <a:buNone/>
            </a:pPr>
            <a:r>
              <a:rPr lang="en" sz="1900">
                <a:solidFill>
                  <a:srgbClr val="212121"/>
                </a:solidFill>
                <a:latin typeface="Poppins SemiBold"/>
                <a:ea typeface="Poppins SemiBold"/>
                <a:cs typeface="Poppins SemiBold"/>
                <a:sym typeface="Poppins SemiBold"/>
              </a:rPr>
              <a:t>Bootcamp Data Analyst with Excel</a:t>
            </a:r>
            <a:endParaRPr sz="1900">
              <a:solidFill>
                <a:srgbClr val="212121"/>
              </a:solidFill>
              <a:latin typeface="Poppins SemiBold"/>
              <a:ea typeface="Poppins SemiBold"/>
              <a:cs typeface="Poppins SemiBold"/>
              <a:sym typeface="Poppins SemiBold"/>
            </a:endParaRPr>
          </a:p>
        </p:txBody>
      </p:sp>
      <p:sp>
        <p:nvSpPr>
          <p:cNvPr id="2" name="Google Shape;44;p1">
            <a:extLst>
              <a:ext uri="{FF2B5EF4-FFF2-40B4-BE49-F238E27FC236}">
                <a16:creationId xmlns:a16="http://schemas.microsoft.com/office/drawing/2014/main" id="{9AB1A3A0-AD75-FD9A-D469-8B63ED1709DE}"/>
              </a:ext>
            </a:extLst>
          </p:cNvPr>
          <p:cNvSpPr txBox="1"/>
          <p:nvPr/>
        </p:nvSpPr>
        <p:spPr>
          <a:xfrm>
            <a:off x="215700" y="2465615"/>
            <a:ext cx="4020300" cy="1145306"/>
          </a:xfrm>
          <a:prstGeom prst="rect">
            <a:avLst/>
          </a:prstGeom>
          <a:noFill/>
          <a:ln>
            <a:noFill/>
          </a:ln>
        </p:spPr>
        <p:txBody>
          <a:bodyPr spcFirstLastPara="1" wrap="square" lIns="91425" tIns="91425" rIns="91425" bIns="91425" anchor="ctr" anchorCtr="0">
            <a:normAutofit/>
          </a:bodyPr>
          <a:lstStyle/>
          <a:p>
            <a:pPr marL="0" lvl="0" indent="0" algn="l" rtl="0">
              <a:spcBef>
                <a:spcPts val="0"/>
              </a:spcBef>
              <a:spcAft>
                <a:spcPts val="0"/>
              </a:spcAft>
              <a:buNone/>
            </a:pPr>
            <a:r>
              <a:rPr lang="en-US" b="1" dirty="0">
                <a:solidFill>
                  <a:schemeClr val="bg1"/>
                </a:solidFill>
              </a:rPr>
              <a:t>Understanding what drives pizza sales performance through Revenue, Orders, Quantity, and AOV</a:t>
            </a:r>
            <a:endParaRPr lang="en-ID" b="1" dirty="0">
              <a:solidFill>
                <a:schemeClr val="bg1"/>
              </a:solidFill>
              <a:latin typeface="Poppins"/>
              <a:ea typeface="Poppins"/>
              <a:cs typeface="Poppins"/>
              <a:sym typeface="Poppi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2"/>
          <p:cNvSpPr txBox="1">
            <a:spLocks noGrp="1"/>
          </p:cNvSpPr>
          <p:nvPr>
            <p:ph type="title"/>
          </p:nvPr>
        </p:nvSpPr>
        <p:spPr>
          <a:xfrm>
            <a:off x="1145314" y="244350"/>
            <a:ext cx="6984000" cy="841800"/>
          </a:xfrm>
          <a:prstGeom prst="rect">
            <a:avLst/>
          </a:prstGeom>
          <a:no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3200"/>
              <a:buNone/>
            </a:pPr>
            <a:r>
              <a:rPr lang="en-US" dirty="0"/>
              <a:t>Executive Project Summary</a:t>
            </a:r>
            <a:endParaRPr lang="en-ID" dirty="0"/>
          </a:p>
        </p:txBody>
      </p:sp>
      <p:sp>
        <p:nvSpPr>
          <p:cNvPr id="2" name="TextBox 1">
            <a:extLst>
              <a:ext uri="{FF2B5EF4-FFF2-40B4-BE49-F238E27FC236}">
                <a16:creationId xmlns:a16="http://schemas.microsoft.com/office/drawing/2014/main" id="{1A66E887-5A28-C74B-2332-3B04B80BCA34}"/>
              </a:ext>
            </a:extLst>
          </p:cNvPr>
          <p:cNvSpPr txBox="1"/>
          <p:nvPr/>
        </p:nvSpPr>
        <p:spPr>
          <a:xfrm>
            <a:off x="146958" y="1036864"/>
            <a:ext cx="2784021" cy="423642"/>
          </a:xfrm>
          <a:prstGeom prst="rect">
            <a:avLst/>
          </a:prstGeom>
          <a:noFill/>
        </p:spPr>
        <p:txBody>
          <a:bodyPr wrap="square" rtlCol="0">
            <a:spAutoFit/>
          </a:bodyPr>
          <a:lstStyle/>
          <a:p>
            <a:pPr algn="ctr"/>
            <a:r>
              <a:rPr lang="en-US" sz="2153" b="1" u="sng" dirty="0">
                <a:solidFill>
                  <a:schemeClr val="lt1"/>
                </a:solidFill>
                <a:latin typeface="Poppins"/>
                <a:cs typeface="Poppins"/>
                <a:sym typeface="Poppins"/>
              </a:rPr>
              <a:t>Dataset Summary</a:t>
            </a:r>
            <a:endParaRPr lang="en-ID" sz="2153" b="1" u="sng" dirty="0">
              <a:solidFill>
                <a:schemeClr val="lt1"/>
              </a:solidFill>
              <a:latin typeface="Poppins"/>
              <a:cs typeface="Poppins"/>
              <a:sym typeface="Poppins"/>
            </a:endParaRPr>
          </a:p>
        </p:txBody>
      </p:sp>
      <p:sp>
        <p:nvSpPr>
          <p:cNvPr id="4" name="TextBox 3">
            <a:extLst>
              <a:ext uri="{FF2B5EF4-FFF2-40B4-BE49-F238E27FC236}">
                <a16:creationId xmlns:a16="http://schemas.microsoft.com/office/drawing/2014/main" id="{3ADACB6D-7C24-5A9C-5C24-F2C75ADF283B}"/>
              </a:ext>
            </a:extLst>
          </p:cNvPr>
          <p:cNvSpPr txBox="1"/>
          <p:nvPr/>
        </p:nvSpPr>
        <p:spPr>
          <a:xfrm>
            <a:off x="3052082" y="1036864"/>
            <a:ext cx="2854778" cy="423642"/>
          </a:xfrm>
          <a:prstGeom prst="rect">
            <a:avLst/>
          </a:prstGeom>
          <a:noFill/>
        </p:spPr>
        <p:txBody>
          <a:bodyPr wrap="square" rtlCol="0">
            <a:spAutoFit/>
          </a:bodyPr>
          <a:lstStyle/>
          <a:p>
            <a:pPr algn="ctr"/>
            <a:r>
              <a:rPr lang="en-US" sz="2153" b="1" u="sng" dirty="0">
                <a:solidFill>
                  <a:schemeClr val="lt1"/>
                </a:solidFill>
                <a:latin typeface="Poppins"/>
                <a:cs typeface="Poppins"/>
                <a:sym typeface="Poppins"/>
              </a:rPr>
              <a:t>Business</a:t>
            </a:r>
            <a:r>
              <a:rPr lang="en-US" sz="1800" b="1" u="sng" dirty="0">
                <a:solidFill>
                  <a:schemeClr val="lt1"/>
                </a:solidFill>
                <a:latin typeface="Poppins"/>
                <a:cs typeface="Poppins"/>
                <a:sym typeface="Poppins"/>
              </a:rPr>
              <a:t> </a:t>
            </a:r>
            <a:r>
              <a:rPr lang="en-US" sz="2153" b="1" u="sng" dirty="0">
                <a:solidFill>
                  <a:schemeClr val="lt1"/>
                </a:solidFill>
                <a:latin typeface="Poppins"/>
                <a:cs typeface="Poppins"/>
                <a:sym typeface="Poppins"/>
              </a:rPr>
              <a:t>Problem</a:t>
            </a:r>
            <a:endParaRPr lang="en-ID" sz="2153" b="1" u="sng" dirty="0">
              <a:solidFill>
                <a:schemeClr val="lt1"/>
              </a:solidFill>
              <a:latin typeface="Poppins"/>
              <a:cs typeface="Poppins"/>
              <a:sym typeface="Poppins"/>
            </a:endParaRPr>
          </a:p>
        </p:txBody>
      </p:sp>
      <p:sp>
        <p:nvSpPr>
          <p:cNvPr id="5" name="TextBox 4">
            <a:extLst>
              <a:ext uri="{FF2B5EF4-FFF2-40B4-BE49-F238E27FC236}">
                <a16:creationId xmlns:a16="http://schemas.microsoft.com/office/drawing/2014/main" id="{01F3273D-4367-C6E5-3DE7-7EC644DC1C1D}"/>
              </a:ext>
            </a:extLst>
          </p:cNvPr>
          <p:cNvSpPr txBox="1"/>
          <p:nvPr/>
        </p:nvSpPr>
        <p:spPr>
          <a:xfrm>
            <a:off x="6027963" y="1036864"/>
            <a:ext cx="3058887" cy="423193"/>
          </a:xfrm>
          <a:prstGeom prst="rect">
            <a:avLst/>
          </a:prstGeom>
          <a:noFill/>
        </p:spPr>
        <p:txBody>
          <a:bodyPr wrap="square" rtlCol="0">
            <a:spAutoFit/>
          </a:bodyPr>
          <a:lstStyle/>
          <a:p>
            <a:pPr algn="ctr"/>
            <a:r>
              <a:rPr lang="en-US" sz="2150" b="1" u="sng" dirty="0">
                <a:solidFill>
                  <a:schemeClr val="lt1"/>
                </a:solidFill>
                <a:latin typeface="Poppins"/>
                <a:cs typeface="Poppins"/>
                <a:sym typeface="Poppins"/>
              </a:rPr>
              <a:t>Business Objectives</a:t>
            </a:r>
            <a:endParaRPr lang="en-ID" sz="2150" b="1" u="sng" dirty="0">
              <a:solidFill>
                <a:schemeClr val="lt1"/>
              </a:solidFill>
              <a:latin typeface="Poppins"/>
              <a:cs typeface="Poppins"/>
              <a:sym typeface="Poppins"/>
            </a:endParaRPr>
          </a:p>
        </p:txBody>
      </p:sp>
      <p:sp>
        <p:nvSpPr>
          <p:cNvPr id="6" name="TextBox 5">
            <a:extLst>
              <a:ext uri="{FF2B5EF4-FFF2-40B4-BE49-F238E27FC236}">
                <a16:creationId xmlns:a16="http://schemas.microsoft.com/office/drawing/2014/main" id="{3076FD0E-4B3E-3A5B-50B6-9ED05BA30691}"/>
              </a:ext>
            </a:extLst>
          </p:cNvPr>
          <p:cNvSpPr txBox="1"/>
          <p:nvPr/>
        </p:nvSpPr>
        <p:spPr>
          <a:xfrm>
            <a:off x="306161" y="1469863"/>
            <a:ext cx="2465614" cy="2693045"/>
          </a:xfrm>
          <a:prstGeom prst="rect">
            <a:avLst/>
          </a:prstGeom>
          <a:noFill/>
        </p:spPr>
        <p:txBody>
          <a:bodyPr wrap="square" rtlCol="0">
            <a:spAutoFit/>
          </a:bodyPr>
          <a:lstStyle/>
          <a:p>
            <a:pPr algn="just"/>
            <a:r>
              <a:rPr lang="en-US" sz="1300" dirty="0">
                <a:solidFill>
                  <a:schemeClr val="lt1"/>
                </a:solidFill>
                <a:latin typeface="Poppins SemiBold"/>
                <a:cs typeface="Poppins SemiBold"/>
              </a:rPr>
              <a:t>A year's worth of sales from a fictitious pizza place, including the date and time of each order and the pizzas served, with additional details on the type, size, quantity, price, and ingredients.</a:t>
            </a:r>
          </a:p>
          <a:p>
            <a:pPr algn="just"/>
            <a:endParaRPr lang="en-ID" sz="1300" dirty="0">
              <a:solidFill>
                <a:schemeClr val="lt1"/>
              </a:solidFill>
              <a:latin typeface="Poppins SemiBold"/>
              <a:cs typeface="Poppins SemiBold"/>
              <a:sym typeface="Poppins"/>
            </a:endParaRPr>
          </a:p>
          <a:p>
            <a:pPr algn="just"/>
            <a:r>
              <a:rPr lang="en-ID" sz="1300" dirty="0">
                <a:solidFill>
                  <a:schemeClr val="lt1"/>
                </a:solidFill>
                <a:latin typeface="Poppins SemiBold"/>
                <a:cs typeface="Poppins SemiBold"/>
                <a:sym typeface="Poppins"/>
              </a:rPr>
              <a:t>Source:</a:t>
            </a:r>
          </a:p>
          <a:p>
            <a:pPr algn="just"/>
            <a:r>
              <a:rPr lang="en-ID" sz="1300" u="sng" dirty="0">
                <a:solidFill>
                  <a:schemeClr val="lt1"/>
                </a:solidFill>
                <a:latin typeface="Poppins SemiBold"/>
                <a:cs typeface="Poppins SemiBold"/>
                <a:sym typeface="Poppins"/>
                <a:hlinkClick r:id="rId3">
                  <a:extLst>
                    <a:ext uri="{A12FA001-AC4F-418D-AE19-62706E023703}">
                      <ahyp:hlinkClr xmlns:ahyp="http://schemas.microsoft.com/office/drawing/2018/hyperlinkcolor" val="tx"/>
                    </a:ext>
                  </a:extLst>
                </a:hlinkClick>
              </a:rPr>
              <a:t>https://mavenanalytics.io/data-playground/</a:t>
            </a:r>
            <a:r>
              <a:rPr lang="en-ID" sz="1300" u="sng" dirty="0">
                <a:solidFill>
                  <a:schemeClr val="lt1"/>
                </a:solidFill>
                <a:latin typeface="Poppins SemiBold"/>
                <a:cs typeface="Poppins SemiBold"/>
                <a:sym typeface="Poppins"/>
                <a:hlinkClick r:id="rId4">
                  <a:extLst>
                    <a:ext uri="{A12FA001-AC4F-418D-AE19-62706E023703}">
                      <ahyp:hlinkClr xmlns:ahyp="http://schemas.microsoft.com/office/drawing/2018/hyperlinkcolor" val="tx"/>
                    </a:ext>
                  </a:extLst>
                </a:hlinkClick>
              </a:rPr>
              <a:t>pizza-place-sales</a:t>
            </a:r>
            <a:endParaRPr lang="en-ID" sz="1300" u="sng" dirty="0">
              <a:solidFill>
                <a:schemeClr val="lt1"/>
              </a:solidFill>
              <a:latin typeface="Poppins SemiBold"/>
              <a:cs typeface="Poppins SemiBold"/>
              <a:sym typeface="Poppins"/>
            </a:endParaRPr>
          </a:p>
        </p:txBody>
      </p:sp>
      <p:sp>
        <p:nvSpPr>
          <p:cNvPr id="7" name="TextBox 6">
            <a:extLst>
              <a:ext uri="{FF2B5EF4-FFF2-40B4-BE49-F238E27FC236}">
                <a16:creationId xmlns:a16="http://schemas.microsoft.com/office/drawing/2014/main" id="{40525ED1-7C18-1E15-3CBA-35AF856CF982}"/>
              </a:ext>
            </a:extLst>
          </p:cNvPr>
          <p:cNvSpPr txBox="1"/>
          <p:nvPr/>
        </p:nvSpPr>
        <p:spPr>
          <a:xfrm>
            <a:off x="3225573" y="1469863"/>
            <a:ext cx="2465614" cy="2893100"/>
          </a:xfrm>
          <a:prstGeom prst="rect">
            <a:avLst/>
          </a:prstGeom>
          <a:noFill/>
        </p:spPr>
        <p:txBody>
          <a:bodyPr wrap="square" rtlCol="0">
            <a:spAutoFit/>
          </a:bodyPr>
          <a:lstStyle/>
          <a:p>
            <a:pPr marL="0" lvl="0" indent="0">
              <a:buFont typeface="Arial"/>
              <a:buNone/>
            </a:pPr>
            <a:r>
              <a:rPr lang="en-US" sz="1300" b="1" dirty="0">
                <a:solidFill>
                  <a:schemeClr val="bg1"/>
                </a:solidFill>
              </a:rPr>
              <a:t>The lack of structured sales performance analysis makes it difficult to identify sales trends, customer ordering patterns, and opportunities to improve pizza sales performance. </a:t>
            </a:r>
          </a:p>
          <a:p>
            <a:pPr marL="0" lvl="0" indent="0">
              <a:buFont typeface="Arial"/>
              <a:buNone/>
            </a:pPr>
            <a:endParaRPr lang="en-US" sz="1300" b="1" dirty="0">
              <a:solidFill>
                <a:schemeClr val="bg1"/>
              </a:solidFill>
            </a:endParaRPr>
          </a:p>
          <a:p>
            <a:pPr marL="0" lvl="0" indent="0">
              <a:buFont typeface="Arial"/>
              <a:buNone/>
            </a:pPr>
            <a:r>
              <a:rPr lang="en-US" sz="1300" b="1" dirty="0">
                <a:solidFill>
                  <a:schemeClr val="bg1"/>
                </a:solidFill>
              </a:rPr>
              <a:t>The business also needs to evaluate which pizza products should be retained, improved, or potentially removed based on their sales performance.</a:t>
            </a:r>
            <a:endParaRPr lang="en-ID" sz="1300" b="1" dirty="0">
              <a:solidFill>
                <a:schemeClr val="bg1"/>
              </a:solidFill>
              <a:latin typeface="Poppins SemiBold"/>
              <a:cs typeface="Poppins SemiBold"/>
              <a:sym typeface="Poppins"/>
            </a:endParaRPr>
          </a:p>
        </p:txBody>
      </p:sp>
      <p:sp>
        <p:nvSpPr>
          <p:cNvPr id="8" name="TextBox 7">
            <a:extLst>
              <a:ext uri="{FF2B5EF4-FFF2-40B4-BE49-F238E27FC236}">
                <a16:creationId xmlns:a16="http://schemas.microsoft.com/office/drawing/2014/main" id="{480D1007-3E47-F96C-85B8-031443A3C894}"/>
              </a:ext>
            </a:extLst>
          </p:cNvPr>
          <p:cNvSpPr txBox="1"/>
          <p:nvPr/>
        </p:nvSpPr>
        <p:spPr>
          <a:xfrm>
            <a:off x="6144983" y="1469863"/>
            <a:ext cx="2860223" cy="3056093"/>
          </a:xfrm>
          <a:prstGeom prst="rect">
            <a:avLst/>
          </a:prstGeom>
          <a:noFill/>
        </p:spPr>
        <p:txBody>
          <a:bodyPr wrap="square" rtlCol="0">
            <a:spAutoFit/>
          </a:bodyPr>
          <a:lstStyle/>
          <a:p>
            <a:pPr marL="171450" marR="0" lvl="0" indent="-171450" algn="l" defTabSz="914400" rtl="0" eaLnBrk="0" fontAlgn="base" latinLnBrk="0" hangingPunct="0">
              <a:lnSpc>
                <a:spcPct val="150000"/>
              </a:lnSpc>
              <a:spcBef>
                <a:spcPct val="0"/>
              </a:spcBef>
              <a:spcAft>
                <a:spcPct val="0"/>
              </a:spcAft>
              <a:buClrTx/>
              <a:buSzTx/>
              <a:buFont typeface="Courier New" panose="02070309020205020404" pitchFamily="49" charset="0"/>
              <a:buChar char="o"/>
              <a:tabLst/>
            </a:pPr>
            <a:r>
              <a:rPr kumimoji="0" lang="en-US" altLang="en-US" sz="1300" b="0" i="0" u="none" strike="noStrike" cap="none" normalizeH="0" baseline="0" dirty="0">
                <a:ln>
                  <a:noFill/>
                </a:ln>
                <a:solidFill>
                  <a:schemeClr val="bg1"/>
                </a:solidFill>
                <a:effectLst/>
                <a:latin typeface="Arial" panose="020B0604020202020204" pitchFamily="34" charset="0"/>
              </a:rPr>
              <a:t>Analyze </a:t>
            </a:r>
            <a:r>
              <a:rPr kumimoji="0" lang="en-US" altLang="en-US" sz="1300" b="1" i="0" u="none" strike="noStrike" cap="none" normalizeH="0" baseline="0" dirty="0">
                <a:ln>
                  <a:noFill/>
                </a:ln>
                <a:solidFill>
                  <a:schemeClr val="bg1"/>
                </a:solidFill>
                <a:effectLst/>
                <a:latin typeface="Arial" panose="020B0604020202020204" pitchFamily="34" charset="0"/>
              </a:rPr>
              <a:t>Revenue, Orders, Quantity, and AOV</a:t>
            </a:r>
            <a:r>
              <a:rPr kumimoji="0" lang="en-US" altLang="en-US" sz="1300" b="0" i="0" u="none" strike="noStrike" cap="none" normalizeH="0" baseline="0" dirty="0">
                <a:ln>
                  <a:noFill/>
                </a:ln>
                <a:solidFill>
                  <a:schemeClr val="bg1"/>
                </a:solidFill>
                <a:effectLst/>
                <a:latin typeface="Arial" panose="020B0604020202020204" pitchFamily="34" charset="0"/>
              </a:rPr>
              <a:t> performance.</a:t>
            </a:r>
          </a:p>
          <a:p>
            <a:pPr marL="171450" marR="0" lvl="0" indent="-171450" algn="l" defTabSz="914400" rtl="0" eaLnBrk="0" fontAlgn="base" latinLnBrk="0" hangingPunct="0">
              <a:lnSpc>
                <a:spcPct val="150000"/>
              </a:lnSpc>
              <a:spcBef>
                <a:spcPct val="0"/>
              </a:spcBef>
              <a:spcAft>
                <a:spcPct val="0"/>
              </a:spcAft>
              <a:buClrTx/>
              <a:buSzTx/>
              <a:buFont typeface="Courier New" panose="02070309020205020404" pitchFamily="49" charset="0"/>
              <a:buChar char="o"/>
              <a:tabLst/>
            </a:pPr>
            <a:r>
              <a:rPr kumimoji="0" lang="en-US" altLang="en-US" sz="1300" b="0" i="0" u="none" strike="noStrike" cap="none" normalizeH="0" baseline="0" dirty="0">
                <a:ln>
                  <a:noFill/>
                </a:ln>
                <a:solidFill>
                  <a:schemeClr val="bg1"/>
                </a:solidFill>
                <a:effectLst/>
                <a:latin typeface="Arial" panose="020B0604020202020204" pitchFamily="34" charset="0"/>
              </a:rPr>
              <a:t>Identify </a:t>
            </a:r>
            <a:r>
              <a:rPr kumimoji="0" lang="en-US" altLang="en-US" sz="1300" b="1" i="0" u="none" strike="noStrike" cap="none" normalizeH="0" baseline="0" dirty="0">
                <a:ln>
                  <a:noFill/>
                </a:ln>
                <a:solidFill>
                  <a:schemeClr val="bg1"/>
                </a:solidFill>
                <a:effectLst/>
                <a:latin typeface="Arial" panose="020B0604020202020204" pitchFamily="34" charset="0"/>
              </a:rPr>
              <a:t>sales trends and ordering patterns</a:t>
            </a:r>
            <a:r>
              <a:rPr kumimoji="0" lang="en-US" altLang="en-US" sz="13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50000"/>
              </a:lnSpc>
              <a:spcBef>
                <a:spcPct val="0"/>
              </a:spcBef>
              <a:spcAft>
                <a:spcPct val="0"/>
              </a:spcAft>
              <a:buClrTx/>
              <a:buSzTx/>
              <a:buFont typeface="Courier New" panose="02070309020205020404" pitchFamily="49" charset="0"/>
              <a:buChar char="o"/>
              <a:tabLst/>
            </a:pPr>
            <a:r>
              <a:rPr kumimoji="0" lang="en-US" altLang="en-US" sz="1300" b="0" i="0" u="none" strike="noStrike" cap="none" normalizeH="0" baseline="0" dirty="0">
                <a:ln>
                  <a:noFill/>
                </a:ln>
                <a:solidFill>
                  <a:schemeClr val="bg1"/>
                </a:solidFill>
                <a:effectLst/>
                <a:latin typeface="Arial" panose="020B0604020202020204" pitchFamily="34" charset="0"/>
              </a:rPr>
              <a:t>Evaluate the performance of individual pizza products. </a:t>
            </a:r>
          </a:p>
          <a:p>
            <a:pPr marL="171450" marR="0" lvl="0" indent="-171450" algn="l" defTabSz="914400" rtl="0" eaLnBrk="0" fontAlgn="base" latinLnBrk="0" hangingPunct="0">
              <a:lnSpc>
                <a:spcPct val="150000"/>
              </a:lnSpc>
              <a:spcBef>
                <a:spcPct val="0"/>
              </a:spcBef>
              <a:spcAft>
                <a:spcPct val="0"/>
              </a:spcAft>
              <a:buClrTx/>
              <a:buSzTx/>
              <a:buFont typeface="Courier New" panose="02070309020205020404" pitchFamily="49" charset="0"/>
              <a:buChar char="o"/>
              <a:tabLst/>
            </a:pPr>
            <a:r>
              <a:rPr kumimoji="0" lang="en-US" altLang="en-US" sz="1300" b="0" i="0" u="none" strike="noStrike" cap="none" normalizeH="0" baseline="0" dirty="0">
                <a:ln>
                  <a:noFill/>
                </a:ln>
                <a:solidFill>
                  <a:schemeClr val="bg1"/>
                </a:solidFill>
                <a:effectLst/>
                <a:latin typeface="Arial" panose="020B0604020202020204" pitchFamily="34" charset="0"/>
              </a:rPr>
              <a:t>Identify </a:t>
            </a:r>
            <a:r>
              <a:rPr kumimoji="0" lang="en-US" altLang="en-US" sz="1300" b="1" i="0" u="none" strike="noStrike" cap="none" normalizeH="0" baseline="0" dirty="0">
                <a:ln>
                  <a:noFill/>
                </a:ln>
                <a:solidFill>
                  <a:schemeClr val="bg1"/>
                </a:solidFill>
                <a:effectLst/>
                <a:latin typeface="Arial" panose="020B0604020202020204" pitchFamily="34" charset="0"/>
              </a:rPr>
              <a:t>high-performing and underperforming products</a:t>
            </a:r>
            <a:r>
              <a:rPr kumimoji="0" lang="en-US" altLang="en-US" sz="13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50000"/>
              </a:lnSpc>
              <a:spcBef>
                <a:spcPct val="0"/>
              </a:spcBef>
              <a:spcAft>
                <a:spcPct val="0"/>
              </a:spcAft>
              <a:buClrTx/>
              <a:buSzTx/>
              <a:buFont typeface="Courier New" panose="02070309020205020404" pitchFamily="49" charset="0"/>
              <a:buChar char="o"/>
              <a:tabLst/>
            </a:pPr>
            <a:r>
              <a:rPr kumimoji="0" lang="en-US" altLang="en-US" sz="1300" b="0" i="0" u="none" strike="noStrike" cap="none" normalizeH="0" baseline="0" dirty="0">
                <a:ln>
                  <a:noFill/>
                </a:ln>
                <a:solidFill>
                  <a:schemeClr val="bg1"/>
                </a:solidFill>
                <a:effectLst/>
                <a:latin typeface="Arial" panose="020B0604020202020204" pitchFamily="34" charset="0"/>
              </a:rPr>
              <a:t>Provide recommendations for </a:t>
            </a:r>
            <a:r>
              <a:rPr kumimoji="0" lang="en-US" altLang="en-US" sz="1300" b="1" i="0" u="none" strike="noStrike" cap="none" normalizeH="0" baseline="0" dirty="0">
                <a:ln>
                  <a:noFill/>
                </a:ln>
                <a:solidFill>
                  <a:schemeClr val="bg1"/>
                </a:solidFill>
                <a:effectLst/>
                <a:latin typeface="Arial" panose="020B0604020202020204" pitchFamily="34" charset="0"/>
              </a:rPr>
              <a:t>menu portfolio optimization</a:t>
            </a:r>
            <a:r>
              <a:rPr kumimoji="0" lang="en-US" altLang="en-US" sz="1300" b="0" i="0" u="none" strike="noStrike" cap="none" normalizeH="0" baseline="0" dirty="0">
                <a:ln>
                  <a:noFill/>
                </a:ln>
                <a:solidFill>
                  <a:schemeClr val="bg1"/>
                </a:solidFill>
                <a:effectLst/>
                <a:latin typeface="Arial" panose="020B0604020202020204" pitchFamily="34" charset="0"/>
              </a:rPr>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9" name="Title 8">
            <a:extLst>
              <a:ext uri="{FF2B5EF4-FFF2-40B4-BE49-F238E27FC236}">
                <a16:creationId xmlns:a16="http://schemas.microsoft.com/office/drawing/2014/main" id="{401904E5-D0A8-B597-EEC2-0958B134A232}"/>
              </a:ext>
            </a:extLst>
          </p:cNvPr>
          <p:cNvSpPr>
            <a:spLocks noGrp="1"/>
          </p:cNvSpPr>
          <p:nvPr>
            <p:ph type="title"/>
          </p:nvPr>
        </p:nvSpPr>
        <p:spPr>
          <a:xfrm>
            <a:off x="311700" y="374429"/>
            <a:ext cx="7409900" cy="572700"/>
          </a:xfrm>
        </p:spPr>
        <p:txBody>
          <a:bodyPr>
            <a:normAutofit fontScale="90000"/>
          </a:bodyPr>
          <a:lstStyle/>
          <a:p>
            <a:r>
              <a:rPr lang="en-US" dirty="0"/>
              <a:t>Intro to Data and its Model Relationship</a:t>
            </a:r>
            <a:endParaRPr lang="en-ID" dirty="0"/>
          </a:p>
        </p:txBody>
      </p:sp>
      <p:sp>
        <p:nvSpPr>
          <p:cNvPr id="19" name="Text Placeholder 18">
            <a:extLst>
              <a:ext uri="{FF2B5EF4-FFF2-40B4-BE49-F238E27FC236}">
                <a16:creationId xmlns:a16="http://schemas.microsoft.com/office/drawing/2014/main" id="{6D772BE2-F3A7-F649-D58A-E8FA3379A009}"/>
              </a:ext>
            </a:extLst>
          </p:cNvPr>
          <p:cNvSpPr>
            <a:spLocks noGrp="1"/>
          </p:cNvSpPr>
          <p:nvPr>
            <p:ph type="body" idx="1"/>
          </p:nvPr>
        </p:nvSpPr>
        <p:spPr>
          <a:xfrm>
            <a:off x="311699" y="881244"/>
            <a:ext cx="3941953" cy="3629796"/>
          </a:xfrm>
        </p:spPr>
        <p:txBody>
          <a:bodyPr/>
          <a:lstStyle/>
          <a:p>
            <a:r>
              <a:rPr lang="en-US" b="1" dirty="0"/>
              <a:t>pizzas</a:t>
            </a:r>
          </a:p>
          <a:p>
            <a:pPr marL="596900" lvl="1" indent="0">
              <a:buNone/>
            </a:pPr>
            <a:r>
              <a:rPr lang="en-US" dirty="0"/>
              <a:t>Pizza details data </a:t>
            </a:r>
            <a:r>
              <a:rPr lang="en-US" b="1" dirty="0"/>
              <a:t>(</a:t>
            </a:r>
            <a:r>
              <a:rPr lang="en-US" b="1" dirty="0" err="1"/>
              <a:t>pizza_id</a:t>
            </a:r>
            <a:r>
              <a:rPr lang="en-US" b="1" dirty="0"/>
              <a:t>, </a:t>
            </a:r>
            <a:r>
              <a:rPr lang="en-US" b="1" dirty="0" err="1"/>
              <a:t>pizza_type_id</a:t>
            </a:r>
            <a:r>
              <a:rPr lang="en-US" b="1" dirty="0"/>
              <a:t>, name, size, category, ingredients, price)</a:t>
            </a:r>
            <a:endParaRPr lang="en-US" dirty="0"/>
          </a:p>
          <a:p>
            <a:pPr marL="596900" lvl="1" indent="0">
              <a:buNone/>
            </a:pPr>
            <a:endParaRPr lang="en-US" b="1" dirty="0"/>
          </a:p>
          <a:p>
            <a:r>
              <a:rPr lang="en-US" b="1" dirty="0" err="1"/>
              <a:t>order_details</a:t>
            </a:r>
            <a:endParaRPr lang="en-US" b="1" dirty="0"/>
          </a:p>
          <a:p>
            <a:pPr marL="596900" lvl="1" indent="0">
              <a:buNone/>
            </a:pPr>
            <a:r>
              <a:rPr lang="en-US" dirty="0"/>
              <a:t>Line-item details per order </a:t>
            </a:r>
            <a:r>
              <a:rPr lang="en-US" b="1" dirty="0"/>
              <a:t>(</a:t>
            </a:r>
            <a:r>
              <a:rPr lang="en-US" b="1" dirty="0" err="1"/>
              <a:t>order_details_id</a:t>
            </a:r>
            <a:r>
              <a:rPr lang="en-US" b="1" dirty="0"/>
              <a:t>, </a:t>
            </a:r>
            <a:r>
              <a:rPr lang="en-US" b="1" dirty="0" err="1"/>
              <a:t>order_id</a:t>
            </a:r>
            <a:r>
              <a:rPr lang="en-US" b="1" dirty="0"/>
              <a:t>, </a:t>
            </a:r>
            <a:r>
              <a:rPr lang="en-US" b="1" dirty="0" err="1"/>
              <a:t>pizza_id</a:t>
            </a:r>
            <a:r>
              <a:rPr lang="en-US" b="1" dirty="0"/>
              <a:t>, quantity)</a:t>
            </a:r>
          </a:p>
          <a:p>
            <a:pPr marL="596900" lvl="1" indent="0">
              <a:buNone/>
            </a:pPr>
            <a:endParaRPr lang="en-US" b="1" dirty="0"/>
          </a:p>
          <a:p>
            <a:r>
              <a:rPr lang="en-US" b="1" dirty="0"/>
              <a:t>orders</a:t>
            </a:r>
          </a:p>
          <a:p>
            <a:pPr marL="596900" lvl="1" indent="0">
              <a:buNone/>
            </a:pPr>
            <a:r>
              <a:rPr lang="en-ID" dirty="0"/>
              <a:t>Order-level data </a:t>
            </a:r>
            <a:r>
              <a:rPr lang="en-ID" b="1" dirty="0"/>
              <a:t>(</a:t>
            </a:r>
            <a:r>
              <a:rPr lang="en-ID" b="1" dirty="0" err="1"/>
              <a:t>order_id</a:t>
            </a:r>
            <a:r>
              <a:rPr lang="en-ID" b="1" dirty="0"/>
              <a:t>, date, time</a:t>
            </a:r>
            <a:r>
              <a:rPr lang="en-ID" b="1" dirty="0">
                <a:solidFill>
                  <a:srgbClr val="FF0000"/>
                </a:solidFill>
              </a:rPr>
              <a:t>, Day Name</a:t>
            </a:r>
            <a:r>
              <a:rPr lang="en-ID" b="1" dirty="0"/>
              <a:t>)</a:t>
            </a:r>
            <a:endParaRPr lang="en-ID" dirty="0"/>
          </a:p>
        </p:txBody>
      </p:sp>
      <p:pic>
        <p:nvPicPr>
          <p:cNvPr id="33" name="Picture 32">
            <a:extLst>
              <a:ext uri="{FF2B5EF4-FFF2-40B4-BE49-F238E27FC236}">
                <a16:creationId xmlns:a16="http://schemas.microsoft.com/office/drawing/2014/main" id="{8806229F-2704-A660-560A-E07CCF7BFA18}"/>
              </a:ext>
            </a:extLst>
          </p:cNvPr>
          <p:cNvPicPr>
            <a:picLocks noChangeAspect="1"/>
          </p:cNvPicPr>
          <p:nvPr/>
        </p:nvPicPr>
        <p:blipFill>
          <a:blip r:embed="rId3"/>
          <a:stretch>
            <a:fillRect/>
          </a:stretch>
        </p:blipFill>
        <p:spPr>
          <a:xfrm>
            <a:off x="4382347" y="947129"/>
            <a:ext cx="4372132" cy="3123644"/>
          </a:xfrm>
          <a:prstGeom prst="rect">
            <a:avLst/>
          </a:prstGeom>
        </p:spPr>
      </p:pic>
    </p:spTree>
    <p:extLst>
      <p:ext uri="{BB962C8B-B14F-4D97-AF65-F5344CB8AC3E}">
        <p14:creationId xmlns:p14="http://schemas.microsoft.com/office/powerpoint/2010/main" val="2135741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3"/>
          <p:cNvSpPr txBox="1">
            <a:spLocks noGrp="1"/>
          </p:cNvSpPr>
          <p:nvPr>
            <p:ph type="title"/>
          </p:nvPr>
        </p:nvSpPr>
        <p:spPr>
          <a:xfrm>
            <a:off x="311700" y="492834"/>
            <a:ext cx="54843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dirty="0"/>
              <a:t>KPI Metrics</a:t>
            </a:r>
            <a:endParaRPr dirty="0"/>
          </a:p>
        </p:txBody>
      </p:sp>
      <p:sp>
        <p:nvSpPr>
          <p:cNvPr id="64" name="Google Shape;64;p3"/>
          <p:cNvSpPr txBox="1">
            <a:spLocks noGrp="1"/>
          </p:cNvSpPr>
          <p:nvPr>
            <p:ph type="body" idx="1"/>
          </p:nvPr>
        </p:nvSpPr>
        <p:spPr>
          <a:xfrm>
            <a:off x="311700" y="1971839"/>
            <a:ext cx="2449800" cy="572700"/>
          </a:xfrm>
          <a:prstGeom prst="rect">
            <a:avLst/>
          </a:prstGeom>
          <a:noFill/>
          <a:ln>
            <a:noFill/>
          </a:ln>
        </p:spPr>
        <p:txBody>
          <a:bodyPr spcFirstLastPara="1" wrap="square" lIns="91425" tIns="91425" rIns="91425" bIns="91425" anchor="t" anchorCtr="0">
            <a:normAutofit fontScale="92500" lnSpcReduction="10000"/>
          </a:bodyPr>
          <a:lstStyle/>
          <a:p>
            <a:pPr marL="0" lvl="0" indent="0" algn="ctr" rtl="0">
              <a:lnSpc>
                <a:spcPct val="115000"/>
              </a:lnSpc>
              <a:spcBef>
                <a:spcPts val="0"/>
              </a:spcBef>
              <a:spcAft>
                <a:spcPts val="1200"/>
              </a:spcAft>
              <a:buSzPts val="1800"/>
              <a:buNone/>
            </a:pPr>
            <a:r>
              <a:rPr lang="en" sz="1500" dirty="0"/>
              <a:t>TOTAL REVENUE</a:t>
            </a:r>
            <a:endParaRPr sz="1500" dirty="0"/>
          </a:p>
        </p:txBody>
      </p:sp>
      <p:sp>
        <p:nvSpPr>
          <p:cNvPr id="65" name="Google Shape;65;p3"/>
          <p:cNvSpPr txBox="1">
            <a:spLocks noGrp="1"/>
          </p:cNvSpPr>
          <p:nvPr>
            <p:ph type="title"/>
          </p:nvPr>
        </p:nvSpPr>
        <p:spPr>
          <a:xfrm>
            <a:off x="356492" y="1380240"/>
            <a:ext cx="24498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4120" dirty="0"/>
              <a:t>$817.9K</a:t>
            </a:r>
            <a:endParaRPr sz="4120" dirty="0"/>
          </a:p>
        </p:txBody>
      </p:sp>
      <p:sp>
        <p:nvSpPr>
          <p:cNvPr id="66" name="Google Shape;66;p3"/>
          <p:cNvSpPr txBox="1">
            <a:spLocks noGrp="1"/>
          </p:cNvSpPr>
          <p:nvPr>
            <p:ph type="body" idx="1"/>
          </p:nvPr>
        </p:nvSpPr>
        <p:spPr>
          <a:xfrm>
            <a:off x="3144435" y="1971839"/>
            <a:ext cx="2449800" cy="572700"/>
          </a:xfrm>
          <a:prstGeom prst="rect">
            <a:avLst/>
          </a:prstGeom>
          <a:noFill/>
          <a:ln>
            <a:noFill/>
          </a:ln>
        </p:spPr>
        <p:txBody>
          <a:bodyPr spcFirstLastPara="1" wrap="square" lIns="91425" tIns="91425" rIns="91425" bIns="91425" anchor="t" anchorCtr="0">
            <a:normAutofit fontScale="92500" lnSpcReduction="10000"/>
          </a:bodyPr>
          <a:lstStyle/>
          <a:p>
            <a:pPr marL="0" lvl="0" indent="0" algn="ctr" rtl="0">
              <a:lnSpc>
                <a:spcPct val="115000"/>
              </a:lnSpc>
              <a:spcBef>
                <a:spcPts val="0"/>
              </a:spcBef>
              <a:spcAft>
                <a:spcPts val="1200"/>
              </a:spcAft>
              <a:buSzPts val="1800"/>
              <a:buNone/>
            </a:pPr>
            <a:r>
              <a:rPr lang="en" sz="1500" dirty="0"/>
              <a:t>TOTAL ORDERS</a:t>
            </a:r>
            <a:endParaRPr sz="1500" dirty="0"/>
          </a:p>
        </p:txBody>
      </p:sp>
      <p:sp>
        <p:nvSpPr>
          <p:cNvPr id="67" name="Google Shape;67;p3"/>
          <p:cNvSpPr txBox="1">
            <a:spLocks noGrp="1"/>
          </p:cNvSpPr>
          <p:nvPr>
            <p:ph type="title"/>
          </p:nvPr>
        </p:nvSpPr>
        <p:spPr>
          <a:xfrm>
            <a:off x="3166831" y="1380240"/>
            <a:ext cx="24498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4120" dirty="0"/>
              <a:t>21.4K</a:t>
            </a:r>
            <a:endParaRPr sz="4120" dirty="0"/>
          </a:p>
        </p:txBody>
      </p:sp>
      <p:sp>
        <p:nvSpPr>
          <p:cNvPr id="68" name="Google Shape;68;p3"/>
          <p:cNvSpPr txBox="1">
            <a:spLocks noGrp="1"/>
          </p:cNvSpPr>
          <p:nvPr>
            <p:ph type="body" idx="1"/>
          </p:nvPr>
        </p:nvSpPr>
        <p:spPr>
          <a:xfrm>
            <a:off x="5977170" y="1971839"/>
            <a:ext cx="2449800" cy="572700"/>
          </a:xfrm>
          <a:prstGeom prst="rect">
            <a:avLst/>
          </a:prstGeom>
          <a:noFill/>
          <a:ln>
            <a:noFill/>
          </a:ln>
        </p:spPr>
        <p:txBody>
          <a:bodyPr spcFirstLastPara="1" wrap="square" lIns="91425" tIns="91425" rIns="91425" bIns="91425" anchor="t" anchorCtr="0">
            <a:normAutofit fontScale="92500" lnSpcReduction="10000"/>
          </a:bodyPr>
          <a:lstStyle/>
          <a:p>
            <a:pPr marL="0" lvl="0" indent="0" algn="ctr" rtl="0">
              <a:lnSpc>
                <a:spcPct val="115000"/>
              </a:lnSpc>
              <a:spcBef>
                <a:spcPts val="0"/>
              </a:spcBef>
              <a:spcAft>
                <a:spcPts val="1200"/>
              </a:spcAft>
              <a:buSzPts val="1800"/>
              <a:buNone/>
            </a:pPr>
            <a:r>
              <a:rPr lang="en" sz="1500" dirty="0"/>
              <a:t>TOTAL PIZZA SOLD</a:t>
            </a:r>
            <a:endParaRPr sz="1500" dirty="0"/>
          </a:p>
        </p:txBody>
      </p:sp>
      <p:sp>
        <p:nvSpPr>
          <p:cNvPr id="69" name="Google Shape;69;p3"/>
          <p:cNvSpPr txBox="1">
            <a:spLocks noGrp="1"/>
          </p:cNvSpPr>
          <p:nvPr>
            <p:ph type="title"/>
          </p:nvPr>
        </p:nvSpPr>
        <p:spPr>
          <a:xfrm>
            <a:off x="5977170" y="1380240"/>
            <a:ext cx="24498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4120" dirty="0"/>
              <a:t>49.6K</a:t>
            </a:r>
            <a:endParaRPr sz="4120" dirty="0"/>
          </a:p>
        </p:txBody>
      </p:sp>
      <p:sp>
        <p:nvSpPr>
          <p:cNvPr id="70" name="Google Shape;70;p3"/>
          <p:cNvSpPr txBox="1">
            <a:spLocks noGrp="1"/>
          </p:cNvSpPr>
          <p:nvPr>
            <p:ph type="body" idx="1"/>
          </p:nvPr>
        </p:nvSpPr>
        <p:spPr>
          <a:xfrm>
            <a:off x="356492" y="3450844"/>
            <a:ext cx="2449800" cy="572700"/>
          </a:xfrm>
          <a:prstGeom prst="rect">
            <a:avLst/>
          </a:prstGeom>
          <a:noFill/>
          <a:ln>
            <a:noFill/>
          </a:ln>
        </p:spPr>
        <p:txBody>
          <a:bodyPr spcFirstLastPara="1" wrap="square" lIns="91425" tIns="91425" rIns="91425" bIns="91425" anchor="t" anchorCtr="0">
            <a:normAutofit fontScale="85000" lnSpcReduction="10000"/>
          </a:bodyPr>
          <a:lstStyle/>
          <a:p>
            <a:pPr marL="0" lvl="0" indent="0" algn="ctr" rtl="0">
              <a:lnSpc>
                <a:spcPct val="115000"/>
              </a:lnSpc>
              <a:spcBef>
                <a:spcPts val="0"/>
              </a:spcBef>
              <a:spcAft>
                <a:spcPts val="1200"/>
              </a:spcAft>
              <a:buSzPts val="1800"/>
              <a:buNone/>
            </a:pPr>
            <a:r>
              <a:rPr lang="en" sz="1500" dirty="0"/>
              <a:t>REVENUE PER ORDER (AOV)</a:t>
            </a:r>
            <a:endParaRPr sz="1500" dirty="0"/>
          </a:p>
        </p:txBody>
      </p:sp>
      <p:sp>
        <p:nvSpPr>
          <p:cNvPr id="71" name="Google Shape;71;p3"/>
          <p:cNvSpPr txBox="1">
            <a:spLocks noGrp="1"/>
          </p:cNvSpPr>
          <p:nvPr>
            <p:ph type="title"/>
          </p:nvPr>
        </p:nvSpPr>
        <p:spPr>
          <a:xfrm>
            <a:off x="356492" y="2819525"/>
            <a:ext cx="24498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US" sz="4120" dirty="0"/>
              <a:t>$38.31</a:t>
            </a:r>
            <a:endParaRPr sz="4120" dirty="0"/>
          </a:p>
        </p:txBody>
      </p:sp>
      <p:sp>
        <p:nvSpPr>
          <p:cNvPr id="10" name="Google Shape;71;p3">
            <a:extLst>
              <a:ext uri="{FF2B5EF4-FFF2-40B4-BE49-F238E27FC236}">
                <a16:creationId xmlns:a16="http://schemas.microsoft.com/office/drawing/2014/main" id="{B380B74E-5111-8E16-4004-002DA2C63CCE}"/>
              </a:ext>
            </a:extLst>
          </p:cNvPr>
          <p:cNvSpPr txBox="1">
            <a:spLocks/>
          </p:cNvSpPr>
          <p:nvPr/>
        </p:nvSpPr>
        <p:spPr>
          <a:xfrm>
            <a:off x="3166831" y="2819525"/>
            <a:ext cx="24498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52AA5E"/>
              </a:buClr>
              <a:buSzPts val="2800"/>
              <a:buFont typeface="Poppins"/>
              <a:buNone/>
              <a:defRPr sz="2800" b="1" i="0" u="none" strike="noStrike" cap="none">
                <a:solidFill>
                  <a:srgbClr val="52AA5E"/>
                </a:solidFill>
                <a:latin typeface="Poppins"/>
                <a:ea typeface="Poppins"/>
                <a:cs typeface="Poppins"/>
                <a:sym typeface="Poppins"/>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r>
              <a:rPr lang="en-US" sz="4120" dirty="0"/>
              <a:t>$16.50</a:t>
            </a:r>
          </a:p>
        </p:txBody>
      </p:sp>
      <p:sp>
        <p:nvSpPr>
          <p:cNvPr id="11" name="Google Shape;71;p3">
            <a:extLst>
              <a:ext uri="{FF2B5EF4-FFF2-40B4-BE49-F238E27FC236}">
                <a16:creationId xmlns:a16="http://schemas.microsoft.com/office/drawing/2014/main" id="{20DDEA94-24E3-E0C8-F066-50C16582D6CE}"/>
              </a:ext>
            </a:extLst>
          </p:cNvPr>
          <p:cNvSpPr txBox="1">
            <a:spLocks/>
          </p:cNvSpPr>
          <p:nvPr/>
        </p:nvSpPr>
        <p:spPr>
          <a:xfrm>
            <a:off x="5977170" y="2819525"/>
            <a:ext cx="24498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52AA5E"/>
              </a:buClr>
              <a:buSzPts val="2800"/>
              <a:buFont typeface="Poppins"/>
              <a:buNone/>
              <a:defRPr sz="2800" b="1" i="0" u="none" strike="noStrike" cap="none">
                <a:solidFill>
                  <a:srgbClr val="52AA5E"/>
                </a:solidFill>
                <a:latin typeface="Poppins"/>
                <a:ea typeface="Poppins"/>
                <a:cs typeface="Poppins"/>
                <a:sym typeface="Poppins"/>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r>
              <a:rPr lang="en-US" sz="4120" dirty="0"/>
              <a:t>2</a:t>
            </a:r>
          </a:p>
        </p:txBody>
      </p:sp>
      <p:sp>
        <p:nvSpPr>
          <p:cNvPr id="12" name="Google Shape;70;p3">
            <a:extLst>
              <a:ext uri="{FF2B5EF4-FFF2-40B4-BE49-F238E27FC236}">
                <a16:creationId xmlns:a16="http://schemas.microsoft.com/office/drawing/2014/main" id="{F86DEC90-B9B6-6FB2-FAD8-C7EDE6B42586}"/>
              </a:ext>
            </a:extLst>
          </p:cNvPr>
          <p:cNvSpPr txBox="1">
            <a:spLocks/>
          </p:cNvSpPr>
          <p:nvPr/>
        </p:nvSpPr>
        <p:spPr>
          <a:xfrm>
            <a:off x="3166831" y="3450844"/>
            <a:ext cx="2449800" cy="572700"/>
          </a:xfrm>
          <a:prstGeom prst="rect">
            <a:avLst/>
          </a:prstGeom>
          <a:noFill/>
          <a:ln>
            <a:noFill/>
          </a:ln>
        </p:spPr>
        <p:txBody>
          <a:bodyPr spcFirstLastPara="1" wrap="square" lIns="91425" tIns="91425" rIns="91425" bIns="91425" anchor="t" anchorCtr="0">
            <a:normAutofit fontScale="92500"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accent2"/>
              </a:buClr>
              <a:buSzPts val="1800"/>
              <a:buFont typeface="Poppins"/>
              <a:buChar char="●"/>
              <a:defRPr sz="1800" b="0" i="0" u="none" strike="noStrike" cap="none">
                <a:solidFill>
                  <a:schemeClr val="accent2"/>
                </a:solidFill>
                <a:latin typeface="Poppins"/>
                <a:ea typeface="Poppins"/>
                <a:cs typeface="Poppins"/>
                <a:sym typeface="Poppins"/>
              </a:defRPr>
            </a:lvl1pPr>
            <a:lvl2pPr marL="914400" marR="0" lvl="1"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2pPr>
            <a:lvl3pPr marL="1371600" marR="0" lvl="2"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3pPr>
            <a:lvl4pPr marL="1828800" marR="0" lvl="3"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4pPr>
            <a:lvl5pPr marL="2286000" marR="0" lvl="4"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5pPr>
            <a:lvl6pPr marL="2743200" marR="0" lvl="5"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6pPr>
            <a:lvl7pPr marL="3200400" marR="0" lvl="6"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7pPr>
            <a:lvl8pPr marL="3657600" marR="0" lvl="7"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8pPr>
            <a:lvl9pPr marL="4114800" marR="0" lvl="8"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9pPr>
          </a:lstStyle>
          <a:p>
            <a:pPr marL="0" indent="0" algn="ctr">
              <a:spcAft>
                <a:spcPts val="1200"/>
              </a:spcAft>
              <a:buFont typeface="Poppins"/>
              <a:buNone/>
            </a:pPr>
            <a:r>
              <a:rPr lang="en-ID" sz="1500" dirty="0"/>
              <a:t>REVENUE PER PIZZA</a:t>
            </a:r>
          </a:p>
        </p:txBody>
      </p:sp>
      <p:sp>
        <p:nvSpPr>
          <p:cNvPr id="13" name="Google Shape;70;p3">
            <a:extLst>
              <a:ext uri="{FF2B5EF4-FFF2-40B4-BE49-F238E27FC236}">
                <a16:creationId xmlns:a16="http://schemas.microsoft.com/office/drawing/2014/main" id="{9FC9569C-48C0-0166-02C5-F1EE5882C33B}"/>
              </a:ext>
            </a:extLst>
          </p:cNvPr>
          <p:cNvSpPr txBox="1">
            <a:spLocks/>
          </p:cNvSpPr>
          <p:nvPr/>
        </p:nvSpPr>
        <p:spPr>
          <a:xfrm>
            <a:off x="5977170" y="3450844"/>
            <a:ext cx="2449800" cy="572700"/>
          </a:xfrm>
          <a:prstGeom prst="rect">
            <a:avLst/>
          </a:prstGeom>
          <a:noFill/>
          <a:ln>
            <a:noFill/>
          </a:ln>
        </p:spPr>
        <p:txBody>
          <a:bodyPr spcFirstLastPara="1" wrap="square" lIns="91425" tIns="91425" rIns="91425" bIns="91425" anchor="t" anchorCtr="0">
            <a:normAutofit fontScale="92500"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accent2"/>
              </a:buClr>
              <a:buSzPts val="1800"/>
              <a:buFont typeface="Poppins"/>
              <a:buChar char="●"/>
              <a:defRPr sz="1800" b="0" i="0" u="none" strike="noStrike" cap="none">
                <a:solidFill>
                  <a:schemeClr val="accent2"/>
                </a:solidFill>
                <a:latin typeface="Poppins"/>
                <a:ea typeface="Poppins"/>
                <a:cs typeface="Poppins"/>
                <a:sym typeface="Poppins"/>
              </a:defRPr>
            </a:lvl1pPr>
            <a:lvl2pPr marL="914400" marR="0" lvl="1"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2pPr>
            <a:lvl3pPr marL="1371600" marR="0" lvl="2"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3pPr>
            <a:lvl4pPr marL="1828800" marR="0" lvl="3"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4pPr>
            <a:lvl5pPr marL="2286000" marR="0" lvl="4"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5pPr>
            <a:lvl6pPr marL="2743200" marR="0" lvl="5"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6pPr>
            <a:lvl7pPr marL="3200400" marR="0" lvl="6"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7pPr>
            <a:lvl8pPr marL="3657600" marR="0" lvl="7"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8pPr>
            <a:lvl9pPr marL="4114800" marR="0" lvl="8" indent="-317500" algn="l" rtl="0">
              <a:lnSpc>
                <a:spcPct val="115000"/>
              </a:lnSpc>
              <a:spcBef>
                <a:spcPts val="0"/>
              </a:spcBef>
              <a:spcAft>
                <a:spcPts val="0"/>
              </a:spcAft>
              <a:buClr>
                <a:schemeClr val="accent2"/>
              </a:buClr>
              <a:buSzPts val="1400"/>
              <a:buFont typeface="Poppins"/>
              <a:buChar char="■"/>
              <a:defRPr sz="1400" b="0" i="0" u="none" strike="noStrike" cap="none">
                <a:solidFill>
                  <a:schemeClr val="accent2"/>
                </a:solidFill>
                <a:latin typeface="Poppins"/>
                <a:ea typeface="Poppins"/>
                <a:cs typeface="Poppins"/>
                <a:sym typeface="Poppins"/>
              </a:defRPr>
            </a:lvl9pPr>
          </a:lstStyle>
          <a:p>
            <a:pPr marL="0" indent="0" algn="ctr">
              <a:spcAft>
                <a:spcPts val="1200"/>
              </a:spcAft>
              <a:buFont typeface="Poppins"/>
              <a:buNone/>
            </a:pPr>
            <a:r>
              <a:rPr lang="en-US" sz="1500" dirty="0"/>
              <a:t>PIZZAS PER ORDER</a:t>
            </a:r>
            <a:endParaRPr lang="en-ID"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4"/>
          <p:cNvSpPr txBox="1">
            <a:spLocks noGrp="1"/>
          </p:cNvSpPr>
          <p:nvPr>
            <p:ph type="title"/>
          </p:nvPr>
        </p:nvSpPr>
        <p:spPr>
          <a:xfrm>
            <a:off x="265500" y="1425175"/>
            <a:ext cx="2638500" cy="1482300"/>
          </a:xfrm>
          <a:prstGeom prst="rect">
            <a:avLst/>
          </a:prstGeom>
          <a:noFill/>
          <a:ln>
            <a:noFill/>
          </a:ln>
        </p:spPr>
        <p:txBody>
          <a:bodyPr spcFirstLastPara="1" wrap="square" lIns="91425" tIns="91425" rIns="91425" bIns="91425" anchor="ctr" anchorCtr="0">
            <a:normAutofit/>
          </a:bodyPr>
          <a:lstStyle/>
          <a:p>
            <a:pPr marL="0" lvl="0" indent="0" algn="l" rtl="0">
              <a:lnSpc>
                <a:spcPct val="100000"/>
              </a:lnSpc>
              <a:spcBef>
                <a:spcPts val="0"/>
              </a:spcBef>
              <a:spcAft>
                <a:spcPts val="0"/>
              </a:spcAft>
              <a:buSzPts val="3300"/>
              <a:buNone/>
            </a:pPr>
            <a:r>
              <a:rPr lang="en-US" dirty="0"/>
              <a:t>Key Findings</a:t>
            </a:r>
            <a:endParaRPr dirty="0"/>
          </a:p>
        </p:txBody>
      </p:sp>
      <p:sp>
        <p:nvSpPr>
          <p:cNvPr id="63" name="Google Shape;63;p4"/>
          <p:cNvSpPr txBox="1">
            <a:spLocks noGrp="1"/>
          </p:cNvSpPr>
          <p:nvPr>
            <p:ph type="subTitle" idx="1"/>
          </p:nvPr>
        </p:nvSpPr>
        <p:spPr>
          <a:xfrm>
            <a:off x="265500" y="2682239"/>
            <a:ext cx="2386500" cy="1736935"/>
          </a:xfrm>
          <a:prstGeom prst="rect">
            <a:avLst/>
          </a:prstGeom>
          <a:noFill/>
          <a:ln>
            <a:noFill/>
          </a:ln>
        </p:spPr>
        <p:txBody>
          <a:bodyPr spcFirstLastPara="1" wrap="square" lIns="91425" tIns="91425" rIns="91425" bIns="91425" anchor="t" anchorCtr="0">
            <a:normAutofit fontScale="85000" lnSpcReduction="20000"/>
          </a:bodyPr>
          <a:lstStyle/>
          <a:p>
            <a:pPr marL="0" lvl="0" indent="0" algn="just" rtl="0">
              <a:lnSpc>
                <a:spcPct val="110000"/>
              </a:lnSpc>
              <a:spcBef>
                <a:spcPts val="0"/>
              </a:spcBef>
              <a:spcAft>
                <a:spcPts val="0"/>
              </a:spcAft>
              <a:buSzPts val="1700"/>
              <a:buNone/>
            </a:pPr>
            <a:r>
              <a:rPr lang="en-US" dirty="0"/>
              <a:t>Key insights </a:t>
            </a:r>
            <a:r>
              <a:rPr lang="en-US" sz="1800" dirty="0"/>
              <a:t>drives pizza sales performance through KPI based on</a:t>
            </a:r>
          </a:p>
          <a:p>
            <a:pPr marL="285750" lvl="0" indent="-285750" algn="l" rtl="0">
              <a:lnSpc>
                <a:spcPct val="110000"/>
              </a:lnSpc>
              <a:spcBef>
                <a:spcPts val="0"/>
              </a:spcBef>
              <a:spcAft>
                <a:spcPts val="0"/>
              </a:spcAft>
              <a:buSzPts val="1700"/>
              <a:buFont typeface="Arial" panose="020B0604020202020204" pitchFamily="34" charset="0"/>
              <a:buChar char="•"/>
            </a:pPr>
            <a:r>
              <a:rPr lang="en-US" sz="1800" dirty="0"/>
              <a:t>Revenue</a:t>
            </a:r>
          </a:p>
          <a:p>
            <a:pPr marL="285750" lvl="0" indent="-285750" algn="l" rtl="0">
              <a:lnSpc>
                <a:spcPct val="110000"/>
              </a:lnSpc>
              <a:spcBef>
                <a:spcPts val="0"/>
              </a:spcBef>
              <a:spcAft>
                <a:spcPts val="0"/>
              </a:spcAft>
              <a:buSzPts val="1700"/>
              <a:buFont typeface="Arial" panose="020B0604020202020204" pitchFamily="34" charset="0"/>
              <a:buChar char="•"/>
            </a:pPr>
            <a:r>
              <a:rPr lang="en-US" sz="1800" dirty="0"/>
              <a:t>Orders</a:t>
            </a:r>
          </a:p>
          <a:p>
            <a:pPr marL="285750" lvl="0" indent="-285750" algn="l" rtl="0">
              <a:lnSpc>
                <a:spcPct val="110000"/>
              </a:lnSpc>
              <a:spcBef>
                <a:spcPts val="0"/>
              </a:spcBef>
              <a:spcAft>
                <a:spcPts val="0"/>
              </a:spcAft>
              <a:buSzPts val="1700"/>
              <a:buFont typeface="Arial" panose="020B0604020202020204" pitchFamily="34" charset="0"/>
              <a:buChar char="•"/>
            </a:pPr>
            <a:r>
              <a:rPr lang="en-US" sz="1800" dirty="0"/>
              <a:t>Quantity</a:t>
            </a:r>
          </a:p>
          <a:p>
            <a:pPr marL="285750" lvl="0" indent="-285750" algn="l" rtl="0">
              <a:lnSpc>
                <a:spcPct val="110000"/>
              </a:lnSpc>
              <a:spcBef>
                <a:spcPts val="0"/>
              </a:spcBef>
              <a:spcAft>
                <a:spcPts val="0"/>
              </a:spcAft>
              <a:buSzPts val="1700"/>
              <a:buFont typeface="Arial" panose="020B0604020202020204" pitchFamily="34" charset="0"/>
              <a:buChar char="•"/>
            </a:pPr>
            <a:r>
              <a:rPr lang="en-US" sz="1800" dirty="0"/>
              <a:t>AOV </a:t>
            </a:r>
            <a:endParaRPr sz="1800" dirty="0"/>
          </a:p>
        </p:txBody>
      </p:sp>
      <p:sp>
        <p:nvSpPr>
          <p:cNvPr id="64" name="Google Shape;64;p4"/>
          <p:cNvSpPr txBox="1">
            <a:spLocks noGrp="1"/>
          </p:cNvSpPr>
          <p:nvPr>
            <p:ph type="body" idx="2"/>
          </p:nvPr>
        </p:nvSpPr>
        <p:spPr>
          <a:xfrm>
            <a:off x="3972000" y="724075"/>
            <a:ext cx="4804500" cy="3695100"/>
          </a:xfrm>
          <a:prstGeom prst="rect">
            <a:avLst/>
          </a:prstGeom>
          <a:noFill/>
          <a:ln>
            <a:noFill/>
          </a:ln>
        </p:spPr>
        <p:txBody>
          <a:bodyPr spcFirstLastPara="1" wrap="square" lIns="91425" tIns="91425" rIns="91425" bIns="91425" anchor="ctr" anchorCtr="0">
            <a:normAutofit/>
          </a:bodyPr>
          <a:lstStyle/>
          <a:p>
            <a:pPr marL="342900" lvl="0" rtl="0">
              <a:lnSpc>
                <a:spcPct val="115000"/>
              </a:lnSpc>
              <a:spcBef>
                <a:spcPts val="0"/>
              </a:spcBef>
              <a:spcAft>
                <a:spcPts val="1200"/>
              </a:spcAft>
              <a:buSzPts val="1800"/>
              <a:buAutoNum type="arabicPeriod"/>
            </a:pPr>
            <a:r>
              <a:rPr lang="en-US" sz="1200" dirty="0"/>
              <a:t>Revenue was driven by order volume</a:t>
            </a:r>
          </a:p>
          <a:p>
            <a:pPr marL="482600" lvl="1" indent="0">
              <a:spcAft>
                <a:spcPts val="1200"/>
              </a:spcAft>
              <a:buSzPts val="1800"/>
              <a:buNone/>
            </a:pPr>
            <a:r>
              <a:rPr lang="en-US" sz="1100" b="1" dirty="0"/>
              <a:t>21.4K </a:t>
            </a:r>
            <a:r>
              <a:rPr lang="en-US" sz="1000" dirty="0"/>
              <a:t>orders generated approximately </a:t>
            </a:r>
            <a:r>
              <a:rPr lang="en-US" sz="1100" b="1" dirty="0"/>
              <a:t>$817.9K </a:t>
            </a:r>
            <a:r>
              <a:rPr lang="en-US" sz="1000" dirty="0"/>
              <a:t>in annual</a:t>
            </a:r>
            <a:r>
              <a:rPr lang="en-US" sz="1100" dirty="0"/>
              <a:t> </a:t>
            </a:r>
            <a:r>
              <a:rPr lang="en-US" sz="1000" dirty="0"/>
              <a:t>revenue, highlighting the contribution of order volume to overall sales performance.</a:t>
            </a:r>
          </a:p>
          <a:p>
            <a:pPr marL="342900">
              <a:spcAft>
                <a:spcPts val="1200"/>
              </a:spcAft>
              <a:buFont typeface="Poppins SemiBold"/>
              <a:buAutoNum type="arabicPeriod"/>
            </a:pPr>
            <a:r>
              <a:rPr lang="en-US" sz="1200" dirty="0"/>
              <a:t>Customers purchased multiple pizzas per order</a:t>
            </a:r>
          </a:p>
          <a:p>
            <a:pPr marL="482600" lvl="1" indent="0">
              <a:spcAft>
                <a:spcPts val="1200"/>
              </a:spcAft>
              <a:buSzPts val="1800"/>
              <a:buNone/>
            </a:pPr>
            <a:r>
              <a:rPr lang="en-US" sz="1100" b="1" dirty="0"/>
              <a:t>49.6K </a:t>
            </a:r>
            <a:r>
              <a:rPr lang="en-US" sz="1050" dirty="0"/>
              <a:t>pizzas across </a:t>
            </a:r>
            <a:r>
              <a:rPr lang="en-US" sz="1100" b="1" dirty="0"/>
              <a:t>21.4K </a:t>
            </a:r>
            <a:r>
              <a:rPr lang="en-US" sz="1050" dirty="0"/>
              <a:t>orders indicates roughly </a:t>
            </a:r>
            <a:r>
              <a:rPr lang="en-US" sz="1050" b="1" dirty="0"/>
              <a:t>about </a:t>
            </a:r>
            <a:r>
              <a:rPr lang="en-US" sz="1100" b="1" dirty="0"/>
              <a:t>2 pizzas per order</a:t>
            </a:r>
            <a:r>
              <a:rPr lang="en-US" sz="1100" dirty="0"/>
              <a:t>, </a:t>
            </a:r>
            <a:r>
              <a:rPr lang="en-US" sz="1000" dirty="0"/>
              <a:t>suggesting that customers often purchased multiple pizzas in a single transaction.</a:t>
            </a:r>
          </a:p>
          <a:p>
            <a:pPr marL="342900" lvl="0" rtl="0">
              <a:lnSpc>
                <a:spcPct val="115000"/>
              </a:lnSpc>
              <a:spcBef>
                <a:spcPts val="0"/>
              </a:spcBef>
              <a:spcAft>
                <a:spcPts val="1200"/>
              </a:spcAft>
              <a:buSzPts val="1800"/>
              <a:buAutoNum type="arabicPeriod"/>
            </a:pPr>
            <a:r>
              <a:rPr lang="en-US" sz="1200" dirty="0"/>
              <a:t>Revenue per Order (AOV) exceeded Revenue per Pizza</a:t>
            </a:r>
          </a:p>
          <a:p>
            <a:pPr marL="482600" lvl="1" indent="0">
              <a:spcAft>
                <a:spcPts val="1200"/>
              </a:spcAft>
              <a:buSzPts val="1800"/>
              <a:buNone/>
            </a:pPr>
            <a:r>
              <a:rPr lang="en-US" sz="1100" b="1" dirty="0"/>
              <a:t>$38.31 of an Revenue per Order (AOV) </a:t>
            </a:r>
            <a:r>
              <a:rPr lang="en-US" sz="1000" dirty="0"/>
              <a:t>compared with </a:t>
            </a:r>
            <a:r>
              <a:rPr lang="en-US" sz="1100" b="1" dirty="0"/>
              <a:t>$16.50</a:t>
            </a:r>
            <a:r>
              <a:rPr lang="en-US" sz="1100" dirty="0"/>
              <a:t> </a:t>
            </a:r>
            <a:r>
              <a:rPr lang="en-US" sz="1100" b="1" dirty="0"/>
              <a:t>of Revenue per Pizza </a:t>
            </a:r>
            <a:r>
              <a:rPr lang="en-US" sz="1000" dirty="0"/>
              <a:t>indicates that average order generated more than twice the revenue of a single pizza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1829850" y="51378"/>
            <a:ext cx="5484300" cy="454808"/>
          </a:xfrm>
          <a:prstGeom prst="rect">
            <a:avLst/>
          </a:prstGeom>
          <a:noFill/>
          <a:ln>
            <a:noFill/>
          </a:ln>
        </p:spPr>
        <p:txBody>
          <a:bodyPr spcFirstLastPara="1" wrap="square" lIns="91425" tIns="91425" rIns="91425" bIns="91425" anchor="t" anchorCtr="0">
            <a:normAutofit fontScale="90000"/>
          </a:bodyPr>
          <a:lstStyle/>
          <a:p>
            <a:pPr marL="0" lvl="0" indent="0" algn="ctr" rtl="0">
              <a:lnSpc>
                <a:spcPct val="100000"/>
              </a:lnSpc>
              <a:spcBef>
                <a:spcPts val="0"/>
              </a:spcBef>
              <a:spcAft>
                <a:spcPts val="0"/>
              </a:spcAft>
              <a:buSzPct val="111111"/>
              <a:buNone/>
            </a:pPr>
            <a:r>
              <a:rPr lang="en-US" dirty="0"/>
              <a:t>Monthly Performances</a:t>
            </a:r>
            <a:endParaRPr dirty="0"/>
          </a:p>
        </p:txBody>
      </p:sp>
      <p:graphicFrame>
        <p:nvGraphicFramePr>
          <p:cNvPr id="2" name="Chart 1">
            <a:extLst>
              <a:ext uri="{FF2B5EF4-FFF2-40B4-BE49-F238E27FC236}">
                <a16:creationId xmlns:a16="http://schemas.microsoft.com/office/drawing/2014/main" id="{95212325-E970-6507-0588-E5F346F20272}"/>
              </a:ext>
            </a:extLst>
          </p:cNvPr>
          <p:cNvGraphicFramePr>
            <a:graphicFrameLocks/>
          </p:cNvGraphicFramePr>
          <p:nvPr>
            <p:extLst>
              <p:ext uri="{D42A27DB-BD31-4B8C-83A1-F6EECF244321}">
                <p14:modId xmlns:p14="http://schemas.microsoft.com/office/powerpoint/2010/main" val="3010334926"/>
              </p:ext>
            </p:extLst>
          </p:nvPr>
        </p:nvGraphicFramePr>
        <p:xfrm>
          <a:off x="613781" y="612322"/>
          <a:ext cx="3706585" cy="189348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7E0694EB-EC6F-92F4-FA83-9C1B968EF863}"/>
              </a:ext>
            </a:extLst>
          </p:cNvPr>
          <p:cNvGraphicFramePr>
            <a:graphicFrameLocks/>
          </p:cNvGraphicFramePr>
          <p:nvPr>
            <p:extLst>
              <p:ext uri="{D42A27DB-BD31-4B8C-83A1-F6EECF244321}">
                <p14:modId xmlns:p14="http://schemas.microsoft.com/office/powerpoint/2010/main" val="2548432742"/>
              </p:ext>
            </p:extLst>
          </p:nvPr>
        </p:nvGraphicFramePr>
        <p:xfrm>
          <a:off x="4563837" y="2677142"/>
          <a:ext cx="3706585" cy="189348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58AB74F7-F910-5690-A413-BDA671F76B1F}"/>
              </a:ext>
            </a:extLst>
          </p:cNvPr>
          <p:cNvGraphicFramePr>
            <a:graphicFrameLocks/>
          </p:cNvGraphicFramePr>
          <p:nvPr>
            <p:extLst>
              <p:ext uri="{D42A27DB-BD31-4B8C-83A1-F6EECF244321}">
                <p14:modId xmlns:p14="http://schemas.microsoft.com/office/powerpoint/2010/main" val="3752926374"/>
              </p:ext>
            </p:extLst>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6" name="Chart 5">
            <a:extLst>
              <a:ext uri="{FF2B5EF4-FFF2-40B4-BE49-F238E27FC236}">
                <a16:creationId xmlns:a16="http://schemas.microsoft.com/office/drawing/2014/main" id="{B88CD826-F0C3-6438-E6F5-194654320E29}"/>
              </a:ext>
            </a:extLst>
          </p:cNvPr>
          <p:cNvGraphicFramePr>
            <a:graphicFrameLocks/>
          </p:cNvGraphicFramePr>
          <p:nvPr>
            <p:extLst>
              <p:ext uri="{D42A27DB-BD31-4B8C-83A1-F6EECF244321}">
                <p14:modId xmlns:p14="http://schemas.microsoft.com/office/powerpoint/2010/main" val="3790077638"/>
              </p:ext>
            </p:extLst>
          </p:nvPr>
        </p:nvGraphicFramePr>
        <p:xfrm>
          <a:off x="4563838" y="612322"/>
          <a:ext cx="3706585" cy="189348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 name="Chart 2">
            <a:extLst>
              <a:ext uri="{FF2B5EF4-FFF2-40B4-BE49-F238E27FC236}">
                <a16:creationId xmlns:a16="http://schemas.microsoft.com/office/drawing/2014/main" id="{68320A76-6119-4190-A134-648A25A157E4}"/>
              </a:ext>
            </a:extLst>
          </p:cNvPr>
          <p:cNvGraphicFramePr>
            <a:graphicFrameLocks/>
          </p:cNvGraphicFramePr>
          <p:nvPr>
            <p:extLst>
              <p:ext uri="{D42A27DB-BD31-4B8C-83A1-F6EECF244321}">
                <p14:modId xmlns:p14="http://schemas.microsoft.com/office/powerpoint/2010/main" val="79691824"/>
              </p:ext>
            </p:extLst>
          </p:nvPr>
        </p:nvGraphicFramePr>
        <p:xfrm>
          <a:off x="4572000" y="612322"/>
          <a:ext cx="3698422" cy="1893486"/>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Chart 6">
            <a:extLst>
              <a:ext uri="{FF2B5EF4-FFF2-40B4-BE49-F238E27FC236}">
                <a16:creationId xmlns:a16="http://schemas.microsoft.com/office/drawing/2014/main" id="{04AF3420-7505-1A5B-48F9-D8AF3C4DC13B}"/>
              </a:ext>
            </a:extLst>
          </p:cNvPr>
          <p:cNvGraphicFramePr>
            <a:graphicFrameLocks/>
          </p:cNvGraphicFramePr>
          <p:nvPr>
            <p:extLst>
              <p:ext uri="{D42A27DB-BD31-4B8C-83A1-F6EECF244321}">
                <p14:modId xmlns:p14="http://schemas.microsoft.com/office/powerpoint/2010/main" val="3729365021"/>
              </p:ext>
            </p:extLst>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8" name="Chart 7">
            <a:extLst>
              <a:ext uri="{FF2B5EF4-FFF2-40B4-BE49-F238E27FC236}">
                <a16:creationId xmlns:a16="http://schemas.microsoft.com/office/drawing/2014/main" id="{CFC4501F-C235-4611-83C5-2584B6474628}"/>
              </a:ext>
            </a:extLst>
          </p:cNvPr>
          <p:cNvGraphicFramePr>
            <a:graphicFrameLocks/>
          </p:cNvGraphicFramePr>
          <p:nvPr>
            <p:extLst>
              <p:ext uri="{D42A27DB-BD31-4B8C-83A1-F6EECF244321}">
                <p14:modId xmlns:p14="http://schemas.microsoft.com/office/powerpoint/2010/main" val="2501575639"/>
              </p:ext>
            </p:extLst>
          </p:nvPr>
        </p:nvGraphicFramePr>
        <p:xfrm>
          <a:off x="4563836" y="2677142"/>
          <a:ext cx="3698422" cy="1893486"/>
        </p:xfrm>
        <a:graphic>
          <a:graphicData uri="http://schemas.openxmlformats.org/drawingml/2006/chart">
            <c:chart xmlns:c="http://schemas.openxmlformats.org/drawingml/2006/chart" xmlns:r="http://schemas.openxmlformats.org/officeDocument/2006/relationships" r:id="rId9"/>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311700" y="443852"/>
            <a:ext cx="667693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dirty="0"/>
              <a:t>Monthly Performances – Key Insights</a:t>
            </a:r>
            <a:endParaRPr dirty="0"/>
          </a:p>
        </p:txBody>
      </p:sp>
      <p:sp>
        <p:nvSpPr>
          <p:cNvPr id="57" name="Google Shape;57;p3"/>
          <p:cNvSpPr txBox="1">
            <a:spLocks noGrp="1"/>
          </p:cNvSpPr>
          <p:nvPr>
            <p:ph type="body" idx="1"/>
          </p:nvPr>
        </p:nvSpPr>
        <p:spPr>
          <a:xfrm>
            <a:off x="311700" y="1045133"/>
            <a:ext cx="8017913" cy="3376847"/>
          </a:xfrm>
          <a:prstGeom prst="rect">
            <a:avLst/>
          </a:prstGeom>
          <a:noFill/>
          <a:ln>
            <a:noFill/>
          </a:ln>
        </p:spPr>
        <p:txBody>
          <a:bodyPr spcFirstLastPara="1" wrap="square" lIns="91425" tIns="91425" rIns="91425" bIns="91425" anchor="t" anchorCtr="0">
            <a:normAutofit fontScale="92500" lnSpcReduction="10000"/>
          </a:bodyPr>
          <a:lstStyle/>
          <a:p>
            <a:pPr marL="285750" indent="-285750">
              <a:spcAft>
                <a:spcPts val="1200"/>
              </a:spcAft>
              <a:buFont typeface="Wingdings" panose="05000000000000000000" pitchFamily="2" charset="2"/>
              <a:buChar char="§"/>
            </a:pPr>
            <a:r>
              <a:rPr lang="en-US" sz="1400" b="1" dirty="0"/>
              <a:t>July was the best-performing month overall</a:t>
            </a:r>
          </a:p>
          <a:p>
            <a:pPr marL="457200" lvl="1" indent="0">
              <a:spcAft>
                <a:spcPts val="1200"/>
              </a:spcAft>
              <a:buNone/>
            </a:pPr>
            <a:r>
              <a:rPr lang="en-US" sz="1100" dirty="0">
                <a:latin typeface="Poppins" panose="00000500000000000000" pitchFamily="2" charset="0"/>
                <a:cs typeface="Poppins" panose="00000500000000000000" pitchFamily="2" charset="0"/>
              </a:rPr>
              <a:t>July generated the highest monthly revenue </a:t>
            </a:r>
            <a:r>
              <a:rPr lang="en-ID" sz="1100" dirty="0">
                <a:latin typeface="Poppins" panose="00000500000000000000" pitchFamily="2" charset="0"/>
                <a:cs typeface="Poppins" panose="00000500000000000000" pitchFamily="2" charset="0"/>
              </a:rPr>
              <a:t>at </a:t>
            </a:r>
            <a:r>
              <a:rPr lang="en-ID" sz="1100" b="1" dirty="0">
                <a:latin typeface="Poppins" panose="00000500000000000000" pitchFamily="2" charset="0"/>
                <a:cs typeface="Poppins" panose="00000500000000000000" pitchFamily="2" charset="0"/>
              </a:rPr>
              <a:t>$72.6K </a:t>
            </a:r>
            <a:r>
              <a:rPr lang="en-US" sz="1100" dirty="0">
                <a:latin typeface="Poppins" panose="00000500000000000000" pitchFamily="2" charset="0"/>
                <a:cs typeface="Poppins" panose="00000500000000000000" pitchFamily="2" charset="0"/>
              </a:rPr>
              <a:t>and an order volume of </a:t>
            </a:r>
            <a:r>
              <a:rPr lang="en-US" sz="1100" b="1" dirty="0">
                <a:latin typeface="Poppins" panose="00000500000000000000" pitchFamily="2" charset="0"/>
                <a:cs typeface="Poppins" panose="00000500000000000000" pitchFamily="2" charset="0"/>
              </a:rPr>
              <a:t>1.9K, </a:t>
            </a:r>
            <a:r>
              <a:rPr lang="en-US" sz="1100" dirty="0">
                <a:latin typeface="Poppins" panose="00000500000000000000" pitchFamily="2" charset="0"/>
                <a:cs typeface="Poppins" panose="00000500000000000000" pitchFamily="2" charset="0"/>
              </a:rPr>
              <a:t>with </a:t>
            </a:r>
            <a:r>
              <a:rPr lang="en-US" sz="1100" b="1" dirty="0">
                <a:latin typeface="Poppins" panose="00000500000000000000" pitchFamily="2" charset="0"/>
                <a:cs typeface="Poppins" panose="00000500000000000000" pitchFamily="2" charset="0"/>
              </a:rPr>
              <a:t>4.4K</a:t>
            </a:r>
            <a:r>
              <a:rPr lang="en-US" sz="1100" dirty="0">
                <a:latin typeface="Poppins" panose="00000500000000000000" pitchFamily="2" charset="0"/>
                <a:cs typeface="Poppins" panose="00000500000000000000" pitchFamily="2" charset="0"/>
              </a:rPr>
              <a:t> pizzas sold</a:t>
            </a:r>
            <a:r>
              <a:rPr lang="en-US" sz="1000" dirty="0">
                <a:latin typeface="Poppins" panose="00000500000000000000" pitchFamily="2" charset="0"/>
                <a:cs typeface="Poppins" panose="00000500000000000000" pitchFamily="2" charset="0"/>
              </a:rPr>
              <a:t>..</a:t>
            </a:r>
            <a:endParaRPr lang="en-US" sz="1000" b="1" dirty="0">
              <a:latin typeface="Poppins" panose="00000500000000000000" pitchFamily="2" charset="0"/>
              <a:cs typeface="Poppins" panose="00000500000000000000" pitchFamily="2" charset="0"/>
            </a:endParaRPr>
          </a:p>
          <a:p>
            <a:pPr marL="285750" indent="-285750">
              <a:spcAft>
                <a:spcPts val="1200"/>
              </a:spcAft>
              <a:buFont typeface="Wingdings" panose="05000000000000000000" pitchFamily="2" charset="2"/>
              <a:buChar char="§"/>
            </a:pPr>
            <a:r>
              <a:rPr lang="en-US" sz="1400" b="1" dirty="0"/>
              <a:t>October was the lowest-performing month overall</a:t>
            </a:r>
          </a:p>
          <a:p>
            <a:pPr marL="457200" lvl="1" indent="0">
              <a:spcAft>
                <a:spcPts val="1200"/>
              </a:spcAft>
              <a:buNone/>
            </a:pPr>
            <a:r>
              <a:rPr lang="en-US" sz="1100" dirty="0">
                <a:latin typeface="Poppins" panose="00000500000000000000" pitchFamily="2" charset="0"/>
                <a:cs typeface="Poppins" panose="00000500000000000000" pitchFamily="2" charset="0"/>
              </a:rPr>
              <a:t>October generated the lowest monthly revenue </a:t>
            </a:r>
            <a:r>
              <a:rPr lang="en-ID" sz="1100" dirty="0">
                <a:latin typeface="Poppins" panose="00000500000000000000" pitchFamily="2" charset="0"/>
                <a:cs typeface="Poppins" panose="00000500000000000000" pitchFamily="2" charset="0"/>
              </a:rPr>
              <a:t>at </a:t>
            </a:r>
            <a:r>
              <a:rPr lang="en-ID" sz="1100" b="1" dirty="0">
                <a:latin typeface="Poppins" panose="00000500000000000000" pitchFamily="2" charset="0"/>
                <a:cs typeface="Poppins" panose="00000500000000000000" pitchFamily="2" charset="0"/>
              </a:rPr>
              <a:t>$64K </a:t>
            </a:r>
            <a:r>
              <a:rPr lang="en-US" sz="1100" dirty="0">
                <a:latin typeface="Poppins" panose="00000500000000000000" pitchFamily="2" charset="0"/>
                <a:cs typeface="Poppins" panose="00000500000000000000" pitchFamily="2" charset="0"/>
              </a:rPr>
              <a:t>and an order volume of </a:t>
            </a:r>
            <a:r>
              <a:rPr lang="en-US" sz="1100" b="1" dirty="0">
                <a:latin typeface="Poppins" panose="00000500000000000000" pitchFamily="2" charset="0"/>
                <a:cs typeface="Poppins" panose="00000500000000000000" pitchFamily="2" charset="0"/>
              </a:rPr>
              <a:t>1.6K, </a:t>
            </a:r>
            <a:r>
              <a:rPr lang="en-US" sz="1100" dirty="0">
                <a:latin typeface="Poppins" panose="00000500000000000000" pitchFamily="2" charset="0"/>
                <a:cs typeface="Poppins" panose="00000500000000000000" pitchFamily="2" charset="0"/>
              </a:rPr>
              <a:t>with </a:t>
            </a:r>
            <a:r>
              <a:rPr lang="en-US" sz="1100" b="1" dirty="0">
                <a:latin typeface="Poppins" panose="00000500000000000000" pitchFamily="2" charset="0"/>
                <a:cs typeface="Poppins" panose="00000500000000000000" pitchFamily="2" charset="0"/>
              </a:rPr>
              <a:t>3.9K</a:t>
            </a:r>
            <a:r>
              <a:rPr lang="en-US" sz="1100" dirty="0">
                <a:latin typeface="Poppins" panose="00000500000000000000" pitchFamily="2" charset="0"/>
                <a:cs typeface="Poppins" panose="00000500000000000000" pitchFamily="2" charset="0"/>
              </a:rPr>
              <a:t> pizzas sold. Despite this, October achieved a fairly high AOV of </a:t>
            </a:r>
            <a:r>
              <a:rPr lang="en-ID" sz="1100" b="1" dirty="0"/>
              <a:t>$38.9</a:t>
            </a:r>
            <a:r>
              <a:rPr lang="en-ID" sz="1100" dirty="0"/>
              <a:t>.</a:t>
            </a:r>
            <a:endParaRPr lang="en-US" sz="1100" b="1" dirty="0"/>
          </a:p>
          <a:p>
            <a:pPr marL="285750" indent="-285750">
              <a:spcAft>
                <a:spcPts val="1200"/>
              </a:spcAft>
              <a:buFont typeface="Wingdings" panose="05000000000000000000" pitchFamily="2" charset="2"/>
              <a:buChar char="§"/>
            </a:pPr>
            <a:r>
              <a:rPr lang="en-US" sz="1400" b="1" dirty="0"/>
              <a:t>The months in the 4</a:t>
            </a:r>
            <a:r>
              <a:rPr lang="en-US" sz="1400" b="1" baseline="30000" dirty="0"/>
              <a:t>th</a:t>
            </a:r>
            <a:r>
              <a:rPr lang="en-US" sz="1400" b="1" dirty="0"/>
              <a:t> Quarter had the highest AOV</a:t>
            </a:r>
          </a:p>
          <a:p>
            <a:pPr marL="457200" lvl="1" indent="0">
              <a:spcAft>
                <a:spcPts val="1200"/>
              </a:spcAft>
              <a:buNone/>
            </a:pPr>
            <a:r>
              <a:rPr lang="en-US" sz="1100" dirty="0">
                <a:latin typeface="Poppins" panose="00000500000000000000" pitchFamily="2" charset="0"/>
                <a:cs typeface="Poppins" panose="00000500000000000000" pitchFamily="2" charset="0"/>
              </a:rPr>
              <a:t>From October to December, average order revenue peaks at</a:t>
            </a:r>
            <a:r>
              <a:rPr lang="en-US" sz="1100" b="1" dirty="0">
                <a:latin typeface="Poppins" panose="00000500000000000000" pitchFamily="2" charset="0"/>
                <a:cs typeface="Poppins" panose="00000500000000000000" pitchFamily="2" charset="0"/>
              </a:rPr>
              <a:t> $38</a:t>
            </a:r>
            <a:r>
              <a:rPr lang="en-US" sz="1100" dirty="0">
                <a:latin typeface="Poppins" panose="00000500000000000000" pitchFamily="2" charset="0"/>
                <a:cs typeface="Poppins" panose="00000500000000000000" pitchFamily="2" charset="0"/>
              </a:rPr>
              <a:t>, driven by holiday sales like Black Friday, Christmas, and New Year’s Eve, when customers are more willing to spend on premium items like pizza</a:t>
            </a:r>
            <a:r>
              <a:rPr lang="en-US" sz="1100" dirty="0"/>
              <a:t>.</a:t>
            </a:r>
          </a:p>
          <a:p>
            <a:pPr marL="285750" indent="-285750">
              <a:spcAft>
                <a:spcPts val="1200"/>
              </a:spcAft>
              <a:buFont typeface="Wingdings" panose="05000000000000000000" pitchFamily="2" charset="2"/>
              <a:buChar char="§"/>
            </a:pPr>
            <a:r>
              <a:rPr lang="en-US" sz="1400" b="1" dirty="0"/>
              <a:t>June was the month with the highest Revenue per Pizza</a:t>
            </a:r>
          </a:p>
          <a:p>
            <a:pPr marL="457200" lvl="1" indent="0">
              <a:spcAft>
                <a:spcPts val="1200"/>
              </a:spcAft>
              <a:buNone/>
            </a:pPr>
            <a:r>
              <a:rPr lang="en-US" sz="1100" dirty="0">
                <a:latin typeface="Poppins" panose="00000500000000000000" pitchFamily="2" charset="0"/>
                <a:cs typeface="Poppins" panose="00000500000000000000" pitchFamily="2" charset="0"/>
              </a:rPr>
              <a:t>June generated the highest monthly revenue per pizza at </a:t>
            </a:r>
            <a:r>
              <a:rPr lang="en-US" sz="1100" b="1" dirty="0">
                <a:latin typeface="Poppins" panose="00000500000000000000" pitchFamily="2" charset="0"/>
                <a:cs typeface="Poppins" panose="00000500000000000000" pitchFamily="2" charset="0"/>
              </a:rPr>
              <a:t>$16.61 </a:t>
            </a:r>
            <a:r>
              <a:rPr lang="en-US" sz="1100" dirty="0">
                <a:latin typeface="Poppins" panose="00000500000000000000" pitchFamily="2" charset="0"/>
                <a:cs typeface="Poppins" panose="00000500000000000000" pitchFamily="2" charset="0"/>
              </a:rPr>
              <a:t>where the generated revenue at </a:t>
            </a:r>
            <a:r>
              <a:rPr lang="en-US" sz="1100" b="1" dirty="0">
                <a:latin typeface="Poppins" panose="00000500000000000000" pitchFamily="2" charset="0"/>
                <a:cs typeface="Poppins" panose="00000500000000000000" pitchFamily="2" charset="0"/>
              </a:rPr>
              <a:t>$68.2K </a:t>
            </a:r>
            <a:r>
              <a:rPr lang="en-US" sz="1100" dirty="0">
                <a:latin typeface="Poppins" panose="00000500000000000000" pitchFamily="2" charset="0"/>
                <a:cs typeface="Poppins" panose="00000500000000000000" pitchFamily="2" charset="0"/>
              </a:rPr>
              <a:t>and </a:t>
            </a:r>
            <a:r>
              <a:rPr lang="en-US" sz="1100" dirty="0" err="1">
                <a:latin typeface="Poppins" panose="00000500000000000000" pitchFamily="2" charset="0"/>
                <a:cs typeface="Poppins" panose="00000500000000000000" pitchFamily="2" charset="0"/>
              </a:rPr>
              <a:t>and</a:t>
            </a:r>
            <a:r>
              <a:rPr lang="en-US" sz="1100" dirty="0">
                <a:latin typeface="Poppins" panose="00000500000000000000" pitchFamily="2" charset="0"/>
                <a:cs typeface="Poppins" panose="00000500000000000000" pitchFamily="2" charset="0"/>
              </a:rPr>
              <a:t> order volume of </a:t>
            </a:r>
            <a:r>
              <a:rPr lang="en-US" sz="1100" b="1" dirty="0">
                <a:latin typeface="Poppins" panose="00000500000000000000" pitchFamily="2" charset="0"/>
                <a:cs typeface="Poppins" panose="00000500000000000000" pitchFamily="2" charset="0"/>
              </a:rPr>
              <a:t>1.8K, </a:t>
            </a:r>
            <a:r>
              <a:rPr lang="en-US" sz="1100" dirty="0">
                <a:latin typeface="Poppins" panose="00000500000000000000" pitchFamily="2" charset="0"/>
                <a:cs typeface="Poppins" panose="00000500000000000000" pitchFamily="2" charset="0"/>
              </a:rPr>
              <a:t>with </a:t>
            </a:r>
            <a:r>
              <a:rPr lang="en-US" sz="1100" b="1" dirty="0">
                <a:latin typeface="Poppins" panose="00000500000000000000" pitchFamily="2" charset="0"/>
                <a:cs typeface="Poppins" panose="00000500000000000000" pitchFamily="2" charset="0"/>
              </a:rPr>
              <a:t>4.1K </a:t>
            </a:r>
            <a:r>
              <a:rPr lang="en-US" sz="1100" dirty="0">
                <a:latin typeface="Poppins" panose="00000500000000000000" pitchFamily="2" charset="0"/>
                <a:cs typeface="Poppins" panose="00000500000000000000" pitchFamily="2" charset="0"/>
              </a:rPr>
              <a:t>pizzas sold. It even lower than July as the best-performing month.</a:t>
            </a:r>
            <a:endParaRPr lang="en-US" sz="1100" b="1" dirty="0"/>
          </a:p>
          <a:p>
            <a:pPr marL="285750" indent="-285750">
              <a:spcAft>
                <a:spcPts val="1200"/>
              </a:spcAft>
              <a:buFont typeface="Wingdings" panose="05000000000000000000" pitchFamily="2" charset="2"/>
              <a:buChar char="§"/>
            </a:pPr>
            <a:endParaRPr lang="en-US" sz="1400" b="1" dirty="0"/>
          </a:p>
        </p:txBody>
      </p:sp>
    </p:spTree>
    <p:extLst>
      <p:ext uri="{BB962C8B-B14F-4D97-AF65-F5344CB8AC3E}">
        <p14:creationId xmlns:p14="http://schemas.microsoft.com/office/powerpoint/2010/main" val="307397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1829850" y="51378"/>
            <a:ext cx="5484300" cy="454808"/>
          </a:xfrm>
          <a:prstGeom prst="rect">
            <a:avLst/>
          </a:prstGeom>
          <a:noFill/>
          <a:ln>
            <a:noFill/>
          </a:ln>
        </p:spPr>
        <p:txBody>
          <a:bodyPr spcFirstLastPara="1" wrap="square" lIns="91425" tIns="91425" rIns="91425" bIns="91425" anchor="t" anchorCtr="0">
            <a:normAutofit fontScale="90000"/>
          </a:bodyPr>
          <a:lstStyle/>
          <a:p>
            <a:pPr marL="0" lvl="0" indent="0" algn="ctr" rtl="0">
              <a:lnSpc>
                <a:spcPct val="100000"/>
              </a:lnSpc>
              <a:spcBef>
                <a:spcPts val="0"/>
              </a:spcBef>
              <a:spcAft>
                <a:spcPts val="0"/>
              </a:spcAft>
              <a:buSzPct val="111111"/>
              <a:buNone/>
            </a:pPr>
            <a:r>
              <a:rPr lang="en-US" dirty="0"/>
              <a:t>Daily Performances</a:t>
            </a:r>
            <a:endParaRPr dirty="0"/>
          </a:p>
        </p:txBody>
      </p:sp>
      <p:graphicFrame>
        <p:nvGraphicFramePr>
          <p:cNvPr id="2" name="Chart 1">
            <a:extLst>
              <a:ext uri="{FF2B5EF4-FFF2-40B4-BE49-F238E27FC236}">
                <a16:creationId xmlns:a16="http://schemas.microsoft.com/office/drawing/2014/main" id="{95212325-E970-6507-0588-E5F346F20272}"/>
              </a:ext>
            </a:extLst>
          </p:cNvPr>
          <p:cNvGraphicFramePr>
            <a:graphicFrameLocks/>
          </p:cNvGraphicFramePr>
          <p:nvPr/>
        </p:nvGraphicFramePr>
        <p:xfrm>
          <a:off x="613781" y="612322"/>
          <a:ext cx="3706585" cy="189348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7E0694EB-EC6F-92F4-FA83-9C1B968EF863}"/>
              </a:ext>
            </a:extLst>
          </p:cNvPr>
          <p:cNvGraphicFramePr>
            <a:graphicFrameLocks/>
          </p:cNvGraphicFramePr>
          <p:nvPr/>
        </p:nvGraphicFramePr>
        <p:xfrm>
          <a:off x="4563837" y="2677142"/>
          <a:ext cx="3706585" cy="189348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58AB74F7-F910-5690-A413-BDA671F76B1F}"/>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6" name="Chart 5">
            <a:extLst>
              <a:ext uri="{FF2B5EF4-FFF2-40B4-BE49-F238E27FC236}">
                <a16:creationId xmlns:a16="http://schemas.microsoft.com/office/drawing/2014/main" id="{B88CD826-F0C3-6438-E6F5-194654320E29}"/>
              </a:ext>
            </a:extLst>
          </p:cNvPr>
          <p:cNvGraphicFramePr>
            <a:graphicFrameLocks/>
          </p:cNvGraphicFramePr>
          <p:nvPr/>
        </p:nvGraphicFramePr>
        <p:xfrm>
          <a:off x="4563838" y="612322"/>
          <a:ext cx="3706585" cy="189348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 name="Chart 2">
            <a:extLst>
              <a:ext uri="{FF2B5EF4-FFF2-40B4-BE49-F238E27FC236}">
                <a16:creationId xmlns:a16="http://schemas.microsoft.com/office/drawing/2014/main" id="{68320A76-6119-4190-A134-648A25A157E4}"/>
              </a:ext>
            </a:extLst>
          </p:cNvPr>
          <p:cNvGraphicFramePr>
            <a:graphicFrameLocks/>
          </p:cNvGraphicFramePr>
          <p:nvPr/>
        </p:nvGraphicFramePr>
        <p:xfrm>
          <a:off x="4572000" y="612322"/>
          <a:ext cx="3698422" cy="1893486"/>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Chart 6">
            <a:extLst>
              <a:ext uri="{FF2B5EF4-FFF2-40B4-BE49-F238E27FC236}">
                <a16:creationId xmlns:a16="http://schemas.microsoft.com/office/drawing/2014/main" id="{04AF3420-7505-1A5B-48F9-D8AF3C4DC13B}"/>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8" name="Chart 7">
            <a:extLst>
              <a:ext uri="{FF2B5EF4-FFF2-40B4-BE49-F238E27FC236}">
                <a16:creationId xmlns:a16="http://schemas.microsoft.com/office/drawing/2014/main" id="{CFC4501F-C235-4611-83C5-2584B6474628}"/>
              </a:ext>
            </a:extLst>
          </p:cNvPr>
          <p:cNvGraphicFramePr>
            <a:graphicFrameLocks/>
          </p:cNvGraphicFramePr>
          <p:nvPr/>
        </p:nvGraphicFramePr>
        <p:xfrm>
          <a:off x="4563836" y="2677142"/>
          <a:ext cx="3698422" cy="1893486"/>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9" name="Chart 8">
            <a:extLst>
              <a:ext uri="{FF2B5EF4-FFF2-40B4-BE49-F238E27FC236}">
                <a16:creationId xmlns:a16="http://schemas.microsoft.com/office/drawing/2014/main" id="{0D78ABB7-64F9-488D-A5E1-3317579EEBD4}"/>
              </a:ext>
            </a:extLst>
          </p:cNvPr>
          <p:cNvGraphicFramePr>
            <a:graphicFrameLocks/>
          </p:cNvGraphicFramePr>
          <p:nvPr>
            <p:extLst>
              <p:ext uri="{D42A27DB-BD31-4B8C-83A1-F6EECF244321}">
                <p14:modId xmlns:p14="http://schemas.microsoft.com/office/powerpoint/2010/main" val="1345044325"/>
              </p:ext>
            </p:extLst>
          </p:nvPr>
        </p:nvGraphicFramePr>
        <p:xfrm>
          <a:off x="4555673" y="2677142"/>
          <a:ext cx="3706586" cy="189348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0" name="Chart 9">
            <a:extLst>
              <a:ext uri="{FF2B5EF4-FFF2-40B4-BE49-F238E27FC236}">
                <a16:creationId xmlns:a16="http://schemas.microsoft.com/office/drawing/2014/main" id="{B9E20D0E-0DBB-49C5-8F78-63DFBEE81DB5}"/>
              </a:ext>
            </a:extLst>
          </p:cNvPr>
          <p:cNvGraphicFramePr>
            <a:graphicFrameLocks/>
          </p:cNvGraphicFramePr>
          <p:nvPr>
            <p:extLst>
              <p:ext uri="{D42A27DB-BD31-4B8C-83A1-F6EECF244321}">
                <p14:modId xmlns:p14="http://schemas.microsoft.com/office/powerpoint/2010/main" val="1604682708"/>
              </p:ext>
            </p:extLst>
          </p:nvPr>
        </p:nvGraphicFramePr>
        <p:xfrm>
          <a:off x="612322" y="612322"/>
          <a:ext cx="3706585" cy="1893486"/>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1" name="Chart 10">
            <a:extLst>
              <a:ext uri="{FF2B5EF4-FFF2-40B4-BE49-F238E27FC236}">
                <a16:creationId xmlns:a16="http://schemas.microsoft.com/office/drawing/2014/main" id="{E8672D6E-472D-4851-BCEE-BD284F8B3D6F}"/>
              </a:ext>
            </a:extLst>
          </p:cNvPr>
          <p:cNvGraphicFramePr>
            <a:graphicFrameLocks/>
          </p:cNvGraphicFramePr>
          <p:nvPr>
            <p:extLst>
              <p:ext uri="{D42A27DB-BD31-4B8C-83A1-F6EECF244321}">
                <p14:modId xmlns:p14="http://schemas.microsoft.com/office/powerpoint/2010/main" val="3403366976"/>
              </p:ext>
            </p:extLst>
          </p:nvPr>
        </p:nvGraphicFramePr>
        <p:xfrm>
          <a:off x="4555673" y="612322"/>
          <a:ext cx="3714749" cy="1893486"/>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12" name="Chart 11">
            <a:extLst>
              <a:ext uri="{FF2B5EF4-FFF2-40B4-BE49-F238E27FC236}">
                <a16:creationId xmlns:a16="http://schemas.microsoft.com/office/drawing/2014/main" id="{94F2E5F8-C97E-4DED-3D9F-F1835B8D5600}"/>
              </a:ext>
            </a:extLst>
          </p:cNvPr>
          <p:cNvGraphicFramePr>
            <a:graphicFrameLocks/>
          </p:cNvGraphicFramePr>
          <p:nvPr>
            <p:extLst>
              <p:ext uri="{D42A27DB-BD31-4B8C-83A1-F6EECF244321}">
                <p14:modId xmlns:p14="http://schemas.microsoft.com/office/powerpoint/2010/main" val="4227241602"/>
              </p:ext>
            </p:extLst>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13"/>
          </a:graphicData>
        </a:graphic>
      </p:graphicFrame>
    </p:spTree>
    <p:extLst>
      <p:ext uri="{BB962C8B-B14F-4D97-AF65-F5344CB8AC3E}">
        <p14:creationId xmlns:p14="http://schemas.microsoft.com/office/powerpoint/2010/main" val="134735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311700" y="443852"/>
            <a:ext cx="667693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dirty="0"/>
              <a:t>Daily Performances – Key Insights</a:t>
            </a:r>
            <a:endParaRPr dirty="0"/>
          </a:p>
        </p:txBody>
      </p:sp>
      <p:sp>
        <p:nvSpPr>
          <p:cNvPr id="57" name="Google Shape;57;p3"/>
          <p:cNvSpPr txBox="1">
            <a:spLocks noGrp="1"/>
          </p:cNvSpPr>
          <p:nvPr>
            <p:ph type="body" idx="1"/>
          </p:nvPr>
        </p:nvSpPr>
        <p:spPr>
          <a:xfrm>
            <a:off x="311700" y="1045134"/>
            <a:ext cx="7717875" cy="3462572"/>
          </a:xfrm>
          <a:prstGeom prst="rect">
            <a:avLst/>
          </a:prstGeom>
          <a:noFill/>
          <a:ln>
            <a:noFill/>
          </a:ln>
        </p:spPr>
        <p:txBody>
          <a:bodyPr spcFirstLastPara="1" wrap="square" lIns="91425" tIns="91425" rIns="91425" bIns="91425" anchor="t" anchorCtr="0">
            <a:normAutofit fontScale="92500" lnSpcReduction="10000"/>
          </a:bodyPr>
          <a:lstStyle/>
          <a:p>
            <a:pPr marL="285750" indent="-285750">
              <a:spcAft>
                <a:spcPts val="1200"/>
              </a:spcAft>
              <a:buFont typeface="Wingdings" panose="05000000000000000000" pitchFamily="2" charset="2"/>
              <a:buChar char="§"/>
            </a:pPr>
            <a:r>
              <a:rPr lang="en-US" b="1" dirty="0"/>
              <a:t>Friday was the best-performing days in a year overall</a:t>
            </a:r>
          </a:p>
          <a:p>
            <a:pPr marL="457200" lvl="1" indent="0">
              <a:spcAft>
                <a:spcPts val="1200"/>
              </a:spcAft>
              <a:buNone/>
            </a:pPr>
            <a:r>
              <a:rPr lang="en-US" dirty="0">
                <a:latin typeface="Poppins" panose="00000500000000000000" pitchFamily="2" charset="0"/>
                <a:cs typeface="Poppins" panose="00000500000000000000" pitchFamily="2" charset="0"/>
              </a:rPr>
              <a:t>Friday generated the highest daily revenue </a:t>
            </a:r>
            <a:r>
              <a:rPr lang="en-ID" dirty="0">
                <a:latin typeface="Poppins" panose="00000500000000000000" pitchFamily="2" charset="0"/>
                <a:cs typeface="Poppins" panose="00000500000000000000" pitchFamily="2" charset="0"/>
              </a:rPr>
              <a:t>at </a:t>
            </a:r>
            <a:r>
              <a:rPr lang="en-ID" b="1" dirty="0">
                <a:latin typeface="Poppins" panose="00000500000000000000" pitchFamily="2" charset="0"/>
                <a:cs typeface="Poppins" panose="00000500000000000000" pitchFamily="2" charset="0"/>
              </a:rPr>
              <a:t>$136.1K </a:t>
            </a:r>
            <a:r>
              <a:rPr lang="en-US" dirty="0">
                <a:latin typeface="Poppins" panose="00000500000000000000" pitchFamily="2" charset="0"/>
                <a:cs typeface="Poppins" panose="00000500000000000000" pitchFamily="2" charset="0"/>
              </a:rPr>
              <a:t>and an order volume of </a:t>
            </a:r>
            <a:r>
              <a:rPr lang="en-US" b="1" dirty="0">
                <a:latin typeface="Poppins" panose="00000500000000000000" pitchFamily="2" charset="0"/>
                <a:cs typeface="Poppins" panose="00000500000000000000" pitchFamily="2" charset="0"/>
              </a:rPr>
              <a:t>3.5K, </a:t>
            </a:r>
            <a:r>
              <a:rPr lang="en-US" dirty="0">
                <a:latin typeface="Poppins" panose="00000500000000000000" pitchFamily="2" charset="0"/>
                <a:cs typeface="Poppins" panose="00000500000000000000" pitchFamily="2" charset="0"/>
              </a:rPr>
              <a:t>with </a:t>
            </a:r>
            <a:r>
              <a:rPr lang="en-US" b="1" dirty="0">
                <a:latin typeface="Poppins" panose="00000500000000000000" pitchFamily="2" charset="0"/>
                <a:cs typeface="Poppins" panose="00000500000000000000" pitchFamily="2" charset="0"/>
              </a:rPr>
              <a:t>8.2K</a:t>
            </a:r>
            <a:r>
              <a:rPr lang="en-US" dirty="0">
                <a:latin typeface="Poppins" panose="00000500000000000000" pitchFamily="2" charset="0"/>
                <a:cs typeface="Poppins" panose="00000500000000000000" pitchFamily="2" charset="0"/>
              </a:rPr>
              <a:t> pizzas sold</a:t>
            </a:r>
            <a:r>
              <a:rPr lang="en-US" sz="1100" dirty="0">
                <a:latin typeface="Poppins" panose="00000500000000000000" pitchFamily="2" charset="0"/>
                <a:cs typeface="Poppins" panose="00000500000000000000" pitchFamily="2" charset="0"/>
              </a:rPr>
              <a:t>..</a:t>
            </a:r>
            <a:endParaRPr lang="en-US" sz="1100" b="1" dirty="0">
              <a:latin typeface="Poppins" panose="00000500000000000000" pitchFamily="2" charset="0"/>
              <a:cs typeface="Poppins" panose="00000500000000000000" pitchFamily="2" charset="0"/>
            </a:endParaRPr>
          </a:p>
          <a:p>
            <a:pPr marL="285750" indent="-285750">
              <a:spcAft>
                <a:spcPts val="1200"/>
              </a:spcAft>
              <a:buFont typeface="Wingdings" panose="05000000000000000000" pitchFamily="2" charset="2"/>
              <a:buChar char="§"/>
            </a:pPr>
            <a:r>
              <a:rPr lang="en-US" b="1" dirty="0"/>
              <a:t>Sunday was the lowest-performing days in a year overall</a:t>
            </a:r>
          </a:p>
          <a:p>
            <a:pPr marL="457200" lvl="1" indent="0">
              <a:spcAft>
                <a:spcPts val="1200"/>
              </a:spcAft>
              <a:buNone/>
            </a:pPr>
            <a:r>
              <a:rPr lang="en-US" dirty="0">
                <a:latin typeface="Poppins" panose="00000500000000000000" pitchFamily="2" charset="0"/>
                <a:cs typeface="Poppins" panose="00000500000000000000" pitchFamily="2" charset="0"/>
              </a:rPr>
              <a:t>Sunday generated the lowest daily revenue </a:t>
            </a:r>
            <a:r>
              <a:rPr lang="en-ID" dirty="0">
                <a:latin typeface="Poppins" panose="00000500000000000000" pitchFamily="2" charset="0"/>
                <a:cs typeface="Poppins" panose="00000500000000000000" pitchFamily="2" charset="0"/>
              </a:rPr>
              <a:t>at </a:t>
            </a:r>
            <a:r>
              <a:rPr lang="en-ID" b="1" dirty="0">
                <a:latin typeface="Poppins" panose="00000500000000000000" pitchFamily="2" charset="0"/>
                <a:cs typeface="Poppins" panose="00000500000000000000" pitchFamily="2" charset="0"/>
              </a:rPr>
              <a:t>$99.2K </a:t>
            </a:r>
            <a:r>
              <a:rPr lang="en-US" dirty="0">
                <a:latin typeface="Poppins" panose="00000500000000000000" pitchFamily="2" charset="0"/>
                <a:cs typeface="Poppins" panose="00000500000000000000" pitchFamily="2" charset="0"/>
              </a:rPr>
              <a:t>and an order volume of </a:t>
            </a:r>
            <a:r>
              <a:rPr lang="en-US" b="1" dirty="0">
                <a:latin typeface="Poppins" panose="00000500000000000000" pitchFamily="2" charset="0"/>
                <a:cs typeface="Poppins" panose="00000500000000000000" pitchFamily="2" charset="0"/>
              </a:rPr>
              <a:t>2.6K, </a:t>
            </a:r>
            <a:r>
              <a:rPr lang="en-US" dirty="0">
                <a:latin typeface="Poppins" panose="00000500000000000000" pitchFamily="2" charset="0"/>
                <a:cs typeface="Poppins" panose="00000500000000000000" pitchFamily="2" charset="0"/>
              </a:rPr>
              <a:t>with </a:t>
            </a:r>
            <a:r>
              <a:rPr lang="en-US" b="1" dirty="0">
                <a:latin typeface="Poppins" panose="00000500000000000000" pitchFamily="2" charset="0"/>
                <a:cs typeface="Poppins" panose="00000500000000000000" pitchFamily="2" charset="0"/>
              </a:rPr>
              <a:t>6K</a:t>
            </a:r>
            <a:r>
              <a:rPr lang="en-US" dirty="0">
                <a:latin typeface="Poppins" panose="00000500000000000000" pitchFamily="2" charset="0"/>
                <a:cs typeface="Poppins" panose="00000500000000000000" pitchFamily="2" charset="0"/>
              </a:rPr>
              <a:t> pizzas sold. </a:t>
            </a:r>
            <a:endParaRPr lang="en-US" b="1" dirty="0"/>
          </a:p>
          <a:p>
            <a:pPr marL="285750" indent="-285750">
              <a:spcAft>
                <a:spcPts val="1200"/>
              </a:spcAft>
              <a:buFont typeface="Wingdings" panose="05000000000000000000" pitchFamily="2" charset="2"/>
              <a:buChar char="§"/>
            </a:pPr>
            <a:r>
              <a:rPr lang="en-US" b="1" dirty="0"/>
              <a:t>Daily AOV and Revenue per Pizza remain constant</a:t>
            </a:r>
          </a:p>
          <a:p>
            <a:pPr marL="457200" lvl="1" indent="0">
              <a:spcAft>
                <a:spcPts val="1200"/>
              </a:spcAft>
              <a:buNone/>
            </a:pPr>
            <a:r>
              <a:rPr lang="en-US" dirty="0">
                <a:latin typeface="Poppins" panose="00000500000000000000" pitchFamily="2" charset="0"/>
                <a:cs typeface="Poppins" panose="00000500000000000000" pitchFamily="2" charset="0"/>
              </a:rPr>
              <a:t>Customer spending remains constant throughout the week, averaging </a:t>
            </a:r>
            <a:r>
              <a:rPr lang="en-US" b="1" dirty="0">
                <a:latin typeface="Poppins" panose="00000500000000000000" pitchFamily="2" charset="0"/>
                <a:cs typeface="Poppins" panose="00000500000000000000" pitchFamily="2" charset="0"/>
              </a:rPr>
              <a:t>$38 per order </a:t>
            </a:r>
            <a:r>
              <a:rPr lang="en-US" dirty="0">
                <a:latin typeface="Poppins" panose="00000500000000000000" pitchFamily="2" charset="0"/>
                <a:cs typeface="Poppins" panose="00000500000000000000" pitchFamily="2" charset="0"/>
              </a:rPr>
              <a:t>and </a:t>
            </a:r>
            <a:r>
              <a:rPr lang="en-US" b="1" dirty="0">
                <a:latin typeface="Poppins" panose="00000500000000000000" pitchFamily="2" charset="0"/>
                <a:cs typeface="Poppins" panose="00000500000000000000" pitchFamily="2" charset="0"/>
              </a:rPr>
              <a:t>$16.50 per pizza</a:t>
            </a:r>
            <a:r>
              <a:rPr lang="en-US" dirty="0">
                <a:latin typeface="Poppins" panose="00000500000000000000" pitchFamily="2" charset="0"/>
                <a:cs typeface="Poppins" panose="00000500000000000000" pitchFamily="2" charset="0"/>
              </a:rPr>
              <a:t>. Consequently, neither Daily Average Order Value (AOV) nor Revenue per Pizza drives changes in overall sales performance.</a:t>
            </a:r>
          </a:p>
        </p:txBody>
      </p:sp>
    </p:spTree>
    <p:extLst>
      <p:ext uri="{BB962C8B-B14F-4D97-AF65-F5344CB8AC3E}">
        <p14:creationId xmlns:p14="http://schemas.microsoft.com/office/powerpoint/2010/main" val="2931985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1829850" y="51378"/>
            <a:ext cx="5484300" cy="454808"/>
          </a:xfrm>
          <a:prstGeom prst="rect">
            <a:avLst/>
          </a:prstGeom>
          <a:noFill/>
          <a:ln>
            <a:noFill/>
          </a:ln>
        </p:spPr>
        <p:txBody>
          <a:bodyPr spcFirstLastPara="1" wrap="square" lIns="91425" tIns="91425" rIns="91425" bIns="91425" anchor="t" anchorCtr="0">
            <a:normAutofit fontScale="90000"/>
          </a:bodyPr>
          <a:lstStyle/>
          <a:p>
            <a:pPr marL="0" lvl="0" indent="0" algn="ctr" rtl="0">
              <a:lnSpc>
                <a:spcPct val="100000"/>
              </a:lnSpc>
              <a:spcBef>
                <a:spcPts val="0"/>
              </a:spcBef>
              <a:spcAft>
                <a:spcPts val="0"/>
              </a:spcAft>
              <a:buSzPct val="111111"/>
              <a:buNone/>
            </a:pPr>
            <a:r>
              <a:rPr lang="en-US" dirty="0"/>
              <a:t>Hourly Performances</a:t>
            </a:r>
            <a:endParaRPr dirty="0"/>
          </a:p>
        </p:txBody>
      </p:sp>
      <p:graphicFrame>
        <p:nvGraphicFramePr>
          <p:cNvPr id="2" name="Chart 1">
            <a:extLst>
              <a:ext uri="{FF2B5EF4-FFF2-40B4-BE49-F238E27FC236}">
                <a16:creationId xmlns:a16="http://schemas.microsoft.com/office/drawing/2014/main" id="{95212325-E970-6507-0588-E5F346F20272}"/>
              </a:ext>
            </a:extLst>
          </p:cNvPr>
          <p:cNvGraphicFramePr>
            <a:graphicFrameLocks/>
          </p:cNvGraphicFramePr>
          <p:nvPr/>
        </p:nvGraphicFramePr>
        <p:xfrm>
          <a:off x="613781" y="612322"/>
          <a:ext cx="3706585" cy="189348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7E0694EB-EC6F-92F4-FA83-9C1B968EF863}"/>
              </a:ext>
            </a:extLst>
          </p:cNvPr>
          <p:cNvGraphicFramePr>
            <a:graphicFrameLocks/>
          </p:cNvGraphicFramePr>
          <p:nvPr/>
        </p:nvGraphicFramePr>
        <p:xfrm>
          <a:off x="4563837" y="2677142"/>
          <a:ext cx="3706585" cy="189348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58AB74F7-F910-5690-A413-BDA671F76B1F}"/>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6" name="Chart 5">
            <a:extLst>
              <a:ext uri="{FF2B5EF4-FFF2-40B4-BE49-F238E27FC236}">
                <a16:creationId xmlns:a16="http://schemas.microsoft.com/office/drawing/2014/main" id="{B88CD826-F0C3-6438-E6F5-194654320E29}"/>
              </a:ext>
            </a:extLst>
          </p:cNvPr>
          <p:cNvGraphicFramePr>
            <a:graphicFrameLocks/>
          </p:cNvGraphicFramePr>
          <p:nvPr/>
        </p:nvGraphicFramePr>
        <p:xfrm>
          <a:off x="4563838" y="612322"/>
          <a:ext cx="3706585" cy="189348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 name="Chart 2">
            <a:extLst>
              <a:ext uri="{FF2B5EF4-FFF2-40B4-BE49-F238E27FC236}">
                <a16:creationId xmlns:a16="http://schemas.microsoft.com/office/drawing/2014/main" id="{68320A76-6119-4190-A134-648A25A157E4}"/>
              </a:ext>
            </a:extLst>
          </p:cNvPr>
          <p:cNvGraphicFramePr>
            <a:graphicFrameLocks/>
          </p:cNvGraphicFramePr>
          <p:nvPr/>
        </p:nvGraphicFramePr>
        <p:xfrm>
          <a:off x="4572000" y="612322"/>
          <a:ext cx="3698422" cy="1893486"/>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Chart 6">
            <a:extLst>
              <a:ext uri="{FF2B5EF4-FFF2-40B4-BE49-F238E27FC236}">
                <a16:creationId xmlns:a16="http://schemas.microsoft.com/office/drawing/2014/main" id="{04AF3420-7505-1A5B-48F9-D8AF3C4DC13B}"/>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8" name="Chart 7">
            <a:extLst>
              <a:ext uri="{FF2B5EF4-FFF2-40B4-BE49-F238E27FC236}">
                <a16:creationId xmlns:a16="http://schemas.microsoft.com/office/drawing/2014/main" id="{CFC4501F-C235-4611-83C5-2584B6474628}"/>
              </a:ext>
            </a:extLst>
          </p:cNvPr>
          <p:cNvGraphicFramePr>
            <a:graphicFrameLocks/>
          </p:cNvGraphicFramePr>
          <p:nvPr/>
        </p:nvGraphicFramePr>
        <p:xfrm>
          <a:off x="4563836" y="2677142"/>
          <a:ext cx="3698422" cy="1893486"/>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9" name="Chart 8">
            <a:extLst>
              <a:ext uri="{FF2B5EF4-FFF2-40B4-BE49-F238E27FC236}">
                <a16:creationId xmlns:a16="http://schemas.microsoft.com/office/drawing/2014/main" id="{F3B392BE-61C5-4179-9775-0ECFF84B8A26}"/>
              </a:ext>
            </a:extLst>
          </p:cNvPr>
          <p:cNvGraphicFramePr>
            <a:graphicFrameLocks/>
          </p:cNvGraphicFramePr>
          <p:nvPr>
            <p:extLst>
              <p:ext uri="{D42A27DB-BD31-4B8C-83A1-F6EECF244321}">
                <p14:modId xmlns:p14="http://schemas.microsoft.com/office/powerpoint/2010/main" val="613521481"/>
              </p:ext>
            </p:extLst>
          </p:nvPr>
        </p:nvGraphicFramePr>
        <p:xfrm>
          <a:off x="4572000" y="2677142"/>
          <a:ext cx="3706585" cy="189348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0" name="Chart 9">
            <a:extLst>
              <a:ext uri="{FF2B5EF4-FFF2-40B4-BE49-F238E27FC236}">
                <a16:creationId xmlns:a16="http://schemas.microsoft.com/office/drawing/2014/main" id="{1F090329-AA07-B5AC-959A-B8AA3ABD03CC}"/>
              </a:ext>
            </a:extLst>
          </p:cNvPr>
          <p:cNvGraphicFramePr>
            <a:graphicFrameLocks/>
          </p:cNvGraphicFramePr>
          <p:nvPr>
            <p:extLst>
              <p:ext uri="{D42A27DB-BD31-4B8C-83A1-F6EECF244321}">
                <p14:modId xmlns:p14="http://schemas.microsoft.com/office/powerpoint/2010/main" val="1682122360"/>
              </p:ext>
            </p:extLst>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1" name="Chart 10">
            <a:extLst>
              <a:ext uri="{FF2B5EF4-FFF2-40B4-BE49-F238E27FC236}">
                <a16:creationId xmlns:a16="http://schemas.microsoft.com/office/drawing/2014/main" id="{25FD3D62-F6BD-436A-8518-134DE489037E}"/>
              </a:ext>
            </a:extLst>
          </p:cNvPr>
          <p:cNvGraphicFramePr>
            <a:graphicFrameLocks/>
          </p:cNvGraphicFramePr>
          <p:nvPr>
            <p:extLst>
              <p:ext uri="{D42A27DB-BD31-4B8C-83A1-F6EECF244321}">
                <p14:modId xmlns:p14="http://schemas.microsoft.com/office/powerpoint/2010/main" val="2103121260"/>
              </p:ext>
            </p:extLst>
          </p:nvPr>
        </p:nvGraphicFramePr>
        <p:xfrm>
          <a:off x="4571999" y="612322"/>
          <a:ext cx="3706585" cy="1893486"/>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12" name="Chart 11">
            <a:extLst>
              <a:ext uri="{FF2B5EF4-FFF2-40B4-BE49-F238E27FC236}">
                <a16:creationId xmlns:a16="http://schemas.microsoft.com/office/drawing/2014/main" id="{7083CC2F-E4A5-40F0-A682-D77FE4D9562D}"/>
              </a:ext>
            </a:extLst>
          </p:cNvPr>
          <p:cNvGraphicFramePr>
            <a:graphicFrameLocks/>
          </p:cNvGraphicFramePr>
          <p:nvPr>
            <p:extLst>
              <p:ext uri="{D42A27DB-BD31-4B8C-83A1-F6EECF244321}">
                <p14:modId xmlns:p14="http://schemas.microsoft.com/office/powerpoint/2010/main" val="535226716"/>
              </p:ext>
            </p:extLst>
          </p:nvPr>
        </p:nvGraphicFramePr>
        <p:xfrm>
          <a:off x="612322" y="612322"/>
          <a:ext cx="3716207" cy="1893486"/>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13" name="Chart 12">
            <a:extLst>
              <a:ext uri="{FF2B5EF4-FFF2-40B4-BE49-F238E27FC236}">
                <a16:creationId xmlns:a16="http://schemas.microsoft.com/office/drawing/2014/main" id="{F93BE25A-7B5F-406D-8D29-667328EB3807}"/>
              </a:ext>
            </a:extLst>
          </p:cNvPr>
          <p:cNvGraphicFramePr>
            <a:graphicFrameLocks/>
          </p:cNvGraphicFramePr>
          <p:nvPr>
            <p:extLst>
              <p:ext uri="{D42A27DB-BD31-4B8C-83A1-F6EECF244321}">
                <p14:modId xmlns:p14="http://schemas.microsoft.com/office/powerpoint/2010/main" val="1605060795"/>
              </p:ext>
            </p:extLst>
          </p:nvPr>
        </p:nvGraphicFramePr>
        <p:xfrm>
          <a:off x="612322" y="612322"/>
          <a:ext cx="3716207" cy="1893486"/>
        </p:xfrm>
        <a:graphic>
          <a:graphicData uri="http://schemas.openxmlformats.org/drawingml/2006/chart">
            <c:chart xmlns:c="http://schemas.openxmlformats.org/drawingml/2006/chart" xmlns:r="http://schemas.openxmlformats.org/officeDocument/2006/relationships" r:id="rId14"/>
          </a:graphicData>
        </a:graphic>
      </p:graphicFrame>
    </p:spTree>
    <p:extLst>
      <p:ext uri="{BB962C8B-B14F-4D97-AF65-F5344CB8AC3E}">
        <p14:creationId xmlns:p14="http://schemas.microsoft.com/office/powerpoint/2010/main" val="19002958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311700" y="443852"/>
            <a:ext cx="667693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dirty="0"/>
              <a:t>Hourly Performances – Key Insights</a:t>
            </a:r>
            <a:endParaRPr dirty="0"/>
          </a:p>
        </p:txBody>
      </p:sp>
      <p:sp>
        <p:nvSpPr>
          <p:cNvPr id="57" name="Google Shape;57;p3"/>
          <p:cNvSpPr txBox="1">
            <a:spLocks noGrp="1"/>
          </p:cNvSpPr>
          <p:nvPr>
            <p:ph type="body" idx="1"/>
          </p:nvPr>
        </p:nvSpPr>
        <p:spPr>
          <a:xfrm>
            <a:off x="311700" y="1045134"/>
            <a:ext cx="8520600" cy="3046800"/>
          </a:xfrm>
          <a:prstGeom prst="rect">
            <a:avLst/>
          </a:prstGeom>
          <a:noFill/>
          <a:ln>
            <a:noFill/>
          </a:ln>
        </p:spPr>
        <p:txBody>
          <a:bodyPr spcFirstLastPara="1" wrap="square" lIns="91425" tIns="91425" rIns="91425" bIns="91425" anchor="t" anchorCtr="0">
            <a:normAutofit fontScale="85000" lnSpcReduction="20000"/>
          </a:bodyPr>
          <a:lstStyle/>
          <a:p>
            <a:pPr marL="285750" indent="-285750">
              <a:spcAft>
                <a:spcPts val="1200"/>
              </a:spcAft>
              <a:buFont typeface="Wingdings" panose="05000000000000000000" pitchFamily="2" charset="2"/>
              <a:buChar char="§"/>
            </a:pPr>
            <a:r>
              <a:rPr lang="en-US" b="1" dirty="0"/>
              <a:t>Lunchtime, peaking at 12 PM, was the best-performing time overall</a:t>
            </a:r>
          </a:p>
          <a:p>
            <a:pPr marL="457200" lvl="1" indent="0">
              <a:spcAft>
                <a:spcPts val="1200"/>
              </a:spcAft>
              <a:buNone/>
            </a:pPr>
            <a:r>
              <a:rPr lang="en-US" dirty="0">
                <a:latin typeface="Poppins" panose="00000500000000000000" pitchFamily="2" charset="0"/>
                <a:cs typeface="Poppins" panose="00000500000000000000" pitchFamily="2" charset="0"/>
              </a:rPr>
              <a:t>Lunchtime at </a:t>
            </a:r>
            <a:r>
              <a:rPr lang="en-US" b="1" dirty="0">
                <a:latin typeface="Poppins" panose="00000500000000000000" pitchFamily="2" charset="0"/>
                <a:cs typeface="Poppins" panose="00000500000000000000" pitchFamily="2" charset="0"/>
              </a:rPr>
              <a:t>12 PM </a:t>
            </a:r>
            <a:r>
              <a:rPr lang="en-US" dirty="0">
                <a:latin typeface="Poppins" panose="00000500000000000000" pitchFamily="2" charset="0"/>
                <a:cs typeface="Poppins" panose="00000500000000000000" pitchFamily="2" charset="0"/>
              </a:rPr>
              <a:t>generated the highest peak revenue at </a:t>
            </a:r>
            <a:r>
              <a:rPr lang="en-US" b="1" dirty="0">
                <a:latin typeface="Poppins" panose="00000500000000000000" pitchFamily="2" charset="0"/>
                <a:cs typeface="Poppins" panose="00000500000000000000" pitchFamily="2" charset="0"/>
              </a:rPr>
              <a:t>$111.9K </a:t>
            </a:r>
            <a:r>
              <a:rPr lang="en-US" dirty="0">
                <a:latin typeface="Poppins" panose="00000500000000000000" pitchFamily="2" charset="0"/>
                <a:cs typeface="Poppins" panose="00000500000000000000" pitchFamily="2" charset="0"/>
              </a:rPr>
              <a:t>and an order volume of </a:t>
            </a:r>
            <a:r>
              <a:rPr lang="en-US" b="1" dirty="0">
                <a:latin typeface="Poppins" panose="00000500000000000000" pitchFamily="2" charset="0"/>
                <a:cs typeface="Poppins" panose="00000500000000000000" pitchFamily="2" charset="0"/>
              </a:rPr>
              <a:t>2.5K</a:t>
            </a:r>
            <a:r>
              <a:rPr lang="en-US" dirty="0">
                <a:latin typeface="Poppins" panose="00000500000000000000" pitchFamily="2" charset="0"/>
                <a:cs typeface="Poppins" panose="00000500000000000000" pitchFamily="2" charset="0"/>
              </a:rPr>
              <a:t>, with </a:t>
            </a:r>
            <a:r>
              <a:rPr lang="en-US" b="1" dirty="0">
                <a:latin typeface="Poppins" panose="00000500000000000000" pitchFamily="2" charset="0"/>
                <a:cs typeface="Poppins" panose="00000500000000000000" pitchFamily="2" charset="0"/>
              </a:rPr>
              <a:t>6.8K</a:t>
            </a:r>
            <a:r>
              <a:rPr lang="en-US" dirty="0">
                <a:latin typeface="Poppins" panose="00000500000000000000" pitchFamily="2" charset="0"/>
                <a:cs typeface="Poppins" panose="00000500000000000000" pitchFamily="2" charset="0"/>
              </a:rPr>
              <a:t> pizzas sold</a:t>
            </a:r>
            <a:endParaRPr lang="en-US" b="1" dirty="0">
              <a:latin typeface="Poppins" panose="00000500000000000000" pitchFamily="2" charset="0"/>
              <a:cs typeface="Poppins" panose="00000500000000000000" pitchFamily="2" charset="0"/>
            </a:endParaRPr>
          </a:p>
          <a:p>
            <a:pPr marL="285750" indent="-285750">
              <a:spcAft>
                <a:spcPts val="1200"/>
              </a:spcAft>
              <a:buFont typeface="Wingdings" panose="05000000000000000000" pitchFamily="2" charset="2"/>
              <a:buChar char="§"/>
            </a:pPr>
            <a:r>
              <a:rPr lang="en-US" b="1" dirty="0"/>
              <a:t>In the evening at 6 PM, performance peaked again, though not as high as at 12 PM.</a:t>
            </a:r>
          </a:p>
          <a:p>
            <a:pPr marL="457200" lvl="1" indent="0">
              <a:spcAft>
                <a:spcPts val="1200"/>
              </a:spcAft>
              <a:buNone/>
            </a:pPr>
            <a:r>
              <a:rPr lang="en-US" dirty="0">
                <a:latin typeface="Poppins" panose="00000500000000000000" pitchFamily="2" charset="0"/>
                <a:cs typeface="Poppins" panose="00000500000000000000" pitchFamily="2" charset="0"/>
              </a:rPr>
              <a:t>The secondary peak at 6 PM generated a strong revenue of </a:t>
            </a:r>
            <a:r>
              <a:rPr lang="en-US" b="1" dirty="0">
                <a:latin typeface="Poppins" panose="00000500000000000000" pitchFamily="2" charset="0"/>
                <a:cs typeface="Poppins" panose="00000500000000000000" pitchFamily="2" charset="0"/>
              </a:rPr>
              <a:t>$89.3K</a:t>
            </a:r>
            <a:r>
              <a:rPr lang="en-US" dirty="0">
                <a:latin typeface="Poppins" panose="00000500000000000000" pitchFamily="2" charset="0"/>
                <a:cs typeface="Poppins" panose="00000500000000000000" pitchFamily="2" charset="0"/>
              </a:rPr>
              <a:t> and an order volume of </a:t>
            </a:r>
            <a:r>
              <a:rPr lang="en-US" b="1" dirty="0">
                <a:latin typeface="Poppins" panose="00000500000000000000" pitchFamily="2" charset="0"/>
                <a:cs typeface="Poppins" panose="00000500000000000000" pitchFamily="2" charset="0"/>
              </a:rPr>
              <a:t>2.4K</a:t>
            </a:r>
            <a:r>
              <a:rPr lang="en-US" dirty="0">
                <a:latin typeface="Poppins" panose="00000500000000000000" pitchFamily="2" charset="0"/>
                <a:cs typeface="Poppins" panose="00000500000000000000" pitchFamily="2" charset="0"/>
              </a:rPr>
              <a:t>, with </a:t>
            </a:r>
            <a:r>
              <a:rPr lang="en-US" b="1" dirty="0">
                <a:latin typeface="Poppins" panose="00000500000000000000" pitchFamily="2" charset="0"/>
                <a:cs typeface="Poppins" panose="00000500000000000000" pitchFamily="2" charset="0"/>
              </a:rPr>
              <a:t>5.4K </a:t>
            </a:r>
            <a:r>
              <a:rPr lang="en-US" dirty="0">
                <a:latin typeface="Poppins" panose="00000500000000000000" pitchFamily="2" charset="0"/>
                <a:cs typeface="Poppins" panose="00000500000000000000" pitchFamily="2" charset="0"/>
              </a:rPr>
              <a:t>pizzas sold.</a:t>
            </a:r>
            <a:endParaRPr lang="en-US" b="1" dirty="0"/>
          </a:p>
          <a:p>
            <a:pPr marL="285750" indent="-285750">
              <a:spcAft>
                <a:spcPts val="1200"/>
              </a:spcAft>
              <a:buFont typeface="Wingdings" panose="05000000000000000000" pitchFamily="2" charset="2"/>
              <a:buChar char="§"/>
            </a:pPr>
            <a:r>
              <a:rPr lang="en-US" b="1" dirty="0"/>
              <a:t>Hourly AOV and Revenue per Pizza Remain Steady Across Peak Hours</a:t>
            </a:r>
          </a:p>
          <a:p>
            <a:pPr marL="457200" lvl="1" indent="0">
              <a:spcAft>
                <a:spcPts val="1200"/>
              </a:spcAft>
              <a:buNone/>
            </a:pPr>
            <a:r>
              <a:rPr lang="en-US" dirty="0">
                <a:latin typeface="Poppins" panose="00000500000000000000" pitchFamily="2" charset="0"/>
                <a:cs typeface="Poppins" panose="00000500000000000000" pitchFamily="2" charset="0"/>
              </a:rPr>
              <a:t>AOV and Revenue per Pizza reach their peak at </a:t>
            </a:r>
            <a:r>
              <a:rPr lang="en-US" b="1" dirty="0">
                <a:latin typeface="Poppins" panose="00000500000000000000" pitchFamily="2" charset="0"/>
                <a:cs typeface="Poppins" panose="00000500000000000000" pitchFamily="2" charset="0"/>
              </a:rPr>
              <a:t>9 AM </a:t>
            </a:r>
            <a:r>
              <a:rPr lang="en-US" dirty="0">
                <a:latin typeface="Poppins" panose="00000500000000000000" pitchFamily="2" charset="0"/>
                <a:cs typeface="Poppins" panose="00000500000000000000" pitchFamily="2" charset="0"/>
              </a:rPr>
              <a:t>due to low order volumes and pizza quantities during opening. Across the rest of the operating hours, customer spending stabilizes at </a:t>
            </a:r>
            <a:r>
              <a:rPr lang="en-US" b="1" dirty="0">
                <a:latin typeface="Poppins" panose="00000500000000000000" pitchFamily="2" charset="0"/>
                <a:cs typeface="Poppins" panose="00000500000000000000" pitchFamily="2" charset="0"/>
              </a:rPr>
              <a:t>$37-$40 </a:t>
            </a:r>
            <a:r>
              <a:rPr lang="en-US" dirty="0">
                <a:latin typeface="Poppins" panose="00000500000000000000" pitchFamily="2" charset="0"/>
                <a:cs typeface="Poppins" panose="00000500000000000000" pitchFamily="2" charset="0"/>
              </a:rPr>
              <a:t>per order and </a:t>
            </a:r>
            <a:r>
              <a:rPr lang="en-US" b="1" dirty="0">
                <a:latin typeface="Poppins" panose="00000500000000000000" pitchFamily="2" charset="0"/>
                <a:cs typeface="Poppins" panose="00000500000000000000" pitchFamily="2" charset="0"/>
              </a:rPr>
              <a:t>$16.50 </a:t>
            </a:r>
            <a:r>
              <a:rPr lang="en-US" dirty="0">
                <a:latin typeface="Poppins" panose="00000500000000000000" pitchFamily="2" charset="0"/>
                <a:cs typeface="Poppins" panose="00000500000000000000" pitchFamily="2" charset="0"/>
              </a:rPr>
              <a:t>per pizza, showing no impact on overall sales performance.</a:t>
            </a:r>
            <a:endParaRPr dirty="0"/>
          </a:p>
        </p:txBody>
      </p:sp>
    </p:spTree>
    <p:extLst>
      <p:ext uri="{BB962C8B-B14F-4D97-AF65-F5344CB8AC3E}">
        <p14:creationId xmlns:p14="http://schemas.microsoft.com/office/powerpoint/2010/main" val="5571098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1829850" y="51378"/>
            <a:ext cx="5484300" cy="454808"/>
          </a:xfrm>
          <a:prstGeom prst="rect">
            <a:avLst/>
          </a:prstGeom>
          <a:noFill/>
          <a:ln>
            <a:noFill/>
          </a:ln>
        </p:spPr>
        <p:txBody>
          <a:bodyPr spcFirstLastPara="1" wrap="square" lIns="91425" tIns="91425" rIns="91425" bIns="91425" anchor="t" anchorCtr="0">
            <a:normAutofit fontScale="90000"/>
          </a:bodyPr>
          <a:lstStyle/>
          <a:p>
            <a:pPr marL="0" lvl="0" indent="0" algn="ctr" rtl="0">
              <a:lnSpc>
                <a:spcPct val="100000"/>
              </a:lnSpc>
              <a:spcBef>
                <a:spcPts val="0"/>
              </a:spcBef>
              <a:spcAft>
                <a:spcPts val="0"/>
              </a:spcAft>
              <a:buSzPct val="111111"/>
              <a:buNone/>
            </a:pPr>
            <a:r>
              <a:rPr lang="en-US" dirty="0"/>
              <a:t>Top 5 Pizza Performance</a:t>
            </a:r>
            <a:endParaRPr dirty="0"/>
          </a:p>
        </p:txBody>
      </p:sp>
      <p:graphicFrame>
        <p:nvGraphicFramePr>
          <p:cNvPr id="2" name="Chart 1">
            <a:extLst>
              <a:ext uri="{FF2B5EF4-FFF2-40B4-BE49-F238E27FC236}">
                <a16:creationId xmlns:a16="http://schemas.microsoft.com/office/drawing/2014/main" id="{95212325-E970-6507-0588-E5F346F20272}"/>
              </a:ext>
            </a:extLst>
          </p:cNvPr>
          <p:cNvGraphicFramePr>
            <a:graphicFrameLocks/>
          </p:cNvGraphicFramePr>
          <p:nvPr/>
        </p:nvGraphicFramePr>
        <p:xfrm>
          <a:off x="613781" y="612322"/>
          <a:ext cx="3706585" cy="189348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7E0694EB-EC6F-92F4-FA83-9C1B968EF863}"/>
              </a:ext>
            </a:extLst>
          </p:cNvPr>
          <p:cNvGraphicFramePr>
            <a:graphicFrameLocks/>
          </p:cNvGraphicFramePr>
          <p:nvPr/>
        </p:nvGraphicFramePr>
        <p:xfrm>
          <a:off x="4563837" y="2677142"/>
          <a:ext cx="3706585" cy="189348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58AB74F7-F910-5690-A413-BDA671F76B1F}"/>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6" name="Chart 5">
            <a:extLst>
              <a:ext uri="{FF2B5EF4-FFF2-40B4-BE49-F238E27FC236}">
                <a16:creationId xmlns:a16="http://schemas.microsoft.com/office/drawing/2014/main" id="{B88CD826-F0C3-6438-E6F5-194654320E29}"/>
              </a:ext>
            </a:extLst>
          </p:cNvPr>
          <p:cNvGraphicFramePr>
            <a:graphicFrameLocks/>
          </p:cNvGraphicFramePr>
          <p:nvPr/>
        </p:nvGraphicFramePr>
        <p:xfrm>
          <a:off x="4563838" y="612322"/>
          <a:ext cx="3706585" cy="189348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 name="Chart 2">
            <a:extLst>
              <a:ext uri="{FF2B5EF4-FFF2-40B4-BE49-F238E27FC236}">
                <a16:creationId xmlns:a16="http://schemas.microsoft.com/office/drawing/2014/main" id="{68320A76-6119-4190-A134-648A25A157E4}"/>
              </a:ext>
            </a:extLst>
          </p:cNvPr>
          <p:cNvGraphicFramePr>
            <a:graphicFrameLocks/>
          </p:cNvGraphicFramePr>
          <p:nvPr/>
        </p:nvGraphicFramePr>
        <p:xfrm>
          <a:off x="4572000" y="612322"/>
          <a:ext cx="3698422" cy="1893486"/>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Chart 6">
            <a:extLst>
              <a:ext uri="{FF2B5EF4-FFF2-40B4-BE49-F238E27FC236}">
                <a16:creationId xmlns:a16="http://schemas.microsoft.com/office/drawing/2014/main" id="{04AF3420-7505-1A5B-48F9-D8AF3C4DC13B}"/>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8" name="Chart 7">
            <a:extLst>
              <a:ext uri="{FF2B5EF4-FFF2-40B4-BE49-F238E27FC236}">
                <a16:creationId xmlns:a16="http://schemas.microsoft.com/office/drawing/2014/main" id="{CFC4501F-C235-4611-83C5-2584B6474628}"/>
              </a:ext>
            </a:extLst>
          </p:cNvPr>
          <p:cNvGraphicFramePr>
            <a:graphicFrameLocks/>
          </p:cNvGraphicFramePr>
          <p:nvPr/>
        </p:nvGraphicFramePr>
        <p:xfrm>
          <a:off x="4563836" y="2677142"/>
          <a:ext cx="3698422" cy="1893486"/>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9" name="Chart 8">
            <a:extLst>
              <a:ext uri="{FF2B5EF4-FFF2-40B4-BE49-F238E27FC236}">
                <a16:creationId xmlns:a16="http://schemas.microsoft.com/office/drawing/2014/main" id="{F3B392BE-61C5-4179-9775-0ECFF84B8A26}"/>
              </a:ext>
            </a:extLst>
          </p:cNvPr>
          <p:cNvGraphicFramePr>
            <a:graphicFrameLocks/>
          </p:cNvGraphicFramePr>
          <p:nvPr/>
        </p:nvGraphicFramePr>
        <p:xfrm>
          <a:off x="4572000" y="2677142"/>
          <a:ext cx="3706585" cy="189348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0" name="Chart 9">
            <a:extLst>
              <a:ext uri="{FF2B5EF4-FFF2-40B4-BE49-F238E27FC236}">
                <a16:creationId xmlns:a16="http://schemas.microsoft.com/office/drawing/2014/main" id="{D4E017D8-A37E-416F-8624-114A4C5A7BB0}"/>
              </a:ext>
            </a:extLst>
          </p:cNvPr>
          <p:cNvGraphicFramePr>
            <a:graphicFrameLocks/>
          </p:cNvGraphicFramePr>
          <p:nvPr>
            <p:extLst>
              <p:ext uri="{D42A27DB-BD31-4B8C-83A1-F6EECF244321}">
                <p14:modId xmlns:p14="http://schemas.microsoft.com/office/powerpoint/2010/main" val="2448340940"/>
              </p:ext>
            </p:extLst>
          </p:nvPr>
        </p:nvGraphicFramePr>
        <p:xfrm>
          <a:off x="612322" y="612322"/>
          <a:ext cx="3706585" cy="1893486"/>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1" name="Chart 10">
            <a:extLst>
              <a:ext uri="{FF2B5EF4-FFF2-40B4-BE49-F238E27FC236}">
                <a16:creationId xmlns:a16="http://schemas.microsoft.com/office/drawing/2014/main" id="{A4D8997D-C036-48F5-8D1F-83AB9614F04B}"/>
              </a:ext>
            </a:extLst>
          </p:cNvPr>
          <p:cNvGraphicFramePr>
            <a:graphicFrameLocks/>
          </p:cNvGraphicFramePr>
          <p:nvPr>
            <p:extLst>
              <p:ext uri="{D42A27DB-BD31-4B8C-83A1-F6EECF244321}">
                <p14:modId xmlns:p14="http://schemas.microsoft.com/office/powerpoint/2010/main" val="2097211558"/>
              </p:ext>
            </p:extLst>
          </p:nvPr>
        </p:nvGraphicFramePr>
        <p:xfrm>
          <a:off x="4563836" y="612322"/>
          <a:ext cx="3714749" cy="1893486"/>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12" name="Chart 11">
            <a:extLst>
              <a:ext uri="{FF2B5EF4-FFF2-40B4-BE49-F238E27FC236}">
                <a16:creationId xmlns:a16="http://schemas.microsoft.com/office/drawing/2014/main" id="{5F36D373-13A0-BAED-D5B8-9F0958BA0576}"/>
              </a:ext>
            </a:extLst>
          </p:cNvPr>
          <p:cNvGraphicFramePr>
            <a:graphicFrameLocks/>
          </p:cNvGraphicFramePr>
          <p:nvPr>
            <p:extLst>
              <p:ext uri="{D42A27DB-BD31-4B8C-83A1-F6EECF244321}">
                <p14:modId xmlns:p14="http://schemas.microsoft.com/office/powerpoint/2010/main" val="562947465"/>
              </p:ext>
            </p:extLst>
          </p:nvPr>
        </p:nvGraphicFramePr>
        <p:xfrm>
          <a:off x="612321" y="2677142"/>
          <a:ext cx="3714749" cy="1893486"/>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13" name="Chart 12">
            <a:extLst>
              <a:ext uri="{FF2B5EF4-FFF2-40B4-BE49-F238E27FC236}">
                <a16:creationId xmlns:a16="http://schemas.microsoft.com/office/drawing/2014/main" id="{01910955-EB0F-4CB9-9A55-A4C6F780C870}"/>
              </a:ext>
            </a:extLst>
          </p:cNvPr>
          <p:cNvGraphicFramePr>
            <a:graphicFrameLocks/>
          </p:cNvGraphicFramePr>
          <p:nvPr>
            <p:extLst>
              <p:ext uri="{D42A27DB-BD31-4B8C-83A1-F6EECF244321}">
                <p14:modId xmlns:p14="http://schemas.microsoft.com/office/powerpoint/2010/main" val="2632915126"/>
              </p:ext>
            </p:extLst>
          </p:nvPr>
        </p:nvGraphicFramePr>
        <p:xfrm>
          <a:off x="4555674" y="2677142"/>
          <a:ext cx="3722911" cy="1893486"/>
        </p:xfrm>
        <a:graphic>
          <a:graphicData uri="http://schemas.openxmlformats.org/drawingml/2006/chart">
            <c:chart xmlns:c="http://schemas.openxmlformats.org/drawingml/2006/chart" xmlns:r="http://schemas.openxmlformats.org/officeDocument/2006/relationships" r:id="rId14"/>
          </a:graphicData>
        </a:graphic>
      </p:graphicFrame>
    </p:spTree>
    <p:extLst>
      <p:ext uri="{BB962C8B-B14F-4D97-AF65-F5344CB8AC3E}">
        <p14:creationId xmlns:p14="http://schemas.microsoft.com/office/powerpoint/2010/main" val="38281420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311700" y="354045"/>
            <a:ext cx="786075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dirty="0"/>
              <a:t>Top 5 Pizza Performance – Key Insights</a:t>
            </a:r>
            <a:endParaRPr dirty="0"/>
          </a:p>
        </p:txBody>
      </p:sp>
      <p:sp>
        <p:nvSpPr>
          <p:cNvPr id="2" name="Text Placeholder 1">
            <a:extLst>
              <a:ext uri="{FF2B5EF4-FFF2-40B4-BE49-F238E27FC236}">
                <a16:creationId xmlns:a16="http://schemas.microsoft.com/office/drawing/2014/main" id="{0DFACF0C-A3CA-1894-56D7-006397E348C5}"/>
              </a:ext>
            </a:extLst>
          </p:cNvPr>
          <p:cNvSpPr>
            <a:spLocks noGrp="1" noChangeArrowheads="1"/>
          </p:cNvSpPr>
          <p:nvPr>
            <p:ph type="body" idx="1"/>
          </p:nvPr>
        </p:nvSpPr>
        <p:spPr bwMode="auto">
          <a:xfrm>
            <a:off x="311150" y="817555"/>
            <a:ext cx="8734879" cy="38318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5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Thai Chicken Pizza was the best-performing pizza by revenue overall</a:t>
            </a:r>
            <a:r>
              <a:rPr kumimoji="0" lang="en-US" altLang="en-US" sz="15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t>
            </a:r>
          </a:p>
          <a:p>
            <a:pPr marL="457200" lvl="1" indent="0" eaLnBrk="0" fontAlgn="base" hangingPunct="0">
              <a:lnSpc>
                <a:spcPct val="100000"/>
              </a:lnSpc>
              <a:spcBef>
                <a:spcPct val="0"/>
              </a:spcBef>
              <a:spcAft>
                <a:spcPct val="0"/>
              </a:spcAft>
              <a:buClrTx/>
              <a:buSzTx/>
              <a:buNone/>
            </a:pP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Thai Chicken Pizza generated the highest overall revenue at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$43.4K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and an order volume of </a:t>
            </a:r>
            <a:r>
              <a:rPr lang="en-US" altLang="en-US" sz="1200" b="1" dirty="0">
                <a:solidFill>
                  <a:schemeClr val="tx1"/>
                </a:solidFill>
                <a:latin typeface="Poppins" panose="00000500000000000000" pitchFamily="2" charset="0"/>
                <a:cs typeface="Poppins" panose="00000500000000000000" pitchFamily="2" charset="0"/>
              </a:rPr>
              <a:t>2.2</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with </a:t>
            </a:r>
            <a:r>
              <a:rPr lang="en-US" altLang="en-US" sz="1200" b="1" dirty="0">
                <a:solidFill>
                  <a:schemeClr val="tx1"/>
                </a:solidFill>
                <a:latin typeface="Poppins" panose="00000500000000000000" pitchFamily="2" charset="0"/>
                <a:cs typeface="Poppins" panose="00000500000000000000" pitchFamily="2" charset="0"/>
              </a:rPr>
              <a:t>2.4</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pizzas sold and a Revenue per Pizza of </a:t>
            </a:r>
            <a:r>
              <a:rPr lang="en-US" altLang="en-US" sz="1200" b="1" dirty="0">
                <a:solidFill>
                  <a:schemeClr val="tx1"/>
                </a:solidFill>
                <a:latin typeface="Poppins" panose="00000500000000000000" pitchFamily="2" charset="0"/>
                <a:cs typeface="Poppins" panose="00000500000000000000" pitchFamily="2" charset="0"/>
              </a:rPr>
              <a:t>$18.32</a:t>
            </a:r>
          </a:p>
          <a:p>
            <a:pPr marL="457200" lvl="1" indent="0" eaLnBrk="0" fontAlgn="base" hangingPunct="0">
              <a:lnSpc>
                <a:spcPct val="100000"/>
              </a:lnSpc>
              <a:spcBef>
                <a:spcPct val="0"/>
              </a:spcBef>
              <a:spcAft>
                <a:spcPct val="0"/>
              </a:spcAft>
              <a:buClrTx/>
              <a:buSzTx/>
              <a:buNone/>
            </a:pPr>
            <a:endPar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5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Classic Deluxe Pizza generated the highest order volume and quantities sold</a:t>
            </a:r>
            <a:r>
              <a:rPr kumimoji="0" lang="en-US" altLang="en-US" sz="15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t>
            </a:r>
          </a:p>
          <a:p>
            <a:pPr marL="457200" lvl="1" indent="0" eaLnBrk="0" fontAlgn="base" hangingPunct="0">
              <a:lnSpc>
                <a:spcPct val="100000"/>
              </a:lnSpc>
              <a:spcBef>
                <a:spcPct val="0"/>
              </a:spcBef>
              <a:spcAft>
                <a:spcPct val="0"/>
              </a:spcAft>
              <a:buClrTx/>
              <a:buSzTx/>
              <a:buNone/>
            </a:pP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Classic Deluxe Pizza generated the highest order volume at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2.3K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and </a:t>
            </a:r>
            <a:r>
              <a:rPr lang="en-US" altLang="en-US" sz="1200" b="1" dirty="0">
                <a:solidFill>
                  <a:schemeClr val="tx1"/>
                </a:solidFill>
                <a:latin typeface="Poppins" panose="00000500000000000000" pitchFamily="2" charset="0"/>
                <a:cs typeface="Poppins" panose="00000500000000000000" pitchFamily="2" charset="0"/>
              </a:rPr>
              <a:t>2.5</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pizzas sold, with an overall revenue of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$38.2K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a:t>
            </a:r>
          </a:p>
          <a:p>
            <a:pPr marL="457200" lvl="1" indent="0" eaLnBrk="0" fontAlgn="base" hangingPunct="0">
              <a:lnSpc>
                <a:spcPct val="100000"/>
              </a:lnSpc>
              <a:spcBef>
                <a:spcPct val="0"/>
              </a:spcBef>
              <a:spcAft>
                <a:spcPct val="0"/>
              </a:spcAft>
              <a:buClrTx/>
              <a:buSzTx/>
              <a:buNone/>
            </a:pPr>
            <a:endPar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5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Barbecue Chicken Pizza was the second best-performing pizza overall</a:t>
            </a:r>
            <a:r>
              <a:rPr kumimoji="0" lang="en-US" altLang="en-US" sz="15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t>
            </a:r>
          </a:p>
          <a:p>
            <a:pPr marL="457200" lvl="1" indent="0" eaLnBrk="0" fontAlgn="base" hangingPunct="0">
              <a:lnSpc>
                <a:spcPct val="100000"/>
              </a:lnSpc>
              <a:spcBef>
                <a:spcPct val="0"/>
              </a:spcBef>
              <a:spcAft>
                <a:spcPct val="0"/>
              </a:spcAft>
              <a:buClrTx/>
              <a:buSzTx/>
              <a:buNone/>
            </a:pP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Barbecue Chicken Pizza generated a strong revenue of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$42.8K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and an order volume of </a:t>
            </a:r>
            <a:r>
              <a:rPr lang="en-US" altLang="en-US" sz="1200" b="1" dirty="0">
                <a:solidFill>
                  <a:schemeClr val="tx1"/>
                </a:solidFill>
                <a:latin typeface="Poppins" panose="00000500000000000000" pitchFamily="2" charset="0"/>
                <a:cs typeface="Poppins" panose="00000500000000000000" pitchFamily="2" charset="0"/>
              </a:rPr>
              <a:t>2.3</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with </a:t>
            </a:r>
            <a:r>
              <a:rPr lang="en-US" altLang="en-US" sz="1200" b="1" dirty="0">
                <a:solidFill>
                  <a:schemeClr val="tx1"/>
                </a:solidFill>
                <a:latin typeface="Poppins" panose="00000500000000000000" pitchFamily="2" charset="0"/>
                <a:cs typeface="Poppins" panose="00000500000000000000" pitchFamily="2" charset="0"/>
              </a:rPr>
              <a:t>2.4</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pizzas sold.</a:t>
            </a:r>
          </a:p>
          <a:p>
            <a:pPr marL="457200" lvl="1" indent="0" eaLnBrk="0" fontAlgn="base" hangingPunct="0">
              <a:lnSpc>
                <a:spcPct val="100000"/>
              </a:lnSpc>
              <a:spcBef>
                <a:spcPct val="0"/>
              </a:spcBef>
              <a:spcAft>
                <a:spcPct val="0"/>
              </a:spcAft>
              <a:buClrTx/>
              <a:buSzTx/>
              <a:buNone/>
            </a:pPr>
            <a:endPar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5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Brie Carré Pizza was the pizza with the highest Revenue per Pizza</a:t>
            </a:r>
            <a:r>
              <a:rPr kumimoji="0" lang="en-US" altLang="en-US" sz="15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t>
            </a:r>
          </a:p>
          <a:p>
            <a:pPr marL="457200" lvl="1" indent="0" eaLnBrk="0" fontAlgn="base" hangingPunct="0">
              <a:lnSpc>
                <a:spcPct val="100000"/>
              </a:lnSpc>
              <a:spcBef>
                <a:spcPct val="0"/>
              </a:spcBef>
              <a:spcAft>
                <a:spcPct val="0"/>
              </a:spcAft>
              <a:buClrTx/>
              <a:buSzTx/>
              <a:buNone/>
            </a:pP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Brie Carré Pizza generated the highest Revenue per Pizza at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$23.65</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despite having the lowest overall revenue at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$11.6K</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and an order volume of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480</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with </a:t>
            </a:r>
            <a:r>
              <a:rPr kumimoji="0" lang="en-US" altLang="en-US" sz="12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490</a:t>
            </a: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pizzas sold, likely due to its higher price point.</a:t>
            </a:r>
          </a:p>
          <a:p>
            <a:pPr marL="457200" lvl="1" indent="0" eaLnBrk="0" fontAlgn="base" hangingPunct="0">
              <a:lnSpc>
                <a:spcPct val="100000"/>
              </a:lnSpc>
              <a:spcBef>
                <a:spcPct val="0"/>
              </a:spcBef>
              <a:spcAft>
                <a:spcPct val="0"/>
              </a:spcAft>
              <a:buClrTx/>
              <a:buSzTx/>
              <a:buNone/>
            </a:pPr>
            <a:endPar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500" b="1" i="0" u="none" strike="noStrike" cap="none" normalizeH="0" baseline="0" dirty="0">
                <a:ln>
                  <a:noFill/>
                </a:ln>
                <a:solidFill>
                  <a:schemeClr val="tx1"/>
                </a:solidFill>
                <a:effectLst/>
                <a:latin typeface="Poppins" panose="00000500000000000000" pitchFamily="2" charset="0"/>
                <a:cs typeface="Poppins" panose="00000500000000000000" pitchFamily="2" charset="0"/>
              </a:rPr>
              <a:t>Chicken and meat pizzas were the best-performing categories overall</a:t>
            </a:r>
            <a:r>
              <a:rPr kumimoji="0" lang="en-US" altLang="en-US" sz="15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t>
            </a:r>
          </a:p>
          <a:p>
            <a:pPr marL="457200" lvl="1" indent="0" eaLnBrk="0" fontAlgn="base" hangingPunct="0">
              <a:lnSpc>
                <a:spcPct val="100000"/>
              </a:lnSpc>
              <a:spcBef>
                <a:spcPct val="0"/>
              </a:spcBef>
              <a:spcAft>
                <a:spcPct val="0"/>
              </a:spcAft>
              <a:buClrTx/>
              <a:buSzTx/>
              <a:buNone/>
            </a:pPr>
            <a:r>
              <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Chicken and meat pizzas accounted for most of the top-performing positions, with chicken-based pizzas leading overall revenue and sales performance across the menu.</a:t>
            </a:r>
            <a:endParaRPr kumimoji="0" lang="en-US" altLang="en-US" sz="28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295568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1829850" y="51378"/>
            <a:ext cx="5484300" cy="454808"/>
          </a:xfrm>
          <a:prstGeom prst="rect">
            <a:avLst/>
          </a:prstGeom>
          <a:noFill/>
          <a:ln>
            <a:noFill/>
          </a:ln>
        </p:spPr>
        <p:txBody>
          <a:bodyPr spcFirstLastPara="1" wrap="square" lIns="91425" tIns="91425" rIns="91425" bIns="91425" anchor="t" anchorCtr="0">
            <a:normAutofit fontScale="90000"/>
          </a:bodyPr>
          <a:lstStyle/>
          <a:p>
            <a:pPr marL="0" lvl="0" indent="0" algn="ctr" rtl="0">
              <a:lnSpc>
                <a:spcPct val="100000"/>
              </a:lnSpc>
              <a:spcBef>
                <a:spcPts val="0"/>
              </a:spcBef>
              <a:spcAft>
                <a:spcPts val="0"/>
              </a:spcAft>
              <a:buSzPct val="111111"/>
              <a:buNone/>
            </a:pPr>
            <a:r>
              <a:rPr lang="en-US" dirty="0"/>
              <a:t>Bottom 5 Pizza Performance</a:t>
            </a:r>
            <a:endParaRPr dirty="0"/>
          </a:p>
        </p:txBody>
      </p:sp>
      <p:graphicFrame>
        <p:nvGraphicFramePr>
          <p:cNvPr id="2" name="Chart 1">
            <a:extLst>
              <a:ext uri="{FF2B5EF4-FFF2-40B4-BE49-F238E27FC236}">
                <a16:creationId xmlns:a16="http://schemas.microsoft.com/office/drawing/2014/main" id="{95212325-E970-6507-0588-E5F346F20272}"/>
              </a:ext>
            </a:extLst>
          </p:cNvPr>
          <p:cNvGraphicFramePr>
            <a:graphicFrameLocks/>
          </p:cNvGraphicFramePr>
          <p:nvPr/>
        </p:nvGraphicFramePr>
        <p:xfrm>
          <a:off x="613781" y="612322"/>
          <a:ext cx="3706585" cy="189348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7E0694EB-EC6F-92F4-FA83-9C1B968EF863}"/>
              </a:ext>
            </a:extLst>
          </p:cNvPr>
          <p:cNvGraphicFramePr>
            <a:graphicFrameLocks/>
          </p:cNvGraphicFramePr>
          <p:nvPr/>
        </p:nvGraphicFramePr>
        <p:xfrm>
          <a:off x="4563837" y="2677142"/>
          <a:ext cx="3706585" cy="189348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58AB74F7-F910-5690-A413-BDA671F76B1F}"/>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6" name="Chart 5">
            <a:extLst>
              <a:ext uri="{FF2B5EF4-FFF2-40B4-BE49-F238E27FC236}">
                <a16:creationId xmlns:a16="http://schemas.microsoft.com/office/drawing/2014/main" id="{B88CD826-F0C3-6438-E6F5-194654320E29}"/>
              </a:ext>
            </a:extLst>
          </p:cNvPr>
          <p:cNvGraphicFramePr>
            <a:graphicFrameLocks/>
          </p:cNvGraphicFramePr>
          <p:nvPr/>
        </p:nvGraphicFramePr>
        <p:xfrm>
          <a:off x="4563838" y="612322"/>
          <a:ext cx="3706585" cy="189348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 name="Chart 2">
            <a:extLst>
              <a:ext uri="{FF2B5EF4-FFF2-40B4-BE49-F238E27FC236}">
                <a16:creationId xmlns:a16="http://schemas.microsoft.com/office/drawing/2014/main" id="{68320A76-6119-4190-A134-648A25A157E4}"/>
              </a:ext>
            </a:extLst>
          </p:cNvPr>
          <p:cNvGraphicFramePr>
            <a:graphicFrameLocks/>
          </p:cNvGraphicFramePr>
          <p:nvPr/>
        </p:nvGraphicFramePr>
        <p:xfrm>
          <a:off x="4572000" y="612322"/>
          <a:ext cx="3698422" cy="1893486"/>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Chart 6">
            <a:extLst>
              <a:ext uri="{FF2B5EF4-FFF2-40B4-BE49-F238E27FC236}">
                <a16:creationId xmlns:a16="http://schemas.microsoft.com/office/drawing/2014/main" id="{04AF3420-7505-1A5B-48F9-D8AF3C4DC13B}"/>
              </a:ext>
            </a:extLst>
          </p:cNvPr>
          <p:cNvGraphicFramePr>
            <a:graphicFrameLocks/>
          </p:cNvGraphicFramePr>
          <p:nvPr/>
        </p:nvGraphicFramePr>
        <p:xfrm>
          <a:off x="612322" y="2677142"/>
          <a:ext cx="3706585" cy="1893486"/>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8" name="Chart 7">
            <a:extLst>
              <a:ext uri="{FF2B5EF4-FFF2-40B4-BE49-F238E27FC236}">
                <a16:creationId xmlns:a16="http://schemas.microsoft.com/office/drawing/2014/main" id="{CFC4501F-C235-4611-83C5-2584B6474628}"/>
              </a:ext>
            </a:extLst>
          </p:cNvPr>
          <p:cNvGraphicFramePr>
            <a:graphicFrameLocks/>
          </p:cNvGraphicFramePr>
          <p:nvPr/>
        </p:nvGraphicFramePr>
        <p:xfrm>
          <a:off x="4563836" y="2677142"/>
          <a:ext cx="3698422" cy="1893486"/>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9" name="Chart 8">
            <a:extLst>
              <a:ext uri="{FF2B5EF4-FFF2-40B4-BE49-F238E27FC236}">
                <a16:creationId xmlns:a16="http://schemas.microsoft.com/office/drawing/2014/main" id="{F3B392BE-61C5-4179-9775-0ECFF84B8A26}"/>
              </a:ext>
            </a:extLst>
          </p:cNvPr>
          <p:cNvGraphicFramePr>
            <a:graphicFrameLocks/>
          </p:cNvGraphicFramePr>
          <p:nvPr/>
        </p:nvGraphicFramePr>
        <p:xfrm>
          <a:off x="4572000" y="2677142"/>
          <a:ext cx="3706585" cy="189348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0" name="Chart 9">
            <a:extLst>
              <a:ext uri="{FF2B5EF4-FFF2-40B4-BE49-F238E27FC236}">
                <a16:creationId xmlns:a16="http://schemas.microsoft.com/office/drawing/2014/main" id="{D4E017D8-A37E-416F-8624-114A4C5A7BB0}"/>
              </a:ext>
            </a:extLst>
          </p:cNvPr>
          <p:cNvGraphicFramePr>
            <a:graphicFrameLocks/>
          </p:cNvGraphicFramePr>
          <p:nvPr/>
        </p:nvGraphicFramePr>
        <p:xfrm>
          <a:off x="612322" y="612322"/>
          <a:ext cx="3706585" cy="1893486"/>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1" name="Chart 10">
            <a:extLst>
              <a:ext uri="{FF2B5EF4-FFF2-40B4-BE49-F238E27FC236}">
                <a16:creationId xmlns:a16="http://schemas.microsoft.com/office/drawing/2014/main" id="{A4D8997D-C036-48F5-8D1F-83AB9614F04B}"/>
              </a:ext>
            </a:extLst>
          </p:cNvPr>
          <p:cNvGraphicFramePr>
            <a:graphicFrameLocks/>
          </p:cNvGraphicFramePr>
          <p:nvPr/>
        </p:nvGraphicFramePr>
        <p:xfrm>
          <a:off x="4563836" y="612322"/>
          <a:ext cx="3714749" cy="1893486"/>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12" name="Chart 11">
            <a:extLst>
              <a:ext uri="{FF2B5EF4-FFF2-40B4-BE49-F238E27FC236}">
                <a16:creationId xmlns:a16="http://schemas.microsoft.com/office/drawing/2014/main" id="{5F36D373-13A0-BAED-D5B8-9F0958BA0576}"/>
              </a:ext>
            </a:extLst>
          </p:cNvPr>
          <p:cNvGraphicFramePr>
            <a:graphicFrameLocks/>
          </p:cNvGraphicFramePr>
          <p:nvPr/>
        </p:nvGraphicFramePr>
        <p:xfrm>
          <a:off x="612321" y="2677142"/>
          <a:ext cx="3714749" cy="1893486"/>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13" name="Chart 12">
            <a:extLst>
              <a:ext uri="{FF2B5EF4-FFF2-40B4-BE49-F238E27FC236}">
                <a16:creationId xmlns:a16="http://schemas.microsoft.com/office/drawing/2014/main" id="{01910955-EB0F-4CB9-9A55-A4C6F780C870}"/>
              </a:ext>
            </a:extLst>
          </p:cNvPr>
          <p:cNvGraphicFramePr>
            <a:graphicFrameLocks/>
          </p:cNvGraphicFramePr>
          <p:nvPr/>
        </p:nvGraphicFramePr>
        <p:xfrm>
          <a:off x="4555674" y="2677142"/>
          <a:ext cx="3722911" cy="1893486"/>
        </p:xfrm>
        <a:graphic>
          <a:graphicData uri="http://schemas.openxmlformats.org/drawingml/2006/chart">
            <c:chart xmlns:c="http://schemas.openxmlformats.org/drawingml/2006/chart" xmlns:r="http://schemas.openxmlformats.org/officeDocument/2006/relationships" r:id="rId14"/>
          </a:graphicData>
        </a:graphic>
      </p:graphicFrame>
      <p:graphicFrame>
        <p:nvGraphicFramePr>
          <p:cNvPr id="14" name="Chart 13">
            <a:extLst>
              <a:ext uri="{FF2B5EF4-FFF2-40B4-BE49-F238E27FC236}">
                <a16:creationId xmlns:a16="http://schemas.microsoft.com/office/drawing/2014/main" id="{0EDB69F3-289A-4D26-9F7E-F8CF1289095F}"/>
              </a:ext>
            </a:extLst>
          </p:cNvPr>
          <p:cNvGraphicFramePr>
            <a:graphicFrameLocks/>
          </p:cNvGraphicFramePr>
          <p:nvPr>
            <p:extLst>
              <p:ext uri="{D42A27DB-BD31-4B8C-83A1-F6EECF244321}">
                <p14:modId xmlns:p14="http://schemas.microsoft.com/office/powerpoint/2010/main" val="3214850913"/>
              </p:ext>
            </p:extLst>
          </p:nvPr>
        </p:nvGraphicFramePr>
        <p:xfrm>
          <a:off x="610863" y="612322"/>
          <a:ext cx="3722911" cy="1893486"/>
        </p:xfrm>
        <a:graphic>
          <a:graphicData uri="http://schemas.openxmlformats.org/drawingml/2006/chart">
            <c:chart xmlns:c="http://schemas.openxmlformats.org/drawingml/2006/chart" xmlns:r="http://schemas.openxmlformats.org/officeDocument/2006/relationships" r:id="rId15"/>
          </a:graphicData>
        </a:graphic>
      </p:graphicFrame>
      <p:graphicFrame>
        <p:nvGraphicFramePr>
          <p:cNvPr id="15" name="Chart 14">
            <a:extLst>
              <a:ext uri="{FF2B5EF4-FFF2-40B4-BE49-F238E27FC236}">
                <a16:creationId xmlns:a16="http://schemas.microsoft.com/office/drawing/2014/main" id="{36959240-58F5-4EF6-A8A2-4C1759FE03F4}"/>
              </a:ext>
            </a:extLst>
          </p:cNvPr>
          <p:cNvGraphicFramePr>
            <a:graphicFrameLocks/>
          </p:cNvGraphicFramePr>
          <p:nvPr>
            <p:extLst>
              <p:ext uri="{D42A27DB-BD31-4B8C-83A1-F6EECF244321}">
                <p14:modId xmlns:p14="http://schemas.microsoft.com/office/powerpoint/2010/main" val="1886514376"/>
              </p:ext>
            </p:extLst>
          </p:nvPr>
        </p:nvGraphicFramePr>
        <p:xfrm>
          <a:off x="4572000" y="612322"/>
          <a:ext cx="3722911" cy="1893486"/>
        </p:xfrm>
        <a:graphic>
          <a:graphicData uri="http://schemas.openxmlformats.org/drawingml/2006/chart">
            <c:chart xmlns:c="http://schemas.openxmlformats.org/drawingml/2006/chart" xmlns:r="http://schemas.openxmlformats.org/officeDocument/2006/relationships" r:id="rId16"/>
          </a:graphicData>
        </a:graphic>
      </p:graphicFrame>
      <p:graphicFrame>
        <p:nvGraphicFramePr>
          <p:cNvPr id="16" name="Chart 15">
            <a:extLst>
              <a:ext uri="{FF2B5EF4-FFF2-40B4-BE49-F238E27FC236}">
                <a16:creationId xmlns:a16="http://schemas.microsoft.com/office/drawing/2014/main" id="{6E38438D-1BF9-A2BB-5B39-362BD40225C9}"/>
              </a:ext>
            </a:extLst>
          </p:cNvPr>
          <p:cNvGraphicFramePr>
            <a:graphicFrameLocks/>
          </p:cNvGraphicFramePr>
          <p:nvPr>
            <p:extLst>
              <p:ext uri="{D42A27DB-BD31-4B8C-83A1-F6EECF244321}">
                <p14:modId xmlns:p14="http://schemas.microsoft.com/office/powerpoint/2010/main" val="2090393224"/>
              </p:ext>
            </p:extLst>
          </p:nvPr>
        </p:nvGraphicFramePr>
        <p:xfrm>
          <a:off x="610863" y="2677142"/>
          <a:ext cx="3722911" cy="1893486"/>
        </p:xfrm>
        <a:graphic>
          <a:graphicData uri="http://schemas.openxmlformats.org/drawingml/2006/chart">
            <c:chart xmlns:c="http://schemas.openxmlformats.org/drawingml/2006/chart" xmlns:r="http://schemas.openxmlformats.org/officeDocument/2006/relationships" r:id="rId17"/>
          </a:graphicData>
        </a:graphic>
      </p:graphicFrame>
      <p:graphicFrame>
        <p:nvGraphicFramePr>
          <p:cNvPr id="17" name="Chart 16">
            <a:extLst>
              <a:ext uri="{FF2B5EF4-FFF2-40B4-BE49-F238E27FC236}">
                <a16:creationId xmlns:a16="http://schemas.microsoft.com/office/drawing/2014/main" id="{564FAB51-0207-4A94-9F28-865BC7594B45}"/>
              </a:ext>
            </a:extLst>
          </p:cNvPr>
          <p:cNvGraphicFramePr>
            <a:graphicFrameLocks/>
          </p:cNvGraphicFramePr>
          <p:nvPr>
            <p:extLst>
              <p:ext uri="{D42A27DB-BD31-4B8C-83A1-F6EECF244321}">
                <p14:modId xmlns:p14="http://schemas.microsoft.com/office/powerpoint/2010/main" val="3823680027"/>
              </p:ext>
            </p:extLst>
          </p:nvPr>
        </p:nvGraphicFramePr>
        <p:xfrm>
          <a:off x="4555674" y="2677142"/>
          <a:ext cx="3739237" cy="1893486"/>
        </p:xfrm>
        <a:graphic>
          <a:graphicData uri="http://schemas.openxmlformats.org/drawingml/2006/chart">
            <c:chart xmlns:c="http://schemas.openxmlformats.org/drawingml/2006/chart" xmlns:r="http://schemas.openxmlformats.org/officeDocument/2006/relationships" r:id="rId18"/>
          </a:graphicData>
        </a:graphic>
      </p:graphicFrame>
    </p:spTree>
    <p:extLst>
      <p:ext uri="{BB962C8B-B14F-4D97-AF65-F5344CB8AC3E}">
        <p14:creationId xmlns:p14="http://schemas.microsoft.com/office/powerpoint/2010/main" val="2550811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311700" y="452018"/>
            <a:ext cx="786075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US" dirty="0"/>
              <a:t>Bottom 5 Pizza Performance – Key Insights</a:t>
            </a:r>
            <a:endParaRPr dirty="0"/>
          </a:p>
        </p:txBody>
      </p:sp>
      <p:sp>
        <p:nvSpPr>
          <p:cNvPr id="57" name="Google Shape;57;p3"/>
          <p:cNvSpPr txBox="1">
            <a:spLocks noGrp="1"/>
          </p:cNvSpPr>
          <p:nvPr>
            <p:ph type="body" idx="1"/>
          </p:nvPr>
        </p:nvSpPr>
        <p:spPr>
          <a:xfrm>
            <a:off x="311700" y="963491"/>
            <a:ext cx="8032200" cy="3503814"/>
          </a:xfrm>
          <a:prstGeom prst="rect">
            <a:avLst/>
          </a:prstGeom>
          <a:noFill/>
          <a:ln>
            <a:noFill/>
          </a:ln>
        </p:spPr>
        <p:txBody>
          <a:bodyPr spcFirstLastPara="1" wrap="square" lIns="91425" tIns="91425" rIns="91425" bIns="91425" anchor="t" anchorCtr="0">
            <a:normAutofit fontScale="92500" lnSpcReduction="20000"/>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1400" b="1" dirty="0"/>
              <a:t>Vegetable-based pizzas dominated the bottom 5 performance group</a:t>
            </a:r>
            <a:endParaRPr kumimoji="0" lang="en-US" altLang="en-US" sz="1400" b="1"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457200" lvl="1" indent="0" eaLnBrk="0" fontAlgn="base" hangingPunct="0">
              <a:lnSpc>
                <a:spcPct val="100000"/>
              </a:lnSpc>
              <a:spcBef>
                <a:spcPct val="0"/>
              </a:spcBef>
              <a:spcAft>
                <a:spcPct val="0"/>
              </a:spcAft>
              <a:buClrTx/>
              <a:buSzTx/>
              <a:buNone/>
            </a:pPr>
            <a:r>
              <a:rPr lang="en-US" sz="1200" dirty="0"/>
              <a:t>Vegetable-based pizzas dominated the bottom 5 performance group, indicating lower overall consumer demand compared to meat-based options.</a:t>
            </a:r>
          </a:p>
          <a:p>
            <a:pPr marL="628650" lvl="1" indent="-171450" eaLnBrk="0" fontAlgn="base" hangingPunct="0">
              <a:lnSpc>
                <a:spcPct val="100000"/>
              </a:lnSpc>
              <a:spcBef>
                <a:spcPct val="0"/>
              </a:spcBef>
              <a:spcAft>
                <a:spcPct val="0"/>
              </a:spcAft>
              <a:buClrTx/>
              <a:buSzTx/>
              <a:buFont typeface="Wingdings" panose="05000000000000000000" pitchFamily="2" charset="2"/>
              <a:buChar char="§"/>
            </a:pPr>
            <a:endParaRPr kumimoji="0" lang="en-US" altLang="en-US" sz="11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1400" b="1" dirty="0"/>
              <a:t>Brie Carré Pizza was the lowest-performing pizza overall</a:t>
            </a:r>
            <a:endParaRPr kumimoji="0" lang="en-US" altLang="en-US" sz="1400" b="1"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457200" lvl="1" indent="0" eaLnBrk="0" fontAlgn="base" hangingPunct="0">
              <a:lnSpc>
                <a:spcPct val="100000"/>
              </a:lnSpc>
              <a:spcBef>
                <a:spcPct val="0"/>
              </a:spcBef>
              <a:spcAft>
                <a:spcPct val="0"/>
              </a:spcAft>
              <a:buClrTx/>
              <a:buSzTx/>
              <a:buNone/>
            </a:pPr>
            <a:r>
              <a:rPr lang="en-US" sz="1200" dirty="0"/>
              <a:t>Brie Carré Pizza generated the lowest overall revenue at </a:t>
            </a:r>
            <a:r>
              <a:rPr lang="en-US" sz="1200" b="1" dirty="0"/>
              <a:t>$11.6K</a:t>
            </a:r>
            <a:r>
              <a:rPr lang="en-US" sz="1200" dirty="0"/>
              <a:t> and an order volume of </a:t>
            </a:r>
            <a:r>
              <a:rPr lang="en-US" sz="1200" b="1" dirty="0"/>
              <a:t>480</a:t>
            </a:r>
            <a:r>
              <a:rPr lang="en-US" sz="1200" dirty="0"/>
              <a:t>, with </a:t>
            </a:r>
            <a:r>
              <a:rPr lang="en-US" sz="1200" b="1" dirty="0"/>
              <a:t>490</a:t>
            </a:r>
            <a:r>
              <a:rPr lang="en-US" sz="1200" dirty="0"/>
              <a:t> pizzas sold. However, it generated the highest Revenue per Pizza overall at </a:t>
            </a:r>
            <a:r>
              <a:rPr lang="en-US" sz="1200" b="1" dirty="0"/>
              <a:t>$23.65</a:t>
            </a:r>
            <a:r>
              <a:rPr lang="en-US" sz="1200" dirty="0"/>
              <a:t>, placing it in the first of Top 5 rank for Revenue per Pizza due to its higher price point.</a:t>
            </a:r>
          </a:p>
          <a:p>
            <a:pPr marL="628650" lvl="1" indent="-171450" eaLnBrk="0" fontAlgn="base" hangingPunct="0">
              <a:lnSpc>
                <a:spcPct val="100000"/>
              </a:lnSpc>
              <a:spcBef>
                <a:spcPct val="0"/>
              </a:spcBef>
              <a:spcAft>
                <a:spcPct val="0"/>
              </a:spcAft>
              <a:buClrTx/>
              <a:buSzTx/>
              <a:buFont typeface="Wingdings" panose="05000000000000000000" pitchFamily="2" charset="2"/>
              <a:buChar char="§"/>
            </a:pPr>
            <a:endPar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1400" b="1" dirty="0"/>
              <a:t>Spinach Supreme Pizza and Mediterranean Pizza were consistently among the bottom-performing pizzas overall</a:t>
            </a:r>
            <a:endParaRPr kumimoji="0" lang="en-US" altLang="en-US" sz="1400" b="1"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457200" lvl="1" indent="0" eaLnBrk="0" fontAlgn="base" hangingPunct="0">
              <a:lnSpc>
                <a:spcPct val="100000"/>
              </a:lnSpc>
              <a:spcBef>
                <a:spcPct val="0"/>
              </a:spcBef>
              <a:spcAft>
                <a:spcPct val="0"/>
              </a:spcAft>
              <a:buClrTx/>
              <a:buSzTx/>
              <a:buNone/>
            </a:pPr>
            <a:r>
              <a:rPr lang="en-US" sz="1200" dirty="0"/>
              <a:t>Both Spinach Supreme Pizza and Mediterranean Pizza consistently ranked near the bottom in total revenue, order volume, and unit sales, reflecting lower overall customer preference within the menu.</a:t>
            </a:r>
          </a:p>
          <a:p>
            <a:pPr marL="742950" lvl="1" indent="-285750" eaLnBrk="0" fontAlgn="base" hangingPunct="0">
              <a:lnSpc>
                <a:spcPct val="100000"/>
              </a:lnSpc>
              <a:spcBef>
                <a:spcPct val="0"/>
              </a:spcBef>
              <a:spcAft>
                <a:spcPct val="0"/>
              </a:spcAft>
              <a:buClrTx/>
              <a:buSzTx/>
              <a:buFont typeface="Wingdings" panose="05000000000000000000" pitchFamily="2" charset="2"/>
              <a:buChar char="§"/>
            </a:pPr>
            <a:endParaRPr kumimoji="0" lang="en-US" altLang="en-US"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14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a:t>
            </a:r>
            <a:r>
              <a:rPr lang="en-US" sz="1400" b="1" dirty="0"/>
              <a:t> Green Garden Pizza was the second-lowest revenue generator</a:t>
            </a:r>
            <a:r>
              <a:rPr kumimoji="0" lang="en-US" altLang="en-US" sz="1400" b="0" i="0" u="none" strike="noStrike" cap="none" normalizeH="0" baseline="0" dirty="0">
                <a:ln>
                  <a:noFill/>
                </a:ln>
                <a:solidFill>
                  <a:schemeClr val="tx1"/>
                </a:solidFill>
                <a:effectLst/>
                <a:latin typeface="Poppins" panose="00000500000000000000" pitchFamily="2" charset="0"/>
                <a:cs typeface="Poppins" panose="00000500000000000000" pitchFamily="2" charset="0"/>
              </a:rPr>
              <a:t> </a:t>
            </a:r>
          </a:p>
          <a:p>
            <a:pPr marL="457200" lvl="1" indent="0" eaLnBrk="0" fontAlgn="base" hangingPunct="0">
              <a:lnSpc>
                <a:spcPct val="100000"/>
              </a:lnSpc>
              <a:spcBef>
                <a:spcPct val="0"/>
              </a:spcBef>
              <a:spcAft>
                <a:spcPct val="0"/>
              </a:spcAft>
              <a:buClrTx/>
              <a:buSzTx/>
              <a:buNone/>
            </a:pPr>
            <a:r>
              <a:rPr lang="en-US" sz="1200" dirty="0"/>
              <a:t>Green Garden Pizza generated a revenue of </a:t>
            </a:r>
            <a:r>
              <a:rPr lang="en-US" sz="1200" b="1" dirty="0"/>
              <a:t>$14K</a:t>
            </a:r>
            <a:r>
              <a:rPr lang="en-US" sz="1200" dirty="0"/>
              <a:t> while ranking 5th lowest in Revenue per Pizza at </a:t>
            </a:r>
            <a:r>
              <a:rPr lang="en-US" sz="1200" b="1" dirty="0"/>
              <a:t>$14</a:t>
            </a:r>
            <a:r>
              <a:rPr lang="en-US" sz="1200" dirty="0"/>
              <a:t>.</a:t>
            </a:r>
            <a:endParaRPr kumimoji="0" lang="en-US" altLang="en-US" sz="12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628650" lvl="1" indent="-171450" eaLnBrk="0" fontAlgn="base" hangingPunct="0">
              <a:lnSpc>
                <a:spcPct val="100000"/>
              </a:lnSpc>
              <a:spcBef>
                <a:spcPct val="0"/>
              </a:spcBef>
              <a:spcAft>
                <a:spcPct val="0"/>
              </a:spcAft>
              <a:buClrTx/>
              <a:buSzTx/>
              <a:buFont typeface="Wingdings" panose="05000000000000000000" pitchFamily="2" charset="2"/>
              <a:buChar char="§"/>
            </a:pPr>
            <a:endParaRPr kumimoji="0" lang="en-US" altLang="en-US" sz="11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en-US" sz="1400" b="1" dirty="0"/>
              <a:t>Pepperoni Pizza and Hawaiian Pizza maintained low Revenue per Pizza despite high order volumes</a:t>
            </a:r>
          </a:p>
          <a:p>
            <a:pPr marL="457200" lvl="1" indent="0" eaLnBrk="0" fontAlgn="base" hangingPunct="0">
              <a:lnSpc>
                <a:spcPct val="100000"/>
              </a:lnSpc>
              <a:spcBef>
                <a:spcPct val="0"/>
              </a:spcBef>
              <a:spcAft>
                <a:spcPct val="0"/>
              </a:spcAft>
              <a:buClrTx/>
              <a:buSzTx/>
              <a:buNone/>
            </a:pPr>
            <a:r>
              <a:rPr lang="en-US" sz="1200" dirty="0"/>
              <a:t>Pepperoni Pizza </a:t>
            </a:r>
            <a:r>
              <a:rPr lang="en-US" sz="1200" b="1" dirty="0"/>
              <a:t>($12.47 per Pizza) </a:t>
            </a:r>
            <a:r>
              <a:rPr lang="en-US" sz="1200" dirty="0"/>
              <a:t>and Hawaiian Pizza </a:t>
            </a:r>
            <a:r>
              <a:rPr lang="en-US" sz="1200" b="1" dirty="0"/>
              <a:t>($13.33 per Pizza) </a:t>
            </a:r>
            <a:r>
              <a:rPr lang="en-US" sz="1200" dirty="0"/>
              <a:t>maintained low Revenue per Pizza despite high order volumes</a:t>
            </a:r>
            <a:endParaRPr kumimoji="0" lang="en-US" altLang="en-US" sz="1600" b="0" i="0" u="none" strike="noStrike" cap="none" normalizeH="0" baseline="0" dirty="0">
              <a:ln>
                <a:noFill/>
              </a:ln>
              <a:solidFill>
                <a:schemeClr val="tx1"/>
              </a:solidFill>
              <a:effectLst/>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25407261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3"/>
          <p:cNvSpPr txBox="1">
            <a:spLocks noGrp="1"/>
          </p:cNvSpPr>
          <p:nvPr>
            <p:ph type="title"/>
          </p:nvPr>
        </p:nvSpPr>
        <p:spPr>
          <a:xfrm>
            <a:off x="311700" y="0"/>
            <a:ext cx="7860750" cy="572700"/>
          </a:xfrm>
          <a:prstGeom prst="rect">
            <a:avLst/>
          </a:prstGeom>
          <a:noFill/>
          <a:ln>
            <a:noFill/>
          </a:ln>
        </p:spPr>
        <p:txBody>
          <a:bodyPr spcFirstLastPara="1" wrap="square" lIns="91425" tIns="91425" rIns="91425" bIns="91425" anchor="t" anchorCtr="0">
            <a:normAutofit fontScale="90000"/>
          </a:bodyPr>
          <a:lstStyle/>
          <a:p>
            <a:pPr marL="0" lvl="0" indent="0" algn="ctr" rtl="0">
              <a:lnSpc>
                <a:spcPct val="100000"/>
              </a:lnSpc>
              <a:spcBef>
                <a:spcPts val="0"/>
              </a:spcBef>
              <a:spcAft>
                <a:spcPts val="0"/>
              </a:spcAft>
              <a:buSzPct val="111111"/>
              <a:buNone/>
            </a:pPr>
            <a:r>
              <a:rPr lang="en-US" dirty="0"/>
              <a:t>Business Recommendations</a:t>
            </a:r>
            <a:endParaRPr dirty="0"/>
          </a:p>
        </p:txBody>
      </p:sp>
      <p:sp>
        <p:nvSpPr>
          <p:cNvPr id="57" name="Google Shape;57;p3"/>
          <p:cNvSpPr txBox="1">
            <a:spLocks noGrp="1"/>
          </p:cNvSpPr>
          <p:nvPr>
            <p:ph type="body" idx="1"/>
          </p:nvPr>
        </p:nvSpPr>
        <p:spPr>
          <a:xfrm>
            <a:off x="123925" y="572700"/>
            <a:ext cx="8293454" cy="4007464"/>
          </a:xfrm>
          <a:prstGeom prst="rect">
            <a:avLst/>
          </a:prstGeom>
          <a:noFill/>
          <a:ln>
            <a:noFill/>
          </a:ln>
        </p:spPr>
        <p:txBody>
          <a:bodyPr spcFirstLastPara="1" wrap="square" lIns="91425" tIns="91425" rIns="91425" bIns="91425" anchor="t" anchorCtr="0">
            <a:normAutofit fontScale="47500" lnSpcReduction="20000"/>
          </a:bodyPr>
          <a:lstStyle/>
          <a:p>
            <a:pPr marL="342900" lvl="0" algn="l" rtl="0">
              <a:lnSpc>
                <a:spcPct val="115000"/>
              </a:lnSpc>
              <a:spcBef>
                <a:spcPts val="0"/>
              </a:spcBef>
              <a:spcAft>
                <a:spcPts val="1200"/>
              </a:spcAft>
              <a:buSzPts val="1800"/>
              <a:buAutoNum type="arabicPeriod"/>
            </a:pPr>
            <a:r>
              <a:rPr lang="en-US" sz="2300" b="1" dirty="0"/>
              <a:t>Prioritize high-demand products and peak periods</a:t>
            </a:r>
          </a:p>
          <a:p>
            <a:pPr marL="482600" lvl="1" indent="0">
              <a:spcAft>
                <a:spcPts val="1200"/>
              </a:spcAft>
              <a:buSzPts val="1800"/>
              <a:buNone/>
            </a:pPr>
            <a:r>
              <a:rPr lang="en-US" sz="1800" dirty="0"/>
              <a:t>Focus inventory, staffing, promotions, and menu placement on </a:t>
            </a:r>
            <a:r>
              <a:rPr lang="en-US" sz="1800" b="1" dirty="0"/>
              <a:t>Chicken/Meat pizzas, Friday, 12 PM, and 6 PM</a:t>
            </a:r>
            <a:r>
              <a:rPr lang="en-US" sz="1800" dirty="0"/>
              <a:t>, where demand is strongest.</a:t>
            </a:r>
          </a:p>
          <a:p>
            <a:pPr marL="342900" lvl="0" algn="l" rtl="0">
              <a:lnSpc>
                <a:spcPct val="115000"/>
              </a:lnSpc>
              <a:spcBef>
                <a:spcPts val="0"/>
              </a:spcBef>
              <a:spcAft>
                <a:spcPts val="1200"/>
              </a:spcAft>
              <a:buSzPts val="1800"/>
              <a:buAutoNum type="arabicPeriod"/>
            </a:pPr>
            <a:r>
              <a:rPr lang="en-US" sz="2300" b="1" dirty="0"/>
              <a:t>Increase order volume during weaker periods</a:t>
            </a:r>
          </a:p>
          <a:p>
            <a:pPr marL="482600" lvl="1" indent="0">
              <a:spcAft>
                <a:spcPts val="1200"/>
              </a:spcAft>
              <a:buSzPts val="1800"/>
              <a:buNone/>
            </a:pPr>
            <a:r>
              <a:rPr lang="en-US" sz="1800" dirty="0"/>
              <a:t>Target </a:t>
            </a:r>
            <a:r>
              <a:rPr lang="en-US" sz="1800" b="1" dirty="0"/>
              <a:t>October, Sundays, and off-peak hours</a:t>
            </a:r>
            <a:r>
              <a:rPr lang="en-US" sz="1800" dirty="0"/>
              <a:t> with specific promotions, bundles, and traffic-driving campaigns rather than relying mainly on price increases or upselling.</a:t>
            </a:r>
            <a:endParaRPr lang="en-US" sz="1800" b="1" dirty="0"/>
          </a:p>
          <a:p>
            <a:pPr marL="342900" lvl="0" algn="l" rtl="0">
              <a:lnSpc>
                <a:spcPct val="115000"/>
              </a:lnSpc>
              <a:spcBef>
                <a:spcPts val="0"/>
              </a:spcBef>
              <a:spcAft>
                <a:spcPts val="1200"/>
              </a:spcAft>
              <a:buSzPts val="1800"/>
              <a:buAutoNum type="arabicPeriod"/>
            </a:pPr>
            <a:r>
              <a:rPr lang="en-US" sz="2300" b="1" dirty="0"/>
              <a:t>Maximize </a:t>
            </a:r>
            <a:r>
              <a:rPr lang="en-ID" sz="2300" b="1" dirty="0"/>
              <a:t>high-value sales opportunities</a:t>
            </a:r>
          </a:p>
          <a:p>
            <a:pPr marL="482600" lvl="1" indent="0">
              <a:spcAft>
                <a:spcPts val="1200"/>
              </a:spcAft>
              <a:buSzPts val="1800"/>
              <a:buNone/>
            </a:pPr>
            <a:r>
              <a:rPr lang="en-US" sz="1800" dirty="0"/>
              <a:t>Leverage </a:t>
            </a:r>
            <a:r>
              <a:rPr lang="en-US" sz="1800" b="1" dirty="0"/>
              <a:t>Q4 holiday promotions, premium bundles, and Brie </a:t>
            </a:r>
            <a:r>
              <a:rPr lang="en-US" sz="1800" b="1" dirty="0" err="1"/>
              <a:t>Carré’s</a:t>
            </a:r>
            <a:r>
              <a:rPr lang="en-US" sz="1800" b="1" dirty="0"/>
              <a:t> premium positioning</a:t>
            </a:r>
            <a:r>
              <a:rPr lang="en-US" sz="1800" dirty="0"/>
              <a:t>, while testing modest price increases or premium variants for high-volume products like Pepperoni and Hawaiian.</a:t>
            </a:r>
            <a:endParaRPr lang="en-US" sz="1800" b="1" dirty="0"/>
          </a:p>
          <a:p>
            <a:pPr marL="342900" lvl="0" algn="l" rtl="0">
              <a:lnSpc>
                <a:spcPct val="115000"/>
              </a:lnSpc>
              <a:spcBef>
                <a:spcPts val="0"/>
              </a:spcBef>
              <a:spcAft>
                <a:spcPts val="1200"/>
              </a:spcAft>
              <a:buSzPts val="1800"/>
              <a:buAutoNum type="arabicPeriod"/>
            </a:pPr>
            <a:r>
              <a:rPr lang="en-ID" sz="2300" b="1" dirty="0"/>
              <a:t>Replicate proven performance </a:t>
            </a:r>
          </a:p>
          <a:p>
            <a:pPr marL="482600" lvl="1" indent="0">
              <a:spcAft>
                <a:spcPts val="1200"/>
              </a:spcAft>
              <a:buSzPts val="1800"/>
              <a:buNone/>
            </a:pPr>
            <a:r>
              <a:rPr lang="en-US" sz="1800" dirty="0"/>
              <a:t>Use </a:t>
            </a:r>
            <a:r>
              <a:rPr lang="en-US" sz="1800" b="1" dirty="0"/>
              <a:t>July’s sales patterns and June’s product/pricing mix</a:t>
            </a:r>
            <a:r>
              <a:rPr lang="en-US" sz="1800" dirty="0"/>
              <a:t> as benchmarks, applying successful products, pricing, promotions, and timing to improve weaker months</a:t>
            </a:r>
            <a:endParaRPr lang="en-ID" sz="1800" b="1" dirty="0"/>
          </a:p>
          <a:p>
            <a:pPr marL="342900" lvl="0" algn="l" rtl="0">
              <a:lnSpc>
                <a:spcPct val="115000"/>
              </a:lnSpc>
              <a:spcBef>
                <a:spcPts val="0"/>
              </a:spcBef>
              <a:spcAft>
                <a:spcPts val="1200"/>
              </a:spcAft>
              <a:buSzPts val="1800"/>
              <a:buAutoNum type="arabicPeriod"/>
            </a:pPr>
            <a:r>
              <a:rPr lang="en-ID" sz="2300" b="1" dirty="0"/>
              <a:t>Optimize the menu portfolio using multiple performance metrics</a:t>
            </a:r>
          </a:p>
          <a:p>
            <a:pPr marL="482600" lvl="1" indent="0">
              <a:spcAft>
                <a:spcPts val="1200"/>
              </a:spcAft>
              <a:buSzPts val="1800"/>
              <a:buNone/>
            </a:pPr>
            <a:r>
              <a:rPr lang="en-US" sz="1800" dirty="0"/>
              <a:t>Maintain and expand high-volume/high-revenue products such as </a:t>
            </a:r>
            <a:r>
              <a:rPr lang="en-US" sz="1800" b="1" dirty="0"/>
              <a:t>Thai Chicken, Barbecue Chicken, and Classic Deluxe</a:t>
            </a:r>
            <a:r>
              <a:rPr lang="en-US" sz="1800" dirty="0"/>
              <a:t>, while</a:t>
            </a:r>
            <a:r>
              <a:rPr lang="en-US" sz="1800" b="1" dirty="0"/>
              <a:t> </a:t>
            </a:r>
            <a:r>
              <a:rPr lang="en-US" sz="1800" dirty="0"/>
              <a:t>reviewing vegetable-based and consistently weak pizzas, reducing inventory or promotional investment where appropriate, while testing </a:t>
            </a:r>
            <a:r>
              <a:rPr lang="en-US" sz="1800" b="1" dirty="0"/>
              <a:t>repositioning, bundling, or selective removal</a:t>
            </a:r>
            <a:r>
              <a:rPr lang="en-US" sz="1800" dirty="0"/>
              <a:t> before making final menu decisions.</a:t>
            </a:r>
            <a:endParaRPr lang="en-US" sz="1800" b="1" dirty="0"/>
          </a:p>
        </p:txBody>
      </p:sp>
    </p:spTree>
    <p:extLst>
      <p:ext uri="{BB962C8B-B14F-4D97-AF65-F5344CB8AC3E}">
        <p14:creationId xmlns:p14="http://schemas.microsoft.com/office/powerpoint/2010/main" val="1093871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g3eeb0876f63_0_97"/>
          <p:cNvSpPr txBox="1">
            <a:spLocks noGrp="1"/>
          </p:cNvSpPr>
          <p:nvPr>
            <p:ph type="title"/>
          </p:nvPr>
        </p:nvSpPr>
        <p:spPr>
          <a:xfrm>
            <a:off x="1080000" y="-180029"/>
            <a:ext cx="6984000" cy="841800"/>
          </a:xfrm>
          <a:prstGeom prst="rect">
            <a:avLst/>
          </a:prstGeom>
          <a:no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3200"/>
              <a:buNone/>
            </a:pPr>
            <a:r>
              <a:rPr lang="en" sz="2500" dirty="0"/>
              <a:t>Interactive Dashboard</a:t>
            </a:r>
            <a:endParaRPr sz="2500" dirty="0"/>
          </a:p>
        </p:txBody>
      </p:sp>
      <p:sp>
        <p:nvSpPr>
          <p:cNvPr id="134" name="Google Shape;134;g3eeb0876f63_0_97"/>
          <p:cNvSpPr txBox="1">
            <a:spLocks noGrp="1"/>
          </p:cNvSpPr>
          <p:nvPr>
            <p:ph type="body" idx="4294967295"/>
          </p:nvPr>
        </p:nvSpPr>
        <p:spPr>
          <a:xfrm>
            <a:off x="873579" y="3865934"/>
            <a:ext cx="7644732" cy="555600"/>
          </a:xfrm>
          <a:prstGeom prst="rect">
            <a:avLst/>
          </a:prstGeom>
          <a:noFill/>
          <a:ln>
            <a:noFill/>
          </a:ln>
        </p:spPr>
        <p:txBody>
          <a:bodyPr spcFirstLastPara="1" wrap="square" lIns="77875" tIns="77875" rIns="77875" bIns="77875" anchor="t" anchorCtr="0">
            <a:noAutofit/>
          </a:bodyPr>
          <a:lstStyle/>
          <a:p>
            <a:pPr marL="0" lvl="0" indent="0" algn="just" rtl="0">
              <a:lnSpc>
                <a:spcPct val="115000"/>
              </a:lnSpc>
              <a:spcBef>
                <a:spcPts val="0"/>
              </a:spcBef>
              <a:spcAft>
                <a:spcPts val="1022"/>
              </a:spcAft>
              <a:buSzPts val="1533"/>
              <a:buNone/>
            </a:pPr>
            <a:r>
              <a:rPr lang="en" sz="1100" dirty="0">
                <a:solidFill>
                  <a:schemeClr val="lt1"/>
                </a:solidFill>
              </a:rPr>
              <a:t>Interactive dashboard allows stakeholder to find out the sales performance by revenue, orders volume, pizza sold quantities, and AOV. The dashboard also allows to filter segments by category and size bracket using dynamic slicers.  </a:t>
            </a:r>
            <a:endParaRPr sz="1100" dirty="0">
              <a:solidFill>
                <a:schemeClr val="lt1"/>
              </a:solidFill>
            </a:endParaRPr>
          </a:p>
        </p:txBody>
      </p:sp>
      <p:pic>
        <p:nvPicPr>
          <p:cNvPr id="3" name="Picture 2">
            <a:extLst>
              <a:ext uri="{FF2B5EF4-FFF2-40B4-BE49-F238E27FC236}">
                <a16:creationId xmlns:a16="http://schemas.microsoft.com/office/drawing/2014/main" id="{5DEB23C1-C79C-89DE-059B-DF9700535B47}"/>
              </a:ext>
            </a:extLst>
          </p:cNvPr>
          <p:cNvPicPr>
            <a:picLocks noChangeAspect="1"/>
          </p:cNvPicPr>
          <p:nvPr/>
        </p:nvPicPr>
        <p:blipFill>
          <a:blip r:embed="rId3"/>
          <a:stretch>
            <a:fillRect/>
          </a:stretch>
        </p:blipFill>
        <p:spPr>
          <a:xfrm>
            <a:off x="478736" y="449351"/>
            <a:ext cx="8039575" cy="344924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2" name="TextBox 1">
            <a:extLst>
              <a:ext uri="{FF2B5EF4-FFF2-40B4-BE49-F238E27FC236}">
                <a16:creationId xmlns:a16="http://schemas.microsoft.com/office/drawing/2014/main" id="{9C55A28A-0B5D-62F1-CC24-4026568831E1}"/>
              </a:ext>
            </a:extLst>
          </p:cNvPr>
          <p:cNvSpPr txBox="1"/>
          <p:nvPr/>
        </p:nvSpPr>
        <p:spPr>
          <a:xfrm>
            <a:off x="865414" y="1159329"/>
            <a:ext cx="4612822" cy="1994392"/>
          </a:xfrm>
          <a:prstGeom prst="rect">
            <a:avLst/>
          </a:prstGeom>
          <a:noFill/>
        </p:spPr>
        <p:txBody>
          <a:bodyPr wrap="square" rtlCol="0">
            <a:spAutoFit/>
          </a:bodyPr>
          <a:lstStyle/>
          <a:p>
            <a:pPr algn="ctr"/>
            <a:r>
              <a:rPr lang="en-US" sz="4120" b="1" dirty="0">
                <a:solidFill>
                  <a:srgbClr val="52AA5E"/>
                </a:solidFill>
                <a:latin typeface="Algerian" panose="04020705040A02060702" pitchFamily="82" charset="0"/>
                <a:cs typeface="Poppins"/>
                <a:sym typeface="Poppins"/>
              </a:rPr>
              <a:t>TERIMA</a:t>
            </a:r>
            <a:r>
              <a:rPr lang="en-US" dirty="0">
                <a:solidFill>
                  <a:srgbClr val="00B050"/>
                </a:solidFill>
                <a:latin typeface="Algerian" panose="04020705040A02060702" pitchFamily="82" charset="0"/>
              </a:rPr>
              <a:t> </a:t>
            </a:r>
            <a:r>
              <a:rPr lang="en-US" sz="4120" b="1" dirty="0">
                <a:solidFill>
                  <a:srgbClr val="52AA5E"/>
                </a:solidFill>
                <a:latin typeface="Algerian" panose="04020705040A02060702" pitchFamily="82" charset="0"/>
                <a:cs typeface="Poppins"/>
                <a:sym typeface="Poppins"/>
              </a:rPr>
              <a:t>KASIH</a:t>
            </a:r>
          </a:p>
          <a:p>
            <a:pPr algn="ctr"/>
            <a:endParaRPr lang="en-ID" sz="4120" b="1" dirty="0">
              <a:solidFill>
                <a:srgbClr val="52AA5E"/>
              </a:solidFill>
              <a:latin typeface="Palatino Linotype" panose="02040502050505030304" pitchFamily="18" charset="0"/>
              <a:cs typeface="Poppins"/>
              <a:sym typeface="Poppins"/>
            </a:endParaRPr>
          </a:p>
          <a:p>
            <a:pPr algn="ctr"/>
            <a:r>
              <a:rPr lang="zh-CN" altLang="en-US" sz="4120" b="1" dirty="0">
                <a:solidFill>
                  <a:srgbClr val="52AA5E"/>
                </a:solidFill>
                <a:latin typeface="Algerian" panose="04020705040A02060702" pitchFamily="82" charset="0"/>
                <a:cs typeface="Poppins"/>
                <a:sym typeface="Poppins"/>
              </a:rPr>
              <a:t>谢谢</a:t>
            </a:r>
            <a:endParaRPr lang="en-ID" sz="4120" b="1" dirty="0">
              <a:solidFill>
                <a:srgbClr val="52AA5E"/>
              </a:solidFill>
              <a:latin typeface="Algerian" panose="04020705040A02060702" pitchFamily="82" charset="0"/>
              <a:cs typeface="Poppins"/>
              <a:sym typeface="Poppins"/>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893</TotalTime>
  <Words>2001</Words>
  <Application>Microsoft Office PowerPoint</Application>
  <PresentationFormat>On-screen Show (16:9)</PresentationFormat>
  <Paragraphs>261</Paragraphs>
  <Slides>18</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vt:i4>
      </vt:variant>
    </vt:vector>
  </HeadingPairs>
  <TitlesOfParts>
    <vt:vector size="27" baseType="lpstr">
      <vt:lpstr>Palatino Linotype</vt:lpstr>
      <vt:lpstr>Poppins Light</vt:lpstr>
      <vt:lpstr>Courier New</vt:lpstr>
      <vt:lpstr>Poppins</vt:lpstr>
      <vt:lpstr>Arial</vt:lpstr>
      <vt:lpstr>Poppins SemiBold</vt:lpstr>
      <vt:lpstr>Algerian</vt:lpstr>
      <vt:lpstr>Wingdings</vt:lpstr>
      <vt:lpstr>Simple Light</vt:lpstr>
      <vt:lpstr>PowerPoint Presentation</vt:lpstr>
      <vt:lpstr>Executive Project Summary</vt:lpstr>
      <vt:lpstr>Intro to Data and its Model Relationship</vt:lpstr>
      <vt:lpstr>KPI Metrics</vt:lpstr>
      <vt:lpstr>Key Findings</vt:lpstr>
      <vt:lpstr>Monthly Performances</vt:lpstr>
      <vt:lpstr>Monthly Performances – Key Insights</vt:lpstr>
      <vt:lpstr>Daily Performances</vt:lpstr>
      <vt:lpstr>Daily Performances – Key Insights</vt:lpstr>
      <vt:lpstr>Hourly Performances</vt:lpstr>
      <vt:lpstr>Hourly Performances – Key Insights</vt:lpstr>
      <vt:lpstr>Top 5 Pizza Performance</vt:lpstr>
      <vt:lpstr>Top 5 Pizza Performance – Key Insights</vt:lpstr>
      <vt:lpstr>Bottom 5 Pizza Performance</vt:lpstr>
      <vt:lpstr>Bottom 5 Pizza Performance – Key Insights</vt:lpstr>
      <vt:lpstr>Business Recommendations</vt:lpstr>
      <vt:lpstr>Interactive Dashboard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Vincent Colin Tionando</cp:lastModifiedBy>
  <cp:revision>19</cp:revision>
  <dcterms:modified xsi:type="dcterms:W3CDTF">2026-10-18T04:35:05Z</dcterms:modified>
</cp:coreProperties>
</file>